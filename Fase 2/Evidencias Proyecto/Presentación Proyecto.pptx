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8" roundtripDataSignature="AMtx7mjzmxFJZwCrE+ONWiGNEQCgyUopg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FRANCISCA ANTONIA GUZMAN JERE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FF00A7-F456-451B-B4CF-255C062D89A0}">
  <a:tblStyle styleId="{67FF00A7-F456-451B-B4CF-255C062D89A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6F006452-1367-4105-9177-328A18D45F04}"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796CC40-C417-4024-BF14-102760B14647}" styleName="Table_2">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slide" Target="slides/slide39.xml"/><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customschemas.google.com/relationships/presentationmetadata" Target="metadata"/><Relationship Id="rId25" Type="http://schemas.openxmlformats.org/officeDocument/2006/relationships/slide" Target="slides/slide18.xml"/><Relationship Id="rId47" Type="http://schemas.openxmlformats.org/officeDocument/2006/relationships/slide" Target="slides/slide40.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7T00:17:33.802">
    <p:pos x="6000" y="0"/>
    <p:text>Nose donde meterlo</p:text>
    <p:extLst>
      <p:ext uri="{C676402C-5697-4E1C-873F-D02D1690AC5C}">
        <p15:threadingInfo timeZoneBias="0"/>
      </p:ext>
      <p:ext uri="http://customooxmlschemas.google.com/">
        <go:slidesCustomData xmlns:go="http://customooxmlschemas.google.com/" commentPostId="AAACIRn7EZ4"/>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Guión Portada:</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Estimados miembros de la comisión, muy buenos días. Hoy presentaremos nuestro proyecto de título titulado 'Monsite', una plataforma de comercio electrónico propia y sistema de diagnóstico capilar inteligente con Inteligencia Artificial. El equipo de desarrollo está compuesto por Benjamín Stavrakopulos, Bastián Lazo y Francisca Guzmán, todos estudiantes de Ingeniería Informática de Duoc UC, Sede Viña del Mar.</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Tabla de Contenidos:</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Nuestra presentación se divide de forma estricta en 16 secciones que cubren desde el entendimiento profundo del negocio del cliente, pasando por el diseño técnico, la arquitectura de software, la gestión ágil con Scrum, las evidencias del entrenamiento del modelo de IA, la planificación de sprints, y finalmente las reflexiones.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Contexto (Grounded in Source Passage 4):</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Monsite comenzó en 2014 como una peluquería física en Santiago. Tras una baja afluencia presencial inicial, la empresa decidió complementar sus actividades vendiendo productos capilares de marcas de prestigio en su mismo local, diversificando sus ingresos. En la pandemia de 2020, ante las restricciones de aforo, Monsite funcionó con clientes limitados y se enfocó en ventas digitales mediante plataformas externas como Cornershop, Rappi y Mercado Libre, logrando un éxito masivo. Sin embargo, post-pandemia, las ventas en estas plataformas disminuyeron y los intermediarios aumentaron sus comisiones y exigencias, lo que redujo severamente los márgenes. Las exigencias de etiquetado adicional en español manual dañaron la imagen de los productos importados y los rechazos arbitrarios dejaron parte del stock sin canal de salida. Esto obligó al equipo a plantear un canal propio.</a:t>
            </a:r>
            <a:endParaRPr/>
          </a:p>
        </p:txBody>
      </p:sp>
      <p:sp>
        <p:nvSpPr>
          <p:cNvPr id="99" name="Google Shape;9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Problema (Grounded in Source Passage 4):</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Actualmente, la dependencia en plataformas de terceros limita directamente la rentabilidad y la autonomía de Monsite. La empresa está sujeta a políticas y comisiones de venta elevadas. Además, se suma el problema del etiquetado manual adicional en español que las plataformas exigen adherir sobre los envases originales, lo que afecta negativamente la percepción del cliente acerca de la autenticidad y la presentación del producto. Por último, existe una inmovilización del catálogo debido a restricciones arbitrarias. En el plano del usuario final, este carece de guía o conocimiento técnico para seleccionar los productos capilares adecuados desde un catálogo pasivo de terceros, limitando la conversión de ventas.</a:t>
            </a:r>
            <a:endParaRPr/>
          </a:p>
        </p:txBody>
      </p:sp>
      <p:sp>
        <p:nvSpPr>
          <p:cNvPr id="116" name="Google Shape;11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Necesidad (Grounded in Source Passage 4):</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Monsite requiere un canal de venta digital propio que le permita administrar de manera autónoma su catálogo de productos, precios, promociones y ventas, eliminando los costos y limitaciones de terceros. Sin embargo, la necesidad va más allá de un e-commerce transaccional básico: se busca trasladar al entorno digital parte de la orientación técnica presencial del salón de peluquería. Esto requiere un sistema interactivo e inteligente que guíe la elección, asista al usuario y le recomiende los productos y tratamientos capilares adecuados para su tipo de pelo.</a:t>
            </a:r>
            <a:endParaRPr/>
          </a:p>
        </p:txBody>
      </p:sp>
      <p:sp>
        <p:nvSpPr>
          <p:cNvPr id="128" name="Google Shape;12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Solución (Grounded in Source Passage 4, 6 and new Solution Text):</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Nuestra solución unifica el comercio electrónico y la inteligencia artificial para dar soberanía comercial a Monsite. La plataforma propia cuenta con vitrina, catálogo de marcas de prestigio, carrito y pasarela de pago (Mercado Pago). Su elemento innovador y diferenciador es el módulo 'Diagnostica tu cabello' en la página de inicio, que captura imágenes del usuario y, mediante un modelo basado en ResNet50 con fine-tuning, detecta características visibles como grasa, resequedad o deshidratación. Finalmente, la solución relaciona el análisis de la IA con el stock disponible, recomendando fórmulas capilares específicas y educando al cliente sobre su aplicación, emulando la asesoría del salón.</a:t>
            </a:r>
            <a:endParaRPr/>
          </a:p>
        </p:txBody>
      </p:sp>
      <p:sp>
        <p:nvSpPr>
          <p:cNvPr id="140" name="Google Shape;140;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Funcionalidades (Grounded in Source Passages 4, 5, 6, 8):</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Las cuatro áreas funcionales principales de Monsite garantizan el valor del proyecto. Primero, el flujo e-commerce cubre la vitrina dinámica y los cupones. Segundo, el módulo interactivo de IA guía la subida de fotos (general, raíz, puntas) y analiza el cabello. Tercero, la gestión logística en bodega cuenta con perfiles restrictivos para bodegueros con acciones para marcar agotados e inventariar. Cuarto, las alertas de sistema ejecutan el descuento automático de stock y envían notificaciones por WhatsApp de forma segura.</a:t>
            </a:r>
            <a:endParaRPr/>
          </a:p>
        </p:txBody>
      </p:sp>
      <p:sp>
        <p:nvSpPr>
          <p:cNvPr id="149" name="Google Shape;149;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Requerimientos (Grounded in Source Passage 4, 8, and Requisitos):</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En esta tabla consolidamos la ingeniería de requerimientos de Monsite. Mapeamos los requerimientos funcionales críticos como el catálogo dinámico, el cobro por Mercado Pago Checkout Pro, el flujo guiado de cámara web y la validación del consentimiento legal. En el ámbito de los requerimientos no funcionales (RNF), destacamos el atributo de seguridad a través de la política de contraseñas, la anonimización de fotos de entrenamiento capilar para resguardar la privacidad, el cumplimiento normativo estricto según la ley chilena 19.628, y el desempeño de la API que asegura un tiempo de flujo menor a 1 minuto.</a:t>
            </a:r>
            <a:endParaRPr/>
          </a:p>
        </p:txBody>
      </p:sp>
      <p:sp>
        <p:nvSpPr>
          <p:cNvPr id="160" name="Google Shape;160;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Épicas (Grounded in Source Passage 6, 12, 13):</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Estructuramos el desarrollo de Monsite en 5 macro-épicas. La primera, E01, es el módulo de Autenticación de accesos y roles. La segunda, E03-E05, es el flujo de Compra y Pago que unifica carrito, checkout y Mercado Pago. La tercera, E12, es el asistente de diagnóstico capilar por IA basado en ResNet50. La cuarta, E08-E09, es el panel de Administración para gestionar productos, marcas, categorías, códigos de descuento y visualizar métricas de negocio. Y la quinta, E13, es el Panel logístico para bodegueros. De acuerdo con nuestra técnica de priorización ágil, asignamos puntajes de historia (de 60 a 100 puntos) validando que el flujo de compra y la autenticación constituyen el núcleo inicial antes de desplegar las herramientas de administración e IA.</a:t>
            </a:r>
            <a:endParaRPr/>
          </a:p>
        </p:txBody>
      </p:sp>
      <p:sp>
        <p:nvSpPr>
          <p:cNvPr id="168" name="Google Shape;168;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Historias de Usuario (Grounded in Source Passage 12, 13, 14, 15, 16, 36, 38):</a:t>
            </a:r>
            <a:endParaRPr/>
          </a:p>
          <a:p>
            <a:pPr indent="0" lvl="0" marL="0" marR="0" rtl="0" algn="l">
              <a:lnSpc>
                <a:spcPct val="100000"/>
              </a:lnSpc>
              <a:spcBef>
                <a:spcPts val="0"/>
              </a:spcBef>
              <a:spcAft>
                <a:spcPts val="0"/>
              </a:spcAft>
              <a:buSzPts val="1100"/>
              <a:buNone/>
            </a:pPr>
            <a:r>
              <a:rPr lang="en-US" sz="1200">
                <a:solidFill>
                  <a:schemeClr val="dk1"/>
                </a:solidFill>
              </a:rPr>
              <a:t>En este slide mostramos las historias de usuario críticas según los principales roles. Para el cliente, priorizamos la visualización del catálogo y el carrito. Para el administrador, la gestión de productos y el monitoreo mediante métricas. En el caso del bodeguero, consideramos el acceso restringido y la actualización de productos agotados. Finalmente, para visitantes y sistema, incluimos el registro y la seguridad mediante restricciones según el rol.</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A partir de estas historias y sus prioridades, definimos nuestra planificación de trabajo mediante los siguientes sprints. </a:t>
            </a:r>
            <a:endParaRPr sz="1200">
              <a:solidFill>
                <a:schemeClr val="dk1"/>
              </a:solidFill>
            </a:endParaRPr>
          </a:p>
        </p:txBody>
      </p:sp>
      <p:sp>
        <p:nvSpPr>
          <p:cNvPr id="186" name="Google Shape;186;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Sprints I (Grounded in Source Passage 4, 10, 39):</a:t>
            </a:r>
            <a:endParaRPr/>
          </a:p>
          <a:p>
            <a:pPr indent="0" lvl="0" marL="0" marR="0" rtl="0" algn="l">
              <a:lnSpc>
                <a:spcPct val="100000"/>
              </a:lnSpc>
              <a:spcBef>
                <a:spcPts val="0"/>
              </a:spcBef>
              <a:spcAft>
                <a:spcPts val="0"/>
              </a:spcAft>
              <a:buSzPts val="1100"/>
              <a:buNone/>
            </a:pPr>
            <a:r>
              <a:rPr lang="en-US" sz="1200">
                <a:solidFill>
                  <a:schemeClr val="dk1"/>
                </a:solidFill>
              </a:rPr>
              <a:t>Comenzamos con el Sprint 0, donde preparamos la base técnica del proyecto: GitHub, Firebase, backend, cuentas de prueba para Mercado Pago y Twilio, además de los wireframes en Figma. Luego, en el Sprint 1, desarrollamos el catálogo dinámico y la autenticación, incorporando registro, inicio de sesión y recuperación de contraseña. También implementamos el panel administrativo para gestionar productos e imágenes, junto con el menú y la adaptación responsive.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rPr>
              <a:t>Una vez construida esta base y habilitado el núcleo de la plataforma, avanzamos hacia el flujo de compra y las funcionalidades más diferenciadoras del proyecto. </a:t>
            </a:r>
            <a:endParaRPr sz="1200">
              <a:solidFill>
                <a:schemeClr val="dk1"/>
              </a:solidFill>
            </a:endParaRPr>
          </a:p>
        </p:txBody>
      </p:sp>
      <p:sp>
        <p:nvSpPr>
          <p:cNvPr id="197" name="Google Shape;197;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Arquitectura (Grounded in Source Passage 4, 6, 8, 10):</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 arquitectura de Monsite es desacoplada y dividida en 3 capas lógicas. La capa de cliente utiliza HTML, CSS y JavaScript Vanilla, garantizando una carga liviana y adaptabilidad móvil (RNF10). El backend en Node.js y Express gestiona transacciones y el webhook de pago de Mercado Pago, persistiendo información de compras y perfiles en las colecciones de Firebase. Para procesar el análisis capilar pesado de manera independiente, se habilitó un servidor cloud en Render con FastAPI y Python 3.12. Esta API independiente recibe las fotos cargadas en Firebase Storage, ejecuta la inferencia con el modelo ResNet50 entrenado, y devuelve los diagnósticos de forma segura para evitar sobrecargar el flujo transaccional del e-commerce.</a:t>
            </a:r>
            <a:endParaRPr/>
          </a:p>
        </p:txBody>
      </p:sp>
      <p:sp>
        <p:nvSpPr>
          <p:cNvPr id="206" name="Google Shape;206;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h1b6171f8b48e2504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h1b6171f8b48e2504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Arquitectura (Grounded in Source Passage 4, 6, 8, 10):</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 arquitectura de Monsite es desacoplada y dividida en 3 capas lógicas. La capa de cliente utiliza HTML, CSS y JavaScript Vanilla, garantizando una carga liviana y adaptabilidad móvil (RNF10). El backend en Node.js y Express gestiona transacciones y el webhook de pago de Mercado Pago, persistiendo información de compras y perfiles en las colecciones de Firebase. Para procesar el análisis capilar pesado de manera independiente, se habilitó un servidor cloud en Render con FastAPI y Python 3.12. Esta API independiente recibe las fotos cargadas en Firebase Storage, ejecuta la inferencia con el modelo ResNet50 entrenado, y devuelve los diagnósticos de forma segura para evitar sobrecargar el flujo transaccional del e-commerce.</a:t>
            </a:r>
            <a:endParaRPr/>
          </a:p>
        </p:txBody>
      </p:sp>
      <p:sp>
        <p:nvSpPr>
          <p:cNvPr id="214" name="Google Shape;214;h1b6171f8b48e2504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Metodología Scrum (Grounded in Source Passage 4, 6, 8, 10):</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Para garantizar la entrega incremental del software de Monsite, el equipo adoptó la metodología Scrum organizando el desarrollo en 3 sprints principales de 4 semanas cada uno, precedidos de un Sprint 0 técnico. El flujo ágil incluye: 1) El Product Backlog con 47 historias priorizadas y estimadas; 2) Sprint Planning al inicio de cada ciclo; 3) Daily Scrum de 15 minutos para detectar bloqueos del stack Firebase/FastAPI; 4) Sprint Review, donde mostramos de forma transparente las demostraciones de incremento al dueño de Monsite; y 5) Sprint Retrospective, donde documentamos acuerdos de mejora continua.</a:t>
            </a:r>
            <a:endParaRPr/>
          </a:p>
        </p:txBody>
      </p:sp>
      <p:sp>
        <p:nvSpPr>
          <p:cNvPr id="222" name="Google Shape;222;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Equipo de Trabajo (Grounded in Source Passage 4, 6, 10):</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Distribuimos las responsabilidades considerando las fortalezas de cada integrante. Benjamín Stavrakopulos actúa como Product Owner, liderando el desarrollo backend, la base de datos Firestore y la integración transaccional con Mercado Pago. Bastián Lazo es el Team Developer a cargo del Machine Learning, recolectando y procesando el dataset, entrenando la red convolucional ResNet50 y desplegando la API en FastAPI. Francisca Guzmán actúa como Scrum Master, facilitando los rituales, diseñando la experiencia responsiva en Figma, maquetando el frontend y garantizando el control de evidencias. Finalmente, la Directiva de Monsite participa activamente como Stakeholder validando los avances.</a:t>
            </a:r>
            <a:endParaRPr/>
          </a:p>
        </p:txBody>
      </p:sp>
      <p:sp>
        <p:nvSpPr>
          <p:cNvPr id="236" name="Google Shape;23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h2a029743ffb0fa9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h2a029743ffb0fa9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4f042c98fa66798a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h4f042c98fa66798a_1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4f042c98fa66798a_1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h4f042c98fa66798a_1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h1fd0423cc0bc128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h1fd0423cc0bc128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h2a029743ffb0fa9e_1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h2a029743ffb0fa9e_1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2a029743ffb0fa9e_1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h2a029743ffb0fa9e_1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94553e02aefe5e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94553e02aefe5e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h4f042c98fa66798a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h4f042c98fa66798a_1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4f042c98fa66798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h4f042c98fa66798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h4f042c98fa66798a_1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h4f042c98fa66798a_1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2a029743ffb0fa9e_1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h2a029743ffb0fa9e_1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2a029743ffb0fa9e_1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h2a029743ffb0fa9e_1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94553e02aefe5e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94553e02aefe5e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h2a029743ffb0fa9e_1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h2a029743ffb0fa9e_1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2a029743ffb0fa9e_1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h2a029743ffb0fa9e_1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h2a029743ffb0fa9e_1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h2a029743ffb0fa9e_1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h4189661798d1f2e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h4189661798d1f2e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rPr>
              <a:t>La Carta Gantt organiza nuestro proyecto en un total de 17 semanas. Durante las semanas 1 y 2 realizamos el levantamiento de requerimientos y la preparación técnica mediante el Sprint 0. Desde la semana 3 hasta la 14 desarrollamos los tres incrementos: catálogo y autenticación, transacciones, e IA y bodega. Finalmente, las semanas 15 a 17 se enfocan en las pruebas de integración, validación del e-commerce y preparación de la defensa final. </a:t>
            </a:r>
            <a:endParaRPr/>
          </a:p>
        </p:txBody>
      </p:sp>
      <p:sp>
        <p:nvSpPr>
          <p:cNvPr id="376" name="Google Shape;376;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h1fd0423cc0bc1287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h1fd0423cc0bc1287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Conclusiones (Grounded in Source Passage 4, 6, 8, 10):</a:t>
            </a:r>
            <a:endParaRPr/>
          </a:p>
          <a:p>
            <a:pPr indent="0" lvl="0" marL="0" marR="0" rtl="0" algn="l">
              <a:lnSpc>
                <a:spcPct val="100000"/>
              </a:lnSpc>
              <a:spcBef>
                <a:spcPts val="0"/>
              </a:spcBef>
              <a:spcAft>
                <a:spcPts val="0"/>
              </a:spcAft>
              <a:buSzPts val="1100"/>
              <a:buNone/>
            </a:pPr>
            <a:r>
              <a:rPr lang="en-US" sz="1200">
                <a:solidFill>
                  <a:schemeClr val="dk1"/>
                </a:solidFill>
              </a:rPr>
              <a:t>En conclusión, el desarrollo de Monsite permitió integrar distintas áreas de nuestra carrera, como el comercio electrónico, la persistencia de datos en Firebase y la Inteligencia Artificial mediante redes neuronales convolucionales. Además, demostramos la factibilidad de desarrollar y desplegar una solución operacional de calidad profesional dentro de las 17 semanas establecidas. De cara al futuro del negocio, los próximos pasos estarán enfocados en ampliar y reentrenar el dataset capilar del modelo ResNet50, incorporar Transbank Plus como medio de pago alternativo y automatizar la gestión de bodega mediante APIs de despacho locales. </a:t>
            </a:r>
            <a:endParaRPr/>
          </a:p>
        </p:txBody>
      </p:sp>
      <p:sp>
        <p:nvSpPr>
          <p:cNvPr id="390" name="Google Shape;39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Reflexiones (Grounded in Source Passage 4, 6):</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Para cerrar, cada uno de nosotros ha reflexionado sobre cómo este proyecto de título Monsite ha consolidado nuestro perfil de egreso en Ingeniería Informática. Benjamín destaca el desarrollo e integración de soluciones de software backend y bases de datos cloud; Bastián destaca la implementación y evaluación de modelos convolucionales avanzados en la nube; y Francisca destaca la experiencia de usuario responsiva, el control documental y la facilitación ágil. Agradecemos enormemente su atención y quedamos a su entera disposición para responder a las preguntas de la comisión. Muchas gracias.</a:t>
            </a:r>
            <a:endParaRPr/>
          </a:p>
        </p:txBody>
      </p:sp>
      <p:sp>
        <p:nvSpPr>
          <p:cNvPr id="401" name="Google Shape;401;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h2a029743ffb0fa9e_1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h2a029743ffb0fa9e_1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h4189661798d1f2e9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h4189661798d1f2e9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h4f042c98fa66798a_1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h4f042c98fa66798a_1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4f042c98fa66798a_1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h4f042c98fa66798a_1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jpg"/><Relationship Id="rId4" Type="http://schemas.openxmlformats.org/officeDocument/2006/relationships/image" Target="../media/image1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comments" Target="../comments/comment1.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84" name="Shape 84"/>
        <p:cNvGrpSpPr/>
        <p:nvPr/>
      </p:nvGrpSpPr>
      <p:grpSpPr>
        <a:xfrm>
          <a:off x="0" y="0"/>
          <a:ext cx="0" cy="0"/>
          <a:chOff x="0" y="0"/>
          <a:chExt cx="0" cy="0"/>
        </a:xfrm>
      </p:grpSpPr>
      <p:sp>
        <p:nvSpPr>
          <p:cNvPr id="85" name="Google Shape;85;p1"/>
          <p:cNvSpPr txBox="1"/>
          <p:nvPr/>
        </p:nvSpPr>
        <p:spPr>
          <a:xfrm>
            <a:off x="731520" y="914400"/>
            <a:ext cx="5943600" cy="502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2410C"/>
                </a:solidFill>
                <a:latin typeface="Arial"/>
                <a:ea typeface="Arial"/>
                <a:cs typeface="Arial"/>
                <a:sym typeface="Arial"/>
              </a:rPr>
              <a:t>PORTAFOLIO DE TÍTULO — INGENIERÍA INFORMÁTICA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5200"/>
              <a:buFont typeface="Arial"/>
              <a:buNone/>
            </a:pPr>
            <a:r>
              <a:rPr b="1" i="0" lang="en-US" sz="5200" u="none" cap="none" strike="noStrike">
                <a:solidFill>
                  <a:srgbClr val="1E293B"/>
                </a:solidFill>
                <a:latin typeface="Georgia"/>
                <a:ea typeface="Georgia"/>
                <a:cs typeface="Georgia"/>
                <a:sym typeface="Georgia"/>
              </a:rPr>
              <a:t>Monsite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64748B"/>
                </a:solidFill>
                <a:latin typeface="Arial"/>
                <a:ea typeface="Arial"/>
                <a:cs typeface="Arial"/>
                <a:sym typeface="Arial"/>
              </a:rPr>
              <a:t>Plataforma E-Commerce y Diagnóstico Capilar Automatizado con Inteligencia Artificial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0"/>
              </a:spcBef>
              <a:spcAft>
                <a:spcPts val="0"/>
              </a:spcAft>
              <a:buClr>
                <a:srgbClr val="000000"/>
              </a:buClr>
              <a:buSzPts val="1100"/>
              <a:buFont typeface="Arial"/>
              <a:buNone/>
            </a:pPr>
            <a:r>
              <a:rPr b="1" i="0" lang="en-US" sz="1100" u="none" cap="none" strike="noStrike">
                <a:solidFill>
                  <a:srgbClr val="1E293B"/>
                </a:solidFill>
                <a:latin typeface="Arial"/>
                <a:ea typeface="Arial"/>
                <a:cs typeface="Arial"/>
                <a:sym typeface="Arial"/>
              </a:rPr>
              <a:t>INTEGRANTES: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300"/>
              <a:buFont typeface="Arial"/>
              <a:buNone/>
            </a:pPr>
            <a:r>
              <a:rPr b="1" i="0" lang="en-US" sz="1300" u="none" cap="none" strike="noStrike">
                <a:solidFill>
                  <a:srgbClr val="1E293B"/>
                </a:solidFill>
                <a:latin typeface="Arial"/>
                <a:ea typeface="Arial"/>
                <a:cs typeface="Arial"/>
                <a:sym typeface="Arial"/>
              </a:rPr>
              <a:t>•  Benjamín Jesús Stavrakopulos Ruiz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300"/>
              <a:buFont typeface="Arial"/>
              <a:buNone/>
            </a:pPr>
            <a:r>
              <a:rPr b="1" i="0" lang="en-US" sz="1300" u="none" cap="none" strike="noStrike">
                <a:solidFill>
                  <a:srgbClr val="1E293B"/>
                </a:solidFill>
                <a:latin typeface="Arial"/>
                <a:ea typeface="Arial"/>
                <a:cs typeface="Arial"/>
                <a:sym typeface="Arial"/>
              </a:rPr>
              <a:t>•  Bastián Hofni Lazo Neira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300"/>
              <a:buFont typeface="Arial"/>
              <a:buNone/>
            </a:pPr>
            <a:r>
              <a:rPr b="1" i="0" lang="en-US" sz="1300" u="none" cap="none" strike="noStrike">
                <a:solidFill>
                  <a:srgbClr val="1E293B"/>
                </a:solidFill>
                <a:latin typeface="Arial"/>
                <a:ea typeface="Arial"/>
                <a:cs typeface="Arial"/>
                <a:sym typeface="Arial"/>
              </a:rPr>
              <a:t>•  Francisca Antonia Guzmán Jerez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800"/>
              </a:spcBef>
              <a:spcAft>
                <a:spcPts val="0"/>
              </a:spcAft>
              <a:buClr>
                <a:srgbClr val="000000"/>
              </a:buClr>
              <a:buSzPts val="1100"/>
              <a:buFont typeface="Arial"/>
              <a:buNone/>
            </a:pPr>
            <a:r>
              <a:rPr b="1" i="0" lang="en-US" sz="1100" u="none" cap="none" strike="noStrike">
                <a:solidFill>
                  <a:srgbClr val="C2410C"/>
                </a:solidFill>
                <a:latin typeface="Arial"/>
                <a:ea typeface="Arial"/>
                <a:cs typeface="Arial"/>
                <a:sym typeface="Arial"/>
              </a:rPr>
              <a:t>DOCENTE: Mauricio Figueroa   |   SEDE: Viña del Mar</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7620000" y="-18288"/>
            <a:ext cx="4572000" cy="685800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txBox="1"/>
          <p:nvPr/>
        </p:nvSpPr>
        <p:spPr>
          <a:xfrm>
            <a:off x="8076895" y="2011680"/>
            <a:ext cx="3657600" cy="320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4B8A6"/>
                </a:solidFill>
                <a:latin typeface="Georgia"/>
                <a:ea typeface="Georgia"/>
                <a:cs typeface="Georgia"/>
                <a:sym typeface="Georgia"/>
              </a:rPr>
              <a:t>DIAGNÓSTICO</a:t>
            </a:r>
            <a:br>
              <a:rPr b="1" i="0" lang="en-US" sz="3400" u="none" cap="none" strike="noStrike">
                <a:solidFill>
                  <a:srgbClr val="14B8A6"/>
                </a:solidFill>
                <a:latin typeface="Georgia"/>
                <a:ea typeface="Georgia"/>
                <a:cs typeface="Georgia"/>
                <a:sym typeface="Georgia"/>
              </a:rPr>
            </a:br>
            <a:r>
              <a:rPr b="1" i="0" lang="en-US" sz="3400" u="none" cap="none" strike="noStrike">
                <a:solidFill>
                  <a:srgbClr val="14B8A6"/>
                </a:solidFill>
                <a:latin typeface="Georgia"/>
                <a:ea typeface="Georgia"/>
                <a:cs typeface="Georgia"/>
                <a:sym typeface="Georgia"/>
              </a:rPr>
              <a:t>CAPILAR</a:t>
            </a:r>
            <a:br>
              <a:rPr b="1" i="0" lang="en-US" sz="3400" u="none" cap="none" strike="noStrike">
                <a:solidFill>
                  <a:srgbClr val="14B8A6"/>
                </a:solidFill>
                <a:latin typeface="Georgia"/>
                <a:ea typeface="Georgia"/>
                <a:cs typeface="Georgia"/>
                <a:sym typeface="Georgia"/>
              </a:rPr>
            </a:br>
            <a:r>
              <a:rPr b="1" i="0" lang="en-US" sz="3400" u="none" cap="none" strike="noStrike">
                <a:solidFill>
                  <a:srgbClr val="14B8A6"/>
                </a:solidFill>
                <a:latin typeface="Georgia"/>
                <a:ea typeface="Georgia"/>
                <a:cs typeface="Georgia"/>
                <a:sym typeface="Georgia"/>
              </a:rPr>
              <a:t>INTELIGENTE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1300"/>
              <a:buFont typeface="Arial"/>
              <a:buNone/>
            </a:pPr>
            <a:r>
              <a:rPr b="0" i="0" lang="en-US" sz="1300" u="none" cap="none" strike="noStrike">
                <a:solidFill>
                  <a:srgbClr val="F1F5F9"/>
                </a:solidFill>
                <a:latin typeface="Arial"/>
                <a:ea typeface="Arial"/>
                <a:cs typeface="Arial"/>
                <a:sym typeface="Arial"/>
              </a:rPr>
              <a:t>Procesamiento de imágenes mediante transferencia de aprendizaje (Fine-Tuning) sobre ResNet50 para recomendación automatizada de stock capilar.</a:t>
            </a:r>
            <a:endParaRPr b="0" i="0" sz="1400" u="none" cap="none" strike="noStrike">
              <a:solidFill>
                <a:srgbClr val="000000"/>
              </a:solidFill>
              <a:latin typeface="Arial"/>
              <a:ea typeface="Arial"/>
              <a:cs typeface="Arial"/>
              <a:sym typeface="Arial"/>
            </a:endParaRPr>
          </a:p>
        </p:txBody>
      </p:sp>
      <p:sp>
        <p:nvSpPr>
          <p:cNvPr id="88" name="Google Shape;88;p1"/>
          <p:cNvSpPr txBox="1"/>
          <p:nvPr>
            <p:ph idx="12" type="sldNum"/>
          </p:nvPr>
        </p:nvSpPr>
        <p:spPr>
          <a:xfrm>
            <a:off x="9600900" y="62102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93" name="Shape 93"/>
        <p:cNvGrpSpPr/>
        <p:nvPr/>
      </p:nvGrpSpPr>
      <p:grpSpPr>
        <a:xfrm>
          <a:off x="0" y="0"/>
          <a:ext cx="0" cy="0"/>
          <a:chOff x="0" y="0"/>
          <a:chExt cx="0" cy="0"/>
        </a:xfrm>
      </p:grpSpPr>
      <p:sp>
        <p:nvSpPr>
          <p:cNvPr id="94" name="Google Shape;94;p2"/>
          <p:cNvSpPr txBox="1"/>
          <p:nvPr/>
        </p:nvSpPr>
        <p:spPr>
          <a:xfrm>
            <a:off x="329400" y="215800"/>
            <a:ext cx="112773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Tabla de Contenidos: Agenda del Proyecto</a:t>
            </a:r>
            <a:endParaRPr b="0" i="0" sz="1400" u="none" cap="none" strike="noStrike">
              <a:solidFill>
                <a:srgbClr val="000000"/>
              </a:solidFill>
              <a:latin typeface="Arial"/>
              <a:ea typeface="Arial"/>
              <a:cs typeface="Arial"/>
              <a:sym typeface="Arial"/>
            </a:endParaRPr>
          </a:p>
        </p:txBody>
      </p:sp>
      <p:pic>
        <p:nvPicPr>
          <p:cNvPr id="95" name="Google Shape;95;p2" title="Hoja de ruta visual de Monsite.png"/>
          <p:cNvPicPr preferRelativeResize="0"/>
          <p:nvPr/>
        </p:nvPicPr>
        <p:blipFill>
          <a:blip r:embed="rId3">
            <a:alphaModFix/>
          </a:blip>
          <a:stretch>
            <a:fillRect/>
          </a:stretch>
        </p:blipFill>
        <p:spPr>
          <a:xfrm>
            <a:off x="152400" y="799300"/>
            <a:ext cx="11471346" cy="59062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0" name="Shape 100"/>
        <p:cNvGrpSpPr/>
        <p:nvPr/>
      </p:nvGrpSpPr>
      <p:grpSpPr>
        <a:xfrm>
          <a:off x="0" y="0"/>
          <a:ext cx="0" cy="0"/>
          <a:chOff x="0" y="0"/>
          <a:chExt cx="0" cy="0"/>
        </a:xfrm>
      </p:grpSpPr>
      <p:sp>
        <p:nvSpPr>
          <p:cNvPr id="101" name="Google Shape;101;p3"/>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Contexto Comercial: Trayectoria y Evolución de Monsite</a:t>
            </a:r>
            <a:endParaRPr b="0" i="0" sz="1400" u="none" cap="none" strike="noStrike">
              <a:solidFill>
                <a:srgbClr val="000000"/>
              </a:solidFill>
              <a:latin typeface="Arial"/>
              <a:ea typeface="Arial"/>
              <a:cs typeface="Arial"/>
              <a:sym typeface="Arial"/>
            </a:endParaRPr>
          </a:p>
        </p:txBody>
      </p:sp>
      <p:sp>
        <p:nvSpPr>
          <p:cNvPr id="102" name="Google Shape;102;p3"/>
          <p:cNvSpPr/>
          <p:nvPr/>
        </p:nvSpPr>
        <p:spPr>
          <a:xfrm>
            <a:off x="731520" y="2926080"/>
            <a:ext cx="10698480" cy="45720"/>
          </a:xfrm>
          <a:prstGeom prst="rect">
            <a:avLst/>
          </a:prstGeom>
          <a:solidFill>
            <a:srgbClr val="14B8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 name="Google Shape;103;p3"/>
          <p:cNvSpPr/>
          <p:nvPr/>
        </p:nvSpPr>
        <p:spPr>
          <a:xfrm>
            <a:off x="18288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 name="Google Shape;104;p3"/>
          <p:cNvSpPr txBox="1"/>
          <p:nvPr/>
        </p:nvSpPr>
        <p:spPr>
          <a:xfrm>
            <a:off x="731520" y="1188720"/>
            <a:ext cx="2468880" cy="1645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2014 — Origen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Fundación del Salón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Nace la peluquería física en Santiago. Ante una baja afluencia presencial inicial, se decide comercializar productos capilares de forma directa para generar ingresos complementarios.</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45720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3"/>
          <p:cNvSpPr txBox="1"/>
          <p:nvPr/>
        </p:nvSpPr>
        <p:spPr>
          <a:xfrm>
            <a:off x="3474720" y="3291840"/>
            <a:ext cx="2468880" cy="1645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2020 — Pandemia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Pivote al Canal Digital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Las restricciones sanitarias de aforo obligan a Monsite a vender en línea. Se asocia con éxito a plataformas de terceros (Cornershop, Rappi, Mercado Libre) con gran volumen de ventas.</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73152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 name="Google Shape;108;p3"/>
          <p:cNvSpPr txBox="1"/>
          <p:nvPr/>
        </p:nvSpPr>
        <p:spPr>
          <a:xfrm>
            <a:off x="6217920" y="1188720"/>
            <a:ext cx="2468880" cy="1645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Post-Pandemia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Erosión de la Rentabilidad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El retorno a la normalidad presencial reduce las ventas en línea. Simultáneamente, las plataformas externas incrementan drásticamente sus comisiones y exigen mayores trabas operativas.</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100584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 name="Google Shape;110;p3"/>
          <p:cNvSpPr txBox="1"/>
          <p:nvPr/>
        </p:nvSpPr>
        <p:spPr>
          <a:xfrm>
            <a:off x="8961120" y="3291840"/>
            <a:ext cx="2468880" cy="1645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Actualidad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Pérdida de Autonomía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Se imponen exigencias como re-etiquetado manual en español de envases importados (afectando la autenticidad) y bloqueos arbitrarios de stock, estancando parte de su catálogo.</a:t>
            </a:r>
            <a:endParaRPr b="0" i="0" sz="1400" u="none" cap="none" strike="noStrike">
              <a:solidFill>
                <a:srgbClr val="000000"/>
              </a:solidFill>
              <a:latin typeface="Arial"/>
              <a:ea typeface="Arial"/>
              <a:cs typeface="Arial"/>
              <a:sym typeface="Arial"/>
            </a:endParaRPr>
          </a:p>
        </p:txBody>
      </p:sp>
      <p:sp>
        <p:nvSpPr>
          <p:cNvPr id="111" name="Google Shape;111;p3"/>
          <p:cNvSpPr txBox="1"/>
          <p:nvPr/>
        </p:nvSpPr>
        <p:spPr>
          <a:xfrm>
            <a:off x="731520" y="5394960"/>
            <a:ext cx="10728655" cy="8229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CONCLUSIÓN: La dependencia absoluta de plataformas de terceros erosionó los márgenes y arrebató a Monsite el control de la presentación original de su marca, detonando la urgencia de construir un e-commerce transaccional con soberanía absoluta.</a:t>
            </a:r>
            <a:endParaRPr b="0" i="0" sz="1400" u="none" cap="none" strike="noStrike">
              <a:solidFill>
                <a:srgbClr val="000000"/>
              </a:solidFill>
              <a:latin typeface="Arial"/>
              <a:ea typeface="Arial"/>
              <a:cs typeface="Arial"/>
              <a:sym typeface="Arial"/>
            </a:endParaRPr>
          </a:p>
        </p:txBody>
      </p:sp>
      <p:sp>
        <p:nvSpPr>
          <p:cNvPr id="112" name="Google Shape;112;p3"/>
          <p:cNvSpPr txBox="1"/>
          <p:nvPr>
            <p:ph idx="12" type="sldNum"/>
          </p:nvPr>
        </p:nvSpPr>
        <p:spPr>
          <a:xfrm>
            <a:off x="9600900" y="62179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17" name="Shape 117"/>
        <p:cNvGrpSpPr/>
        <p:nvPr/>
      </p:nvGrpSpPr>
      <p:grpSpPr>
        <a:xfrm>
          <a:off x="0" y="0"/>
          <a:ext cx="0" cy="0"/>
          <a:chOff x="0" y="0"/>
          <a:chExt cx="0" cy="0"/>
        </a:xfrm>
      </p:grpSpPr>
      <p:sp>
        <p:nvSpPr>
          <p:cNvPr id="118" name="Google Shape;118;p4"/>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El Problema: Pérdida de Autonomía, Rentabilidad y Orientación</a:t>
            </a:r>
            <a:endParaRPr b="0" i="0" sz="1400" u="none" cap="none" strike="noStrike">
              <a:solidFill>
                <a:srgbClr val="000000"/>
              </a:solidFill>
              <a:latin typeface="Arial"/>
              <a:ea typeface="Arial"/>
              <a:cs typeface="Arial"/>
              <a:sym typeface="Arial"/>
            </a:endParaRPr>
          </a:p>
        </p:txBody>
      </p:sp>
      <p:sp>
        <p:nvSpPr>
          <p:cNvPr id="119" name="Google Shape;119;p4"/>
          <p:cNvSpPr/>
          <p:nvPr/>
        </p:nvSpPr>
        <p:spPr>
          <a:xfrm>
            <a:off x="457200"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Dependencia Crítica de Terceros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La comercialización digital depende de plataformas externas (Cornershop, Rappi, Mercado Libre) que dictan unilateralmente las políticas comerciales.</a:t>
            </a:r>
            <a:endParaRPr b="0" i="0" sz="1400" u="none" cap="none" strike="noStrike">
              <a:solidFill>
                <a:srgbClr val="000000"/>
              </a:solidFill>
              <a:latin typeface="Arial"/>
              <a:ea typeface="Arial"/>
              <a:cs typeface="Arial"/>
              <a:sym typeface="Arial"/>
            </a:endParaRPr>
          </a:p>
        </p:txBody>
      </p:sp>
      <p:sp>
        <p:nvSpPr>
          <p:cNvPr id="120" name="Google Shape;120;p4"/>
          <p:cNvSpPr/>
          <p:nvPr/>
        </p:nvSpPr>
        <p:spPr>
          <a:xfrm>
            <a:off x="4352544"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Erosión de Rentabilidad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Comisiones, recargos y tarifas crecientes reducen progresivamente el margen de utilidad obtenido por Monsite en cada transacción digital.</a:t>
            </a:r>
            <a:endParaRPr b="0" i="0" sz="1400" u="none" cap="none" strike="noStrike">
              <a:solidFill>
                <a:srgbClr val="000000"/>
              </a:solidFill>
              <a:latin typeface="Arial"/>
              <a:ea typeface="Arial"/>
              <a:cs typeface="Arial"/>
              <a:sym typeface="Arial"/>
            </a:endParaRPr>
          </a:p>
        </p:txBody>
      </p:sp>
      <p:sp>
        <p:nvSpPr>
          <p:cNvPr id="121" name="Google Shape;121;p4"/>
          <p:cNvSpPr/>
          <p:nvPr/>
        </p:nvSpPr>
        <p:spPr>
          <a:xfrm>
            <a:off x="8247888"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Trabas y Daño de Marca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La imposición de re-etiquetado manual y traducción sobre empaques importados perjudica la estética premium y genera desconfianza sobre la autenticidad.</a:t>
            </a:r>
            <a:endParaRPr b="0" i="0" sz="1400" u="none" cap="none" strike="noStrike">
              <a:solidFill>
                <a:srgbClr val="000000"/>
              </a:solidFill>
              <a:latin typeface="Arial"/>
              <a:ea typeface="Arial"/>
              <a:cs typeface="Arial"/>
              <a:sym typeface="Arial"/>
            </a:endParaRPr>
          </a:p>
        </p:txBody>
      </p:sp>
      <p:sp>
        <p:nvSpPr>
          <p:cNvPr id="122" name="Google Shape;122;p4"/>
          <p:cNvSpPr/>
          <p:nvPr/>
        </p:nvSpPr>
        <p:spPr>
          <a:xfrm>
            <a:off x="1645920" y="3749039"/>
            <a:ext cx="4114800" cy="201168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Stock Inmovilizado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Bloqueos arbitrarios o rechazos de publicación de determinados productos de salón según políticas ajenas de catálogo estancan el inventario.</a:t>
            </a:r>
            <a:endParaRPr b="0" i="0" sz="1400" u="none" cap="none" strike="noStrike">
              <a:solidFill>
                <a:srgbClr val="000000"/>
              </a:solidFill>
              <a:latin typeface="Arial"/>
              <a:ea typeface="Arial"/>
              <a:cs typeface="Arial"/>
              <a:sym typeface="Arial"/>
            </a:endParaRPr>
          </a:p>
        </p:txBody>
      </p:sp>
      <p:sp>
        <p:nvSpPr>
          <p:cNvPr id="123" name="Google Shape;123;p4"/>
          <p:cNvSpPr/>
          <p:nvPr/>
        </p:nvSpPr>
        <p:spPr>
          <a:xfrm>
            <a:off x="6400800" y="3749039"/>
            <a:ext cx="4114800" cy="201168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Brecha de Compra Capilar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Un e-commerce plano de terceros no ofrece orientación. El cliente, sin conocimiento técnico capilar, duda ante la gran variedad y desiste de comprar.</a:t>
            </a:r>
            <a:endParaRPr b="0" i="0" sz="1400" u="none" cap="none" strike="noStrike">
              <a:solidFill>
                <a:srgbClr val="000000"/>
              </a:solidFill>
              <a:latin typeface="Arial"/>
              <a:ea typeface="Arial"/>
              <a:cs typeface="Arial"/>
              <a:sym typeface="Arial"/>
            </a:endParaRPr>
          </a:p>
        </p:txBody>
      </p:sp>
      <p:sp>
        <p:nvSpPr>
          <p:cNvPr id="124" name="Google Shape;124;p4"/>
          <p:cNvSpPr txBox="1"/>
          <p:nvPr>
            <p:ph idx="12" type="sldNum"/>
          </p:nvPr>
        </p:nvSpPr>
        <p:spPr>
          <a:xfrm>
            <a:off x="9600900" y="62630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29" name="Shape 129"/>
        <p:cNvGrpSpPr/>
        <p:nvPr/>
      </p:nvGrpSpPr>
      <p:grpSpPr>
        <a:xfrm>
          <a:off x="0" y="0"/>
          <a:ext cx="0" cy="0"/>
          <a:chOff x="0" y="0"/>
          <a:chExt cx="0" cy="0"/>
        </a:xfrm>
      </p:grpSpPr>
      <p:sp>
        <p:nvSpPr>
          <p:cNvPr id="130" name="Google Shape;130;p5"/>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La Necesidad: Canal Web Propio y Guía Capilar Inteligente</a:t>
            </a:r>
            <a:endParaRPr b="0" i="0" sz="1400" u="none" cap="none" strike="noStrike">
              <a:solidFill>
                <a:srgbClr val="000000"/>
              </a:solidFill>
              <a:latin typeface="Arial"/>
              <a:ea typeface="Arial"/>
              <a:cs typeface="Arial"/>
              <a:sym typeface="Arial"/>
            </a:endParaRPr>
          </a:p>
        </p:txBody>
      </p:sp>
      <p:sp>
        <p:nvSpPr>
          <p:cNvPr id="131" name="Google Shape;131;p5"/>
          <p:cNvSpPr/>
          <p:nvPr/>
        </p:nvSpPr>
        <p:spPr>
          <a:xfrm>
            <a:off x="457200" y="1371600"/>
            <a:ext cx="4114800" cy="466344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365750" lIns="365750" spcFirstLastPara="1" rIns="365750" wrap="square" tIns="36575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14B8A6"/>
                </a:solidFill>
                <a:latin typeface="Georgia"/>
                <a:ea typeface="Georgia"/>
                <a:cs typeface="Georgia"/>
                <a:sym typeface="Georgia"/>
              </a:rPr>
              <a:t>DIAGNOSTICA</a:t>
            </a:r>
            <a:br>
              <a:rPr b="1" i="0" lang="en-US" sz="2800" u="none" cap="none" strike="noStrike">
                <a:solidFill>
                  <a:srgbClr val="14B8A6"/>
                </a:solidFill>
                <a:latin typeface="Georgia"/>
                <a:ea typeface="Georgia"/>
                <a:cs typeface="Georgia"/>
                <a:sym typeface="Georgia"/>
              </a:rPr>
            </a:br>
            <a:r>
              <a:rPr b="1" i="0" lang="en-US" sz="2800" u="none" cap="none" strike="noStrike">
                <a:solidFill>
                  <a:srgbClr val="14B8A6"/>
                </a:solidFill>
                <a:latin typeface="Georgia"/>
                <a:ea typeface="Georgia"/>
                <a:cs typeface="Georgia"/>
                <a:sym typeface="Georgia"/>
              </a:rPr>
              <a:t>TU CABELLO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1300"/>
              <a:buFont typeface="Arial"/>
              <a:buNone/>
            </a:pPr>
            <a:r>
              <a:rPr b="0" i="0" lang="en-US" sz="1300" u="none" cap="none" strike="noStrike">
                <a:solidFill>
                  <a:srgbClr val="F1F5F9"/>
                </a:solidFill>
                <a:latin typeface="Arial"/>
                <a:ea typeface="Arial"/>
                <a:cs typeface="Arial"/>
                <a:sym typeface="Arial"/>
              </a:rPr>
              <a:t>Trasladar parte de la orientación y asesoría personalizada que el cliente recibe en la peluquería tradicional hacia una experiencia digital autónoma.</a:t>
            </a:r>
            <a:endParaRPr b="0" i="0" sz="1400" u="none" cap="none" strike="noStrike">
              <a:solidFill>
                <a:srgbClr val="000000"/>
              </a:solidFill>
              <a:latin typeface="Arial"/>
              <a:ea typeface="Arial"/>
              <a:cs typeface="Arial"/>
              <a:sym typeface="Arial"/>
            </a:endParaRPr>
          </a:p>
        </p:txBody>
      </p:sp>
      <p:sp>
        <p:nvSpPr>
          <p:cNvPr id="132" name="Google Shape;132;p5"/>
          <p:cNvSpPr/>
          <p:nvPr/>
        </p:nvSpPr>
        <p:spPr>
          <a:xfrm>
            <a:off x="4937760" y="137160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Canal de Venta Digital Propio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Plataforma e-commerce autónoma que disminuya las limitaciones operativas y elimine las altas comisiones de terceros.</a:t>
            </a:r>
            <a:endParaRPr b="0" i="0" sz="1400" u="none" cap="none" strike="noStrike">
              <a:solidFill>
                <a:srgbClr val="000000"/>
              </a:solidFill>
              <a:latin typeface="Arial"/>
              <a:ea typeface="Arial"/>
              <a:cs typeface="Arial"/>
              <a:sym typeface="Arial"/>
            </a:endParaRPr>
          </a:p>
        </p:txBody>
      </p:sp>
      <p:sp>
        <p:nvSpPr>
          <p:cNvPr id="133" name="Google Shape;133;p5"/>
          <p:cNvSpPr/>
          <p:nvPr/>
        </p:nvSpPr>
        <p:spPr>
          <a:xfrm>
            <a:off x="8595360" y="137160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Soberanía de Catálogo y Precios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Control absoluto para administrar y presentar los productos, precios, stock y promociones de forma directa con los clientes.</a:t>
            </a:r>
            <a:endParaRPr b="0" i="0" sz="1400" u="none" cap="none" strike="noStrike">
              <a:solidFill>
                <a:srgbClr val="000000"/>
              </a:solidFill>
              <a:latin typeface="Arial"/>
              <a:ea typeface="Arial"/>
              <a:cs typeface="Arial"/>
              <a:sym typeface="Arial"/>
            </a:endParaRPr>
          </a:p>
        </p:txBody>
      </p:sp>
      <p:sp>
        <p:nvSpPr>
          <p:cNvPr id="134" name="Google Shape;134;p5"/>
          <p:cNvSpPr/>
          <p:nvPr/>
        </p:nvSpPr>
        <p:spPr>
          <a:xfrm>
            <a:off x="4937760" y="393192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Clasificación Científica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Mecanismo computacional inteligente capaz de identificar las necesidades reales del cabello del usuario mediante análisis de imágenes.</a:t>
            </a:r>
            <a:endParaRPr b="0" i="0" sz="1400" u="none" cap="none" strike="noStrike">
              <a:solidFill>
                <a:srgbClr val="000000"/>
              </a:solidFill>
              <a:latin typeface="Arial"/>
              <a:ea typeface="Arial"/>
              <a:cs typeface="Arial"/>
              <a:sym typeface="Arial"/>
            </a:endParaRPr>
          </a:p>
        </p:txBody>
      </p:sp>
      <p:sp>
        <p:nvSpPr>
          <p:cNvPr id="135" name="Google Shape;135;p5"/>
          <p:cNvSpPr/>
          <p:nvPr/>
        </p:nvSpPr>
        <p:spPr>
          <a:xfrm>
            <a:off x="8595360" y="393192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Asesoría Guiada Transaccional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Conectar el diagnóstico con la recomendación de stock del catálogo propio, explicando al usuario de forma clara las ventajas de cada producto.</a:t>
            </a:r>
            <a:endParaRPr b="0" i="0" sz="1400" u="none" cap="none" strike="noStrike">
              <a:solidFill>
                <a:srgbClr val="000000"/>
              </a:solidFill>
              <a:latin typeface="Arial"/>
              <a:ea typeface="Arial"/>
              <a:cs typeface="Arial"/>
              <a:sym typeface="Arial"/>
            </a:endParaRPr>
          </a:p>
        </p:txBody>
      </p:sp>
      <p:sp>
        <p:nvSpPr>
          <p:cNvPr id="136" name="Google Shape;136;p5"/>
          <p:cNvSpPr txBox="1"/>
          <p:nvPr>
            <p:ph idx="12" type="sldNum"/>
          </p:nvPr>
        </p:nvSpPr>
        <p:spPr>
          <a:xfrm>
            <a:off x="97536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41" name="Shape 141"/>
        <p:cNvGrpSpPr/>
        <p:nvPr/>
      </p:nvGrpSpPr>
      <p:grpSpPr>
        <a:xfrm>
          <a:off x="0" y="0"/>
          <a:ext cx="0" cy="0"/>
          <a:chOff x="0" y="0"/>
          <a:chExt cx="0" cy="0"/>
        </a:xfrm>
      </p:grpSpPr>
      <p:sp>
        <p:nvSpPr>
          <p:cNvPr id="142" name="Google Shape;142;p6"/>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Nuestra Solución: E-Commerce y Venta Capilar Asistida con IA</a:t>
            </a:r>
            <a:endParaRPr b="0" i="0" sz="1400" u="none" cap="none" strike="noStrike">
              <a:solidFill>
                <a:srgbClr val="000000"/>
              </a:solidFill>
              <a:latin typeface="Arial"/>
              <a:ea typeface="Arial"/>
              <a:cs typeface="Arial"/>
              <a:sym typeface="Arial"/>
            </a:endParaRPr>
          </a:p>
        </p:txBody>
      </p:sp>
      <p:sp>
        <p:nvSpPr>
          <p:cNvPr id="143" name="Google Shape;143;p6"/>
          <p:cNvSpPr/>
          <p:nvPr/>
        </p:nvSpPr>
        <p:spPr>
          <a:xfrm>
            <a:off x="457200" y="1371600"/>
            <a:ext cx="11277295" cy="3291840"/>
          </a:xfrm>
          <a:prstGeom prst="roundRect">
            <a:avLst>
              <a:gd fmla="val 16667" name="adj"/>
            </a:avLst>
          </a:prstGeom>
          <a:solidFill>
            <a:srgbClr val="0F172A"/>
          </a:solidFill>
          <a:ln cap="flat" cmpd="sng" w="2540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74300" lIns="274300" spcFirstLastPara="1" rIns="274300" wrap="square" tIns="2743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14B8A6"/>
                </a:solidFill>
                <a:latin typeface="Georgia"/>
                <a:ea typeface="Georgia"/>
                <a:cs typeface="Georgia"/>
                <a:sym typeface="Georgia"/>
              </a:rPr>
              <a:t>Monsite: Canal Transaccional y de Diagnóstico Autónomo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1300"/>
              <a:buFont typeface="Arial"/>
              <a:buNone/>
            </a:pPr>
            <a:r>
              <a:rPr b="0" i="0" lang="en-US" sz="1300" u="none" cap="none" strike="noStrike">
                <a:solidFill>
                  <a:srgbClr val="F1F5F9"/>
                </a:solidFill>
                <a:latin typeface="Arial"/>
                <a:ea typeface="Arial"/>
                <a:cs typeface="Arial"/>
                <a:sym typeface="Arial"/>
              </a:rPr>
              <a:t>Canal de venta asistida que combina comercio electrónico e inteligencia artificial para comercializar directamente los productos capilares de Monsite sin depender de terceros, digitalizando la experiencia del salón de peluquería.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200"/>
              <a:buFont typeface="Arial"/>
              <a:buNone/>
            </a:pPr>
            <a:r>
              <a:rPr b="1" i="0" lang="en-US" sz="1200" u="none" cap="none" strike="noStrike">
                <a:solidFill>
                  <a:srgbClr val="C2410C"/>
                </a:solidFill>
                <a:latin typeface="Arial"/>
                <a:ea typeface="Arial"/>
                <a:cs typeface="Arial"/>
                <a:sym typeface="Arial"/>
              </a:rPr>
              <a:t>• PLATAFORMA PROPIA:</a:t>
            </a:r>
            <a:r>
              <a:rPr b="0" i="0" lang="en-US" sz="1100" u="none" cap="none" strike="noStrike">
                <a:solidFill>
                  <a:srgbClr val="F1F5F9"/>
                </a:solidFill>
                <a:latin typeface="Arial"/>
                <a:ea typeface="Arial"/>
                <a:cs typeface="Arial"/>
                <a:sym typeface="Arial"/>
              </a:rPr>
              <a:t> Catálogo interactivo de marcas de prestigio, carrito lateral persistente, checkout seguro con pasarela de pago y control de bodega.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2410C"/>
                </a:solidFill>
                <a:latin typeface="Arial"/>
                <a:ea typeface="Arial"/>
                <a:cs typeface="Arial"/>
                <a:sym typeface="Arial"/>
              </a:rPr>
              <a:t>• MÓDULO 'DIAGNOSTICA TU CABELLO':</a:t>
            </a:r>
            <a:r>
              <a:rPr b="0" i="0" lang="en-US" sz="1100" u="none" cap="none" strike="noStrike">
                <a:solidFill>
                  <a:srgbClr val="F1F5F9"/>
                </a:solidFill>
                <a:latin typeface="Arial"/>
                <a:ea typeface="Arial"/>
                <a:cs typeface="Arial"/>
                <a:sym typeface="Arial"/>
              </a:rPr>
              <a:t> Herramienta inteligente desde la página principal que analiza fotos de cabello para identificar resequedad, daño o deshidratación.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2410C"/>
                </a:solidFill>
                <a:latin typeface="Arial"/>
                <a:ea typeface="Arial"/>
                <a:cs typeface="Arial"/>
                <a:sym typeface="Arial"/>
              </a:rPr>
              <a:t>• RECOMENDACIÓN EXPLICADA:</a:t>
            </a:r>
            <a:r>
              <a:rPr b="0" i="0" lang="en-US" sz="1100" u="none" cap="none" strike="noStrike">
                <a:solidFill>
                  <a:srgbClr val="F1F5F9"/>
                </a:solidFill>
                <a:latin typeface="Arial"/>
                <a:ea typeface="Arial"/>
                <a:cs typeface="Arial"/>
                <a:sym typeface="Arial"/>
              </a:rPr>
              <a:t> Conecta las condiciones detectadas por el modelo IA con el catálogo, sugiriendo productos y explicando al usuario el 'por qué' técnico capilar.</a:t>
            </a:r>
            <a:endParaRPr b="0" i="0" sz="1400" u="none" cap="none" strike="noStrike">
              <a:solidFill>
                <a:srgbClr val="000000"/>
              </a:solidFill>
              <a:latin typeface="Arial"/>
              <a:ea typeface="Arial"/>
              <a:cs typeface="Arial"/>
              <a:sym typeface="Arial"/>
            </a:endParaRPr>
          </a:p>
        </p:txBody>
      </p:sp>
      <p:sp>
        <p:nvSpPr>
          <p:cNvPr id="144" name="Google Shape;144;p6"/>
          <p:cNvSpPr/>
          <p:nvPr/>
        </p:nvSpPr>
        <p:spPr>
          <a:xfrm>
            <a:off x="457200" y="4846320"/>
            <a:ext cx="11277295" cy="1280160"/>
          </a:xfrm>
          <a:prstGeom prst="roundRect">
            <a:avLst>
              <a:gd fmla="val 16667" name="adj"/>
            </a:avLst>
          </a:prstGeom>
          <a:solidFill>
            <a:srgbClr val="F0F9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C2410C"/>
                </a:solidFill>
                <a:latin typeface="Arial"/>
                <a:ea typeface="Arial"/>
                <a:cs typeface="Arial"/>
                <a:sym typeface="Arial"/>
              </a:rPr>
              <a:t>ARQUITECTURA Y STACK TECNOLÓGICO SELECCIONADO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Frontend Responsivo: HTML5, CSS3, JavaScript Vanilla   |   • Backend Lógico: Node.js y Express.js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Base de Datos y Autenticación: Suite de Firebase (Firestore, Auth, Storage, Hosting)</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Inteligencia Artificial: Microservicio independiente en Python 3.12, API en FastAPI con modelo ResNet50 en la nube de Render</a:t>
            </a:r>
            <a:endParaRPr b="0" i="0" sz="1400" u="none" cap="none" strike="noStrike">
              <a:solidFill>
                <a:srgbClr val="000000"/>
              </a:solidFill>
              <a:latin typeface="Arial"/>
              <a:ea typeface="Arial"/>
              <a:cs typeface="Arial"/>
              <a:sym typeface="Arial"/>
            </a:endParaRPr>
          </a:p>
        </p:txBody>
      </p:sp>
      <p:sp>
        <p:nvSpPr>
          <p:cNvPr id="145" name="Google Shape;145;p6"/>
          <p:cNvSpPr txBox="1"/>
          <p:nvPr>
            <p:ph idx="12" type="sldNum"/>
          </p:nvPr>
        </p:nvSpPr>
        <p:spPr>
          <a:xfrm>
            <a:off x="9600900" y="6309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0" name="Shape 150"/>
        <p:cNvGrpSpPr/>
        <p:nvPr/>
      </p:nvGrpSpPr>
      <p:grpSpPr>
        <a:xfrm>
          <a:off x="0" y="0"/>
          <a:ext cx="0" cy="0"/>
          <a:chOff x="0" y="0"/>
          <a:chExt cx="0" cy="0"/>
        </a:xfrm>
      </p:grpSpPr>
      <p:sp>
        <p:nvSpPr>
          <p:cNvPr id="151" name="Google Shape;151;p7"/>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Funcionalidades de la Solución: Componentes de la Plataforma</a:t>
            </a:r>
            <a:endParaRPr b="0" i="0" sz="1400" u="none" cap="none" strike="noStrike">
              <a:solidFill>
                <a:srgbClr val="000000"/>
              </a:solidFill>
              <a:latin typeface="Arial"/>
              <a:ea typeface="Arial"/>
              <a:cs typeface="Arial"/>
              <a:sym typeface="Arial"/>
            </a:endParaRPr>
          </a:p>
        </p:txBody>
      </p:sp>
      <p:sp>
        <p:nvSpPr>
          <p:cNvPr id="152" name="Google Shape;152;p7"/>
          <p:cNvSpPr/>
          <p:nvPr/>
        </p:nvSpPr>
        <p:spPr>
          <a:xfrm>
            <a:off x="457200" y="137160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4B8A6"/>
                </a:solidFill>
                <a:latin typeface="Georgia"/>
                <a:ea typeface="Georgia"/>
                <a:cs typeface="Georgia"/>
                <a:sym typeface="Georgia"/>
              </a:rPr>
              <a:t>Comercio Electrónico de Extremo a Extremo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Catálogo dinámico con filtros de marcas/categorías, carrito lateral de compras persistente, checkout guiado con datos de envío, validación de cupones y pasarela Mercado Pago.</a:t>
            </a:r>
            <a:endParaRPr b="0" i="0" sz="1400" u="none" cap="none" strike="noStrike">
              <a:solidFill>
                <a:srgbClr val="000000"/>
              </a:solidFill>
              <a:latin typeface="Arial"/>
              <a:ea typeface="Arial"/>
              <a:cs typeface="Arial"/>
              <a:sym typeface="Arial"/>
            </a:endParaRPr>
          </a:p>
        </p:txBody>
      </p:sp>
      <p:sp>
        <p:nvSpPr>
          <p:cNvPr id="153" name="Google Shape;153;p7"/>
          <p:cNvSpPr/>
          <p:nvPr/>
        </p:nvSpPr>
        <p:spPr>
          <a:xfrm>
            <a:off x="6400800" y="137160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4B8A6"/>
                </a:solidFill>
                <a:latin typeface="Georgia"/>
                <a:ea typeface="Georgia"/>
                <a:cs typeface="Georgia"/>
                <a:sym typeface="Georgia"/>
              </a:rPr>
              <a:t>Módulo de Diagnóstico Capilar Automatizado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Captura web de 3 fotos (general, raíz, puntas) que valida el brillo mínimo. Procesa la imagen mediante un microservicio en Render para diagnosticar el estado capilar del usuario.</a:t>
            </a:r>
            <a:endParaRPr b="0" i="0" sz="1400" u="none" cap="none" strike="noStrike">
              <a:solidFill>
                <a:srgbClr val="000000"/>
              </a:solidFill>
              <a:latin typeface="Arial"/>
              <a:ea typeface="Arial"/>
              <a:cs typeface="Arial"/>
              <a:sym typeface="Arial"/>
            </a:endParaRPr>
          </a:p>
        </p:txBody>
      </p:sp>
      <p:sp>
        <p:nvSpPr>
          <p:cNvPr id="154" name="Google Shape;154;p7"/>
          <p:cNvSpPr/>
          <p:nvPr/>
        </p:nvSpPr>
        <p:spPr>
          <a:xfrm>
            <a:off x="457200" y="384048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4B8A6"/>
                </a:solidFill>
                <a:latin typeface="Georgia"/>
                <a:ea typeface="Georgia"/>
                <a:cs typeface="Georgia"/>
                <a:sym typeface="Georgia"/>
              </a:rPr>
              <a:t>Gestión Operativa de Bodega Restringida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Panel restringido con perfiles para administradores y bodegueros, permitiendo actualizar stock en tiempo real, marcar ítems agotados de inmediato y preparar los despachos de pedidos.</a:t>
            </a:r>
            <a:endParaRPr b="0" i="0" sz="1400" u="none" cap="none" strike="noStrike">
              <a:solidFill>
                <a:srgbClr val="000000"/>
              </a:solidFill>
              <a:latin typeface="Arial"/>
              <a:ea typeface="Arial"/>
              <a:cs typeface="Arial"/>
              <a:sym typeface="Arial"/>
            </a:endParaRPr>
          </a:p>
        </p:txBody>
      </p:sp>
      <p:sp>
        <p:nvSpPr>
          <p:cNvPr id="155" name="Google Shape;155;p7"/>
          <p:cNvSpPr/>
          <p:nvPr/>
        </p:nvSpPr>
        <p:spPr>
          <a:xfrm>
            <a:off x="6400800" y="384048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4B8A6"/>
                </a:solidFill>
                <a:latin typeface="Georgia"/>
                <a:ea typeface="Georgia"/>
                <a:cs typeface="Georgia"/>
                <a:sym typeface="Georgia"/>
              </a:rPr>
              <a:t>Alertas y Notificaciones Transaccionales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Confirmación automática del registro, creación de órdenes y procesamiento de pagos con descuento automático de inventario, incluyendo envío de avisos al cliente por WhatsApp mediante Twilio.</a:t>
            </a:r>
            <a:endParaRPr b="0" i="0" sz="1400" u="none" cap="none" strike="noStrike">
              <a:solidFill>
                <a:srgbClr val="000000"/>
              </a:solidFill>
              <a:latin typeface="Arial"/>
              <a:ea typeface="Arial"/>
              <a:cs typeface="Arial"/>
              <a:sym typeface="Arial"/>
            </a:endParaRPr>
          </a:p>
        </p:txBody>
      </p:sp>
      <p:sp>
        <p:nvSpPr>
          <p:cNvPr id="156" name="Google Shape;156;p7"/>
          <p:cNvSpPr txBox="1"/>
          <p:nvPr>
            <p:ph idx="12" type="sldNum"/>
          </p:nvPr>
        </p:nvSpPr>
        <p:spPr>
          <a:xfrm>
            <a:off x="9600900" y="62163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61" name="Shape 161"/>
        <p:cNvGrpSpPr/>
        <p:nvPr/>
      </p:nvGrpSpPr>
      <p:grpSpPr>
        <a:xfrm>
          <a:off x="0" y="0"/>
          <a:ext cx="0" cy="0"/>
          <a:chOff x="0" y="0"/>
          <a:chExt cx="0" cy="0"/>
        </a:xfrm>
      </p:grpSpPr>
      <p:sp>
        <p:nvSpPr>
          <p:cNvPr id="162" name="Google Shape;162;p8"/>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Especificación de Requerimientos Funcionales y No Funcionales</a:t>
            </a:r>
            <a:endParaRPr b="0" i="0" sz="1400" u="none" cap="none" strike="noStrike">
              <a:solidFill>
                <a:srgbClr val="000000"/>
              </a:solidFill>
              <a:latin typeface="Arial"/>
              <a:ea typeface="Arial"/>
              <a:cs typeface="Arial"/>
              <a:sym typeface="Arial"/>
            </a:endParaRPr>
          </a:p>
        </p:txBody>
      </p:sp>
      <p:graphicFrame>
        <p:nvGraphicFramePr>
          <p:cNvPr id="163" name="Google Shape;163;p8"/>
          <p:cNvGraphicFramePr/>
          <p:nvPr/>
        </p:nvGraphicFramePr>
        <p:xfrm>
          <a:off x="457200" y="1280160"/>
          <a:ext cx="3000000" cy="3000000"/>
        </p:xfrm>
        <a:graphic>
          <a:graphicData uri="http://schemas.openxmlformats.org/drawingml/2006/table">
            <a:tbl>
              <a:tblPr bandRow="1" firstRow="1">
                <a:noFill/>
                <a:tableStyleId>{67FF00A7-F456-451B-B4CF-255C062D89A0}</a:tableStyleId>
              </a:tblPr>
              <a:tblGrid>
                <a:gridCol w="1188725"/>
                <a:gridCol w="1280150"/>
                <a:gridCol w="2926075"/>
                <a:gridCol w="5882325"/>
              </a:tblGrid>
              <a:tr h="538475">
                <a:tc>
                  <a:txBody>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Identificador</a:t>
                      </a:r>
                      <a:endParaRPr sz="1400" u="none" cap="none" strike="noStrike"/>
                    </a:p>
                  </a:txBody>
                  <a:tcPr marT="45725" marB="45725" marR="91450" marL="91450" anchor="ctr">
                    <a:solidFill>
                      <a:srgbClr val="0F172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Tipo de Requisito</a:t>
                      </a:r>
                      <a:endParaRPr sz="1400" u="none" cap="none" strike="noStrike"/>
                    </a:p>
                  </a:txBody>
                  <a:tcPr marT="45725" marB="45725" marR="91450" marL="91450" anchor="ctr">
                    <a:solidFill>
                      <a:srgbClr val="0F172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Nombre del Requisito</a:t>
                      </a:r>
                      <a:endParaRPr sz="1400" u="none" cap="none" strike="noStrike"/>
                    </a:p>
                  </a:txBody>
                  <a:tcPr marT="45725" marB="45725" marR="91450" marL="91450" anchor="ctr">
                    <a:solidFill>
                      <a:srgbClr val="0F172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Descripción Técnica y Atributos de Calidad</a:t>
                      </a:r>
                      <a:endParaRPr sz="1400" u="none" cap="none" strike="noStrike"/>
                    </a:p>
                  </a:txBody>
                  <a:tcPr marT="45725" marB="45725" marR="91450" marL="91450" anchor="ctr">
                    <a:solidFill>
                      <a:srgbClr val="0F172A"/>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RF01</a:t>
                      </a:r>
                      <a:endParaRPr sz="1400" u="none" cap="none" strike="noStrike"/>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Funcional</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Catálogo de Productos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Permite consultar la vitrina de productos filtrando dinámicamente por categorías y marcas registradas en Firestore.</a:t>
                      </a:r>
                      <a:endParaRPr sz="1400" u="none" cap="none" strike="noStrike"/>
                    </a:p>
                  </a:txBody>
                  <a:tcPr marT="45725" marB="45725" marR="91450" marL="91450" anchor="ctr">
                    <a:solidFill>
                      <a:srgbClr val="FFFF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RF15</a:t>
                      </a:r>
                      <a:endParaRPr sz="1400" u="none" cap="none" strike="noStrike"/>
                    </a:p>
                  </a:txBody>
                  <a:tcPr marT="45725" marB="45725" marR="91450" marL="91450" anchor="ctr">
                    <a:solidFill>
                      <a:srgbClr val="F0F9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Funcional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Integración Mercado Pago</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Procesa cobros reales enviando las preferencias del carrito de compras de forma segura al Checkout Pro.</a:t>
                      </a:r>
                      <a:endParaRPr sz="1400" u="none" cap="none" strike="noStrike"/>
                    </a:p>
                  </a:txBody>
                  <a:tcPr marT="45725" marB="45725" marR="91450" marL="91450" anchor="ctr">
                    <a:solidFill>
                      <a:srgbClr val="F0F9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RF26</a:t>
                      </a:r>
                      <a:endParaRPr sz="1400" u="none" cap="none" strike="noStrike"/>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Funcional</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Captura Guiada de Fotos</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Módulo de cámara para capturar 3 fotos de cabello, validando que el brillo de la imagen supere un umbral mínimo.</a:t>
                      </a:r>
                      <a:endParaRPr sz="1400" u="none" cap="none" strike="noStrike"/>
                    </a:p>
                  </a:txBody>
                  <a:tcPr marT="45725" marB="45725" marR="91450" marL="91450" anchor="ctr">
                    <a:solidFill>
                      <a:srgbClr val="FFFF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RF27</a:t>
                      </a:r>
                      <a:endParaRPr sz="1400" u="none" cap="none" strike="noStrike"/>
                    </a:p>
                  </a:txBody>
                  <a:tcPr marT="45725" marB="45725" marR="91450" marL="91450" anchor="ctr">
                    <a:solidFill>
                      <a:srgbClr val="F0F9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Funcional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Consentimiento de Análisis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Exige la firma de consentimiento de privacidad de imágenes obligatorio antes de habilitar la cámara de diagnóstico.</a:t>
                      </a:r>
                      <a:endParaRPr sz="1400" u="none" cap="none" strike="noStrike"/>
                    </a:p>
                  </a:txBody>
                  <a:tcPr marT="45725" marB="45725" marR="91450" marL="91450" anchor="ctr">
                    <a:solidFill>
                      <a:srgbClr val="F0F9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RNF01</a:t>
                      </a:r>
                      <a:endParaRPr sz="1400" u="none" cap="none" strike="noStrike"/>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No Funcional</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Política de Contraseñas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Seguridad de accesos: contraseñas de mínimo 12 caracteres, mayúscula, número y un carácter especial.</a:t>
                      </a:r>
                      <a:endParaRPr sz="1400" u="none" cap="none" strike="noStrike"/>
                    </a:p>
                  </a:txBody>
                  <a:tcPr marT="45725" marB="45725" marR="91450" marL="91450" anchor="ctr">
                    <a:solidFill>
                      <a:srgbClr val="FFFF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RNF03</a:t>
                      </a:r>
                      <a:endParaRPr sz="1400" u="none" cap="none" strike="noStrike"/>
                    </a:p>
                  </a:txBody>
                  <a:tcPr marT="45725" marB="45725" marR="91450" marL="91450" anchor="ctr">
                    <a:solidFill>
                      <a:srgbClr val="F0F9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No Funcional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Anonimización de Datos</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Almacenamiento de fotos capilares de entrenamiento aisladas de nombres, correos o RUT de los clientes.</a:t>
                      </a:r>
                      <a:endParaRPr sz="1400" u="none" cap="none" strike="noStrike"/>
                    </a:p>
                  </a:txBody>
                  <a:tcPr marT="45725" marB="45725" marR="91450" marL="91450" anchor="ctr">
                    <a:solidFill>
                      <a:srgbClr val="F0F9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RNF07</a:t>
                      </a:r>
                      <a:endParaRPr sz="1400" u="none" cap="none" strike="noStrike"/>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No Funcional</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Cumplimiento Normativo</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Protección de datos capilares regulada bajo leyes chilenas 19.628 (protección de la vida privada) y 21.719.</a:t>
                      </a:r>
                      <a:endParaRPr sz="1400" u="none" cap="none" strike="noStrike"/>
                    </a:p>
                  </a:txBody>
                  <a:tcPr marT="45725" marB="45725" marR="91450" marL="91450" anchor="ctr">
                    <a:solidFill>
                      <a:srgbClr val="FFFF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RNF12</a:t>
                      </a:r>
                      <a:endParaRPr sz="1400" u="none" cap="none" strike="noStrike"/>
                    </a:p>
                  </a:txBody>
                  <a:tcPr marT="45725" marB="45725" marR="91450" marL="91450" anchor="ctr">
                    <a:solidFill>
                      <a:srgbClr val="F0F9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No Funcional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Eficiencia Temporal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El flujo completo de análisis capilar por el modelo IA en FastAPI no debe demorar más de 1 minuto.</a:t>
                      </a:r>
                      <a:endParaRPr sz="1400" u="none" cap="none" strike="noStrike"/>
                    </a:p>
                  </a:txBody>
                  <a:tcPr marT="45725" marB="45725" marR="91450" marL="91450" anchor="ctr">
                    <a:solidFill>
                      <a:srgbClr val="F0F9FF"/>
                    </a:solidFill>
                  </a:tcPr>
                </a:tc>
              </a:tr>
            </a:tbl>
          </a:graphicData>
        </a:graphic>
      </p:graphicFrame>
      <p:sp>
        <p:nvSpPr>
          <p:cNvPr id="164" name="Google Shape;164;p8"/>
          <p:cNvSpPr txBox="1"/>
          <p:nvPr>
            <p:ph idx="12" type="sldNum"/>
          </p:nvPr>
        </p:nvSpPr>
        <p:spPr>
          <a:xfrm>
            <a:off x="9600900" y="62178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9" name="Shape 169"/>
        <p:cNvGrpSpPr/>
        <p:nvPr/>
      </p:nvGrpSpPr>
      <p:grpSpPr>
        <a:xfrm>
          <a:off x="0" y="0"/>
          <a:ext cx="0" cy="0"/>
          <a:chOff x="0" y="0"/>
          <a:chExt cx="0" cy="0"/>
        </a:xfrm>
      </p:grpSpPr>
      <p:sp>
        <p:nvSpPr>
          <p:cNvPr id="170" name="Google Shape;170;p9"/>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Mapa de Épicas del Proyecto y Priorización SCRUM</a:t>
            </a:r>
            <a:endParaRPr b="0" i="0" sz="1400" u="none" cap="none" strike="noStrike">
              <a:solidFill>
                <a:srgbClr val="000000"/>
              </a:solidFill>
              <a:latin typeface="Arial"/>
              <a:ea typeface="Arial"/>
              <a:cs typeface="Arial"/>
              <a:sym typeface="Arial"/>
            </a:endParaRPr>
          </a:p>
        </p:txBody>
      </p:sp>
      <p:sp>
        <p:nvSpPr>
          <p:cNvPr id="171" name="Google Shape;171;p9"/>
          <p:cNvSpPr/>
          <p:nvPr/>
        </p:nvSpPr>
        <p:spPr>
          <a:xfrm>
            <a:off x="1371600" y="2926080"/>
            <a:ext cx="9418320" cy="54864"/>
          </a:xfrm>
          <a:prstGeom prst="rect">
            <a:avLst/>
          </a:prstGeom>
          <a:solidFill>
            <a:srgbClr val="14B8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9"/>
          <p:cNvSpPr/>
          <p:nvPr/>
        </p:nvSpPr>
        <p:spPr>
          <a:xfrm>
            <a:off x="73152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E01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000"/>
              <a:buFont typeface="Arial"/>
              <a:buNone/>
            </a:pPr>
            <a:r>
              <a:rPr b="1" i="0" lang="en-US" sz="1000" u="none" cap="none" strike="noStrike">
                <a:solidFill>
                  <a:srgbClr val="FAF9F6"/>
                </a:solidFill>
                <a:latin typeface="Georgia"/>
                <a:ea typeface="Georgia"/>
                <a:cs typeface="Georgia"/>
                <a:sym typeface="Georgia"/>
              </a:rPr>
              <a:t>Autenticación</a:t>
            </a:r>
            <a:endParaRPr b="0" i="0" sz="1400" u="none" cap="none" strike="noStrike">
              <a:solidFill>
                <a:srgbClr val="000000"/>
              </a:solidFill>
              <a:latin typeface="Arial"/>
              <a:ea typeface="Arial"/>
              <a:cs typeface="Arial"/>
              <a:sym typeface="Arial"/>
            </a:endParaRPr>
          </a:p>
        </p:txBody>
      </p:sp>
      <p:sp>
        <p:nvSpPr>
          <p:cNvPr id="173" name="Google Shape;173;p9"/>
          <p:cNvSpPr txBox="1"/>
          <p:nvPr/>
        </p:nvSpPr>
        <p:spPr>
          <a:xfrm>
            <a:off x="54864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Registro e inicio de sesión integrados en Firebase Auth con restricciones según roles (Cliente, Admin, Bodeguero).</a:t>
            </a:r>
            <a:endParaRPr b="0" i="0" sz="1400" u="none" cap="none" strike="noStrike">
              <a:solidFill>
                <a:srgbClr val="000000"/>
              </a:solidFill>
              <a:latin typeface="Arial"/>
              <a:ea typeface="Arial"/>
              <a:cs typeface="Arial"/>
              <a:sym typeface="Arial"/>
            </a:endParaRPr>
          </a:p>
        </p:txBody>
      </p:sp>
      <p:sp>
        <p:nvSpPr>
          <p:cNvPr id="174" name="Google Shape;174;p9"/>
          <p:cNvSpPr/>
          <p:nvPr/>
        </p:nvSpPr>
        <p:spPr>
          <a:xfrm>
            <a:off x="292608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E03-05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100"/>
              <a:buFont typeface="Arial"/>
              <a:buNone/>
            </a:pPr>
            <a:r>
              <a:rPr b="1" i="0" lang="en-US" sz="1100" u="none" cap="none" strike="noStrike">
                <a:solidFill>
                  <a:srgbClr val="FAF9F6"/>
                </a:solidFill>
                <a:latin typeface="Georgia"/>
                <a:ea typeface="Georgia"/>
                <a:cs typeface="Georgia"/>
                <a:sym typeface="Georgia"/>
              </a:rPr>
              <a:t>Compra y Pago</a:t>
            </a:r>
            <a:endParaRPr b="0" i="0" sz="1400" u="none" cap="none" strike="noStrike">
              <a:solidFill>
                <a:srgbClr val="000000"/>
              </a:solidFill>
              <a:latin typeface="Arial"/>
              <a:ea typeface="Arial"/>
              <a:cs typeface="Arial"/>
              <a:sym typeface="Arial"/>
            </a:endParaRPr>
          </a:p>
        </p:txBody>
      </p:sp>
      <p:sp>
        <p:nvSpPr>
          <p:cNvPr id="175" name="Google Shape;175;p9"/>
          <p:cNvSpPr txBox="1"/>
          <p:nvPr/>
        </p:nvSpPr>
        <p:spPr>
          <a:xfrm>
            <a:off x="274320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94A3B8"/>
                </a:solidFill>
                <a:latin typeface="Arial"/>
                <a:ea typeface="Arial"/>
                <a:cs typeface="Arial"/>
                <a:sym typeface="Arial"/>
              </a:rPr>
              <a:t>Gestión de carrito lateral, captura de envíos y pasarela transaccional con Mercado Pago.</a:t>
            </a:r>
            <a:endParaRPr b="0" i="0" sz="1400" u="none" cap="none" strike="noStrike">
              <a:solidFill>
                <a:srgbClr val="000000"/>
              </a:solidFill>
              <a:latin typeface="Arial"/>
              <a:ea typeface="Arial"/>
              <a:cs typeface="Arial"/>
              <a:sym typeface="Arial"/>
            </a:endParaRPr>
          </a:p>
        </p:txBody>
      </p:sp>
      <p:sp>
        <p:nvSpPr>
          <p:cNvPr id="176" name="Google Shape;176;p9"/>
          <p:cNvSpPr/>
          <p:nvPr/>
        </p:nvSpPr>
        <p:spPr>
          <a:xfrm>
            <a:off x="512064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E12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100"/>
              <a:buFont typeface="Arial"/>
              <a:buNone/>
            </a:pPr>
            <a:r>
              <a:rPr b="1" i="0" lang="en-US" sz="1100" u="none" cap="none" strike="noStrike">
                <a:solidFill>
                  <a:srgbClr val="FAF9F6"/>
                </a:solidFill>
                <a:latin typeface="Georgia"/>
                <a:ea typeface="Georgia"/>
                <a:cs typeface="Georgia"/>
                <a:sym typeface="Georgia"/>
              </a:rPr>
              <a:t>Asistente IA</a:t>
            </a:r>
            <a:endParaRPr b="0" i="0" sz="1400" u="none" cap="none" strike="noStrike">
              <a:solidFill>
                <a:srgbClr val="000000"/>
              </a:solidFill>
              <a:latin typeface="Arial"/>
              <a:ea typeface="Arial"/>
              <a:cs typeface="Arial"/>
              <a:sym typeface="Arial"/>
            </a:endParaRPr>
          </a:p>
        </p:txBody>
      </p:sp>
      <p:sp>
        <p:nvSpPr>
          <p:cNvPr id="177" name="Google Shape;177;p9"/>
          <p:cNvSpPr txBox="1"/>
          <p:nvPr/>
        </p:nvSpPr>
        <p:spPr>
          <a:xfrm>
            <a:off x="493776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94A3B8"/>
                </a:solidFill>
                <a:latin typeface="Arial"/>
                <a:ea typeface="Arial"/>
                <a:cs typeface="Arial"/>
                <a:sym typeface="Arial"/>
              </a:rPr>
              <a:t>Módulo 'Diagnostica tu cabello' para evaluar fotos con el modelo ResNet50 en Render.</a:t>
            </a:r>
            <a:endParaRPr b="0" i="0" sz="1400" u="none" cap="none" strike="noStrike">
              <a:solidFill>
                <a:srgbClr val="000000"/>
              </a:solidFill>
              <a:latin typeface="Arial"/>
              <a:ea typeface="Arial"/>
              <a:cs typeface="Arial"/>
              <a:sym typeface="Arial"/>
            </a:endParaRPr>
          </a:p>
        </p:txBody>
      </p:sp>
      <p:sp>
        <p:nvSpPr>
          <p:cNvPr id="178" name="Google Shape;178;p9"/>
          <p:cNvSpPr/>
          <p:nvPr/>
        </p:nvSpPr>
        <p:spPr>
          <a:xfrm>
            <a:off x="7315200" y="2103120"/>
            <a:ext cx="1645920" cy="1645920"/>
          </a:xfrm>
          <a:prstGeom prst="ellipse">
            <a:avLst/>
          </a:prstGeom>
          <a:solidFill>
            <a:srgbClr val="1E293B"/>
          </a:solidFill>
          <a:ln cap="flat" cmpd="sng" w="317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E08-09</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100"/>
              <a:buFont typeface="Arial"/>
              <a:buNone/>
            </a:pPr>
            <a:r>
              <a:rPr b="1" i="0" lang="en-US" sz="1100" u="none" cap="none" strike="noStrike">
                <a:solidFill>
                  <a:srgbClr val="FAF9F6"/>
                </a:solidFill>
                <a:latin typeface="Georgia"/>
                <a:ea typeface="Georgia"/>
                <a:cs typeface="Georgia"/>
                <a:sym typeface="Georgia"/>
              </a:rPr>
              <a:t>Admin</a:t>
            </a:r>
            <a:endParaRPr b="0" i="0" sz="1400" u="none" cap="none" strike="noStrike">
              <a:solidFill>
                <a:srgbClr val="000000"/>
              </a:solidFill>
              <a:latin typeface="Arial"/>
              <a:ea typeface="Arial"/>
              <a:cs typeface="Arial"/>
              <a:sym typeface="Arial"/>
            </a:endParaRPr>
          </a:p>
        </p:txBody>
      </p:sp>
      <p:sp>
        <p:nvSpPr>
          <p:cNvPr id="179" name="Google Shape;179;p9"/>
          <p:cNvSpPr txBox="1"/>
          <p:nvPr/>
        </p:nvSpPr>
        <p:spPr>
          <a:xfrm>
            <a:off x="713232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94A3B8"/>
                </a:solidFill>
                <a:latin typeface="Arial"/>
                <a:ea typeface="Arial"/>
                <a:cs typeface="Arial"/>
                <a:sym typeface="Arial"/>
              </a:rPr>
              <a:t>Panel administrativo para controlar catálogo, marcas, categorías, cupones y ver métricas.</a:t>
            </a:r>
            <a:endParaRPr b="0" i="0" sz="1400" u="none" cap="none" strike="noStrike">
              <a:solidFill>
                <a:srgbClr val="000000"/>
              </a:solidFill>
              <a:latin typeface="Arial"/>
              <a:ea typeface="Arial"/>
              <a:cs typeface="Arial"/>
              <a:sym typeface="Arial"/>
            </a:endParaRPr>
          </a:p>
        </p:txBody>
      </p:sp>
      <p:sp>
        <p:nvSpPr>
          <p:cNvPr id="180" name="Google Shape;180;p9"/>
          <p:cNvSpPr/>
          <p:nvPr/>
        </p:nvSpPr>
        <p:spPr>
          <a:xfrm>
            <a:off x="950976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E13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100"/>
              <a:buFont typeface="Arial"/>
              <a:buNone/>
            </a:pPr>
            <a:r>
              <a:rPr b="1" i="0" lang="en-US" sz="1100" u="none" cap="none" strike="noStrike">
                <a:solidFill>
                  <a:srgbClr val="FAF9F6"/>
                </a:solidFill>
                <a:latin typeface="Georgia"/>
                <a:ea typeface="Georgia"/>
                <a:cs typeface="Georgia"/>
                <a:sym typeface="Georgia"/>
              </a:rPr>
              <a:t>Control Bodega</a:t>
            </a:r>
            <a:endParaRPr b="0" i="0" sz="1400" u="none" cap="none" strike="noStrike">
              <a:solidFill>
                <a:srgbClr val="000000"/>
              </a:solidFill>
              <a:latin typeface="Arial"/>
              <a:ea typeface="Arial"/>
              <a:cs typeface="Arial"/>
              <a:sym typeface="Arial"/>
            </a:endParaRPr>
          </a:p>
        </p:txBody>
      </p:sp>
      <p:sp>
        <p:nvSpPr>
          <p:cNvPr id="181" name="Google Shape;181;p9"/>
          <p:cNvSpPr txBox="1"/>
          <p:nvPr/>
        </p:nvSpPr>
        <p:spPr>
          <a:xfrm>
            <a:off x="932688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94A3B8"/>
                </a:solidFill>
                <a:latin typeface="Arial"/>
                <a:ea typeface="Arial"/>
                <a:cs typeface="Arial"/>
                <a:sym typeface="Arial"/>
              </a:rPr>
              <a:t>Panel exclusivo para bodegueros, despacho de pedidos en tiempo real y regularización de stock.</a:t>
            </a:r>
            <a:endParaRPr b="0" i="0" sz="1400" u="none" cap="none" strike="noStrike">
              <a:solidFill>
                <a:srgbClr val="000000"/>
              </a:solidFill>
              <a:latin typeface="Arial"/>
              <a:ea typeface="Arial"/>
              <a:cs typeface="Arial"/>
              <a:sym typeface="Arial"/>
            </a:endParaRPr>
          </a:p>
        </p:txBody>
      </p:sp>
      <p:sp>
        <p:nvSpPr>
          <p:cNvPr id="182" name="Google Shape;182;p9"/>
          <p:cNvSpPr txBox="1"/>
          <p:nvPr>
            <p:ph idx="12" type="sldNum"/>
          </p:nvPr>
        </p:nvSpPr>
        <p:spPr>
          <a:xfrm>
            <a:off x="9509738" y="62179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9FF"/>
        </a:solidFill>
      </p:bgPr>
    </p:bg>
    <p:spTree>
      <p:nvGrpSpPr>
        <p:cNvPr id="187" name="Shape 187"/>
        <p:cNvGrpSpPr/>
        <p:nvPr/>
      </p:nvGrpSpPr>
      <p:grpSpPr>
        <a:xfrm>
          <a:off x="0" y="0"/>
          <a:ext cx="0" cy="0"/>
          <a:chOff x="0" y="0"/>
          <a:chExt cx="0" cy="0"/>
        </a:xfrm>
      </p:grpSpPr>
      <p:sp>
        <p:nvSpPr>
          <p:cNvPr id="188" name="Google Shape;188;p15"/>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Historias de Usuario Críticas y Estimaciones de Esfuerzo</a:t>
            </a:r>
            <a:endParaRPr b="0" i="0" sz="1400" u="none" cap="none" strike="noStrike">
              <a:solidFill>
                <a:srgbClr val="000000"/>
              </a:solidFill>
              <a:latin typeface="Arial"/>
              <a:ea typeface="Arial"/>
              <a:cs typeface="Arial"/>
              <a:sym typeface="Arial"/>
            </a:endParaRPr>
          </a:p>
        </p:txBody>
      </p:sp>
      <p:sp>
        <p:nvSpPr>
          <p:cNvPr id="189" name="Google Shape;189;p15"/>
          <p:cNvSpPr/>
          <p:nvPr/>
        </p:nvSpPr>
        <p:spPr>
          <a:xfrm>
            <a:off x="457200" y="1371600"/>
            <a:ext cx="256032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E293B"/>
                </a:solidFill>
                <a:latin typeface="Arial"/>
                <a:ea typeface="Arial"/>
                <a:cs typeface="Arial"/>
                <a:sym typeface="Arial"/>
              </a:rPr>
              <a:t>CLIENTE / COMPRADOR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E02-H06 (100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cliente, quiero visualizar el catálogo dinámico de productos para explorar la vitrina comercial de marcas capilares."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E03-H11 (90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cliente, quiero abrir un carrito de compras lateral persistente para revisar los productos seleccionados sin salir del catálogo."</a:t>
            </a:r>
            <a:endParaRPr b="0" i="0" sz="1400" u="none" cap="none" strike="noStrike">
              <a:solidFill>
                <a:srgbClr val="000000"/>
              </a:solidFill>
              <a:latin typeface="Arial"/>
              <a:ea typeface="Arial"/>
              <a:cs typeface="Arial"/>
              <a:sym typeface="Arial"/>
            </a:endParaRPr>
          </a:p>
        </p:txBody>
      </p:sp>
      <p:sp>
        <p:nvSpPr>
          <p:cNvPr id="190" name="Google Shape;190;p15"/>
          <p:cNvSpPr/>
          <p:nvPr/>
        </p:nvSpPr>
        <p:spPr>
          <a:xfrm>
            <a:off x="329184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E293B"/>
                </a:solidFill>
                <a:latin typeface="Arial"/>
                <a:ea typeface="Arial"/>
                <a:cs typeface="Arial"/>
                <a:sym typeface="Arial"/>
              </a:rPr>
              <a:t>ADMINISTRADOR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E08-H26 (90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administrador, quiero crear, editar y eliminar productos del catálogo para mantener el catálogo actualizado."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E09-H30 (60 Puntos / Media):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administrador, quiero visualizar métricas de productos destacados y stock bajo para monitorear el negocio."</a:t>
            </a:r>
            <a:endParaRPr b="0" i="0" sz="1400" u="none" cap="none" strike="noStrike">
              <a:solidFill>
                <a:srgbClr val="000000"/>
              </a:solidFill>
              <a:latin typeface="Arial"/>
              <a:ea typeface="Arial"/>
              <a:cs typeface="Arial"/>
              <a:sym typeface="Arial"/>
            </a:endParaRPr>
          </a:p>
        </p:txBody>
      </p:sp>
      <p:sp>
        <p:nvSpPr>
          <p:cNvPr id="191" name="Google Shape;191;p15"/>
          <p:cNvSpPr/>
          <p:nvPr/>
        </p:nvSpPr>
        <p:spPr>
          <a:xfrm>
            <a:off x="6126480" y="1371600"/>
            <a:ext cx="256032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C2410C"/>
                </a:solidFill>
                <a:latin typeface="Arial"/>
                <a:ea typeface="Arial"/>
                <a:cs typeface="Arial"/>
                <a:sym typeface="Arial"/>
              </a:rPr>
              <a:t>BODEGUERO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E13-H44 (60 Puntos / Media):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bodeguero, quiero acceder a un panel exclusivo limitado para operar solo las tareas de mi 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E13-H45 (60 Puntos / Media):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bodeguero, quiero marcar productos como agotados de forma inmediata para que dejen de ofrecerse en la web."</a:t>
            </a:r>
            <a:endParaRPr b="0" i="0" sz="1400" u="none" cap="none" strike="noStrike">
              <a:solidFill>
                <a:srgbClr val="000000"/>
              </a:solidFill>
              <a:latin typeface="Arial"/>
              <a:ea typeface="Arial"/>
              <a:cs typeface="Arial"/>
              <a:sym typeface="Arial"/>
            </a:endParaRPr>
          </a:p>
        </p:txBody>
      </p:sp>
      <p:sp>
        <p:nvSpPr>
          <p:cNvPr id="192" name="Google Shape;192;p15"/>
          <p:cNvSpPr/>
          <p:nvPr/>
        </p:nvSpPr>
        <p:spPr>
          <a:xfrm>
            <a:off x="896112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E293B"/>
                </a:solidFill>
                <a:latin typeface="Arial"/>
                <a:ea typeface="Arial"/>
                <a:cs typeface="Arial"/>
                <a:sym typeface="Arial"/>
              </a:rPr>
              <a:t>SISTEMA / INVITADO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E01-H02 (90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visitante, quiero registrarme ingresando mis datos para contar con una cuenta transaccional."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E01-H05 (90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sistema, quiero restringir rutas e interfaces según el rol del usuario para evitar accesos no autorizados."</a:t>
            </a:r>
            <a:endParaRPr b="0" i="0" sz="1400" u="none" cap="none" strike="noStrike">
              <a:solidFill>
                <a:srgbClr val="000000"/>
              </a:solidFill>
              <a:latin typeface="Arial"/>
              <a:ea typeface="Arial"/>
              <a:cs typeface="Arial"/>
              <a:sym typeface="Arial"/>
            </a:endParaRPr>
          </a:p>
        </p:txBody>
      </p:sp>
      <p:sp>
        <p:nvSpPr>
          <p:cNvPr id="193" name="Google Shape;193;p15"/>
          <p:cNvSpPr txBox="1"/>
          <p:nvPr>
            <p:ph idx="12" type="sldNum"/>
          </p:nvPr>
        </p:nvSpPr>
        <p:spPr>
          <a:xfrm>
            <a:off x="9600900" y="630970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98" name="Shape 198"/>
        <p:cNvGrpSpPr/>
        <p:nvPr/>
      </p:nvGrpSpPr>
      <p:grpSpPr>
        <a:xfrm>
          <a:off x="0" y="0"/>
          <a:ext cx="0" cy="0"/>
          <a:chOff x="0" y="0"/>
          <a:chExt cx="0" cy="0"/>
        </a:xfrm>
      </p:grpSpPr>
      <p:pic>
        <p:nvPicPr>
          <p:cNvPr id="199" name="Google Shape;199;p16"/>
          <p:cNvPicPr preferRelativeResize="0"/>
          <p:nvPr/>
        </p:nvPicPr>
        <p:blipFill rotWithShape="1">
          <a:blip r:embed="rId3">
            <a:alphaModFix/>
          </a:blip>
          <a:srcRect b="0" l="0" r="0" t="0"/>
          <a:stretch/>
        </p:blipFill>
        <p:spPr>
          <a:xfrm>
            <a:off x="0" y="3835800"/>
            <a:ext cx="12219575" cy="430775"/>
          </a:xfrm>
          <a:prstGeom prst="rect">
            <a:avLst/>
          </a:prstGeom>
          <a:solidFill>
            <a:srgbClr val="FFFFFF"/>
          </a:solidFill>
          <a:ln cap="flat" cmpd="sng" w="19050">
            <a:solidFill>
              <a:schemeClr val="lt1"/>
            </a:solidFill>
            <a:prstDash val="solid"/>
            <a:round/>
            <a:headEnd len="sm" w="sm" type="none"/>
            <a:tailEnd len="sm" w="sm" type="none"/>
          </a:ln>
        </p:spPr>
      </p:pic>
      <p:sp>
        <p:nvSpPr>
          <p:cNvPr id="200" name="Google Shape;200;p16"/>
          <p:cNvSpPr txBox="1"/>
          <p:nvPr>
            <p:ph idx="12" type="sldNum"/>
          </p:nvPr>
        </p:nvSpPr>
        <p:spPr>
          <a:xfrm>
            <a:off x="9712200" y="63538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01" name="Google Shape;201;p16"/>
          <p:cNvPicPr preferRelativeResize="0"/>
          <p:nvPr/>
        </p:nvPicPr>
        <p:blipFill rotWithShape="1">
          <a:blip r:embed="rId4">
            <a:alphaModFix/>
          </a:blip>
          <a:srcRect b="0" l="0" r="0" t="0"/>
          <a:stretch/>
        </p:blipFill>
        <p:spPr>
          <a:xfrm>
            <a:off x="152400" y="935943"/>
            <a:ext cx="11665246" cy="5274724"/>
          </a:xfrm>
          <a:prstGeom prst="rect">
            <a:avLst/>
          </a:prstGeom>
          <a:noFill/>
          <a:ln>
            <a:noFill/>
          </a:ln>
        </p:spPr>
      </p:pic>
      <p:pic>
        <p:nvPicPr>
          <p:cNvPr id="202" name="Google Shape;202;p16"/>
          <p:cNvPicPr preferRelativeResize="0"/>
          <p:nvPr/>
        </p:nvPicPr>
        <p:blipFill rotWithShape="1">
          <a:blip r:embed="rId5">
            <a:alphaModFix/>
          </a:blip>
          <a:srcRect b="0" l="0" r="0" t="0"/>
          <a:stretch/>
        </p:blipFill>
        <p:spPr>
          <a:xfrm>
            <a:off x="152400" y="152400"/>
            <a:ext cx="11887199" cy="7835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07" name="Shape 207"/>
        <p:cNvGrpSpPr/>
        <p:nvPr/>
      </p:nvGrpSpPr>
      <p:grpSpPr>
        <a:xfrm>
          <a:off x="0" y="0"/>
          <a:ext cx="0" cy="0"/>
          <a:chOff x="0" y="0"/>
          <a:chExt cx="0" cy="0"/>
        </a:xfrm>
      </p:grpSpPr>
      <p:sp>
        <p:nvSpPr>
          <p:cNvPr id="208" name="Google Shape;208;p10"/>
          <p:cNvSpPr txBox="1"/>
          <p:nvPr/>
        </p:nvSpPr>
        <p:spPr>
          <a:xfrm>
            <a:off x="457350" y="213875"/>
            <a:ext cx="112773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Arquitectura del Sistema: Diseño Desacoplado y Consumo de IA</a:t>
            </a:r>
            <a:endParaRPr b="0" i="0" sz="1400" u="none" cap="none" strike="noStrike">
              <a:solidFill>
                <a:srgbClr val="000000"/>
              </a:solidFill>
              <a:latin typeface="Arial"/>
              <a:ea typeface="Arial"/>
              <a:cs typeface="Arial"/>
              <a:sym typeface="Arial"/>
            </a:endParaRPr>
          </a:p>
        </p:txBody>
      </p:sp>
      <p:sp>
        <p:nvSpPr>
          <p:cNvPr id="209" name="Google Shape;209;p10"/>
          <p:cNvSpPr txBox="1"/>
          <p:nvPr>
            <p:ph idx="12" type="sldNum"/>
          </p:nvPr>
        </p:nvSpPr>
        <p:spPr>
          <a:xfrm>
            <a:off x="9600900" y="6309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10" name="Google Shape;210;p10"/>
          <p:cNvPicPr preferRelativeResize="0"/>
          <p:nvPr/>
        </p:nvPicPr>
        <p:blipFill rotWithShape="1">
          <a:blip r:embed="rId3">
            <a:alphaModFix/>
          </a:blip>
          <a:srcRect b="0" l="0" r="0" t="0"/>
          <a:stretch/>
        </p:blipFill>
        <p:spPr>
          <a:xfrm>
            <a:off x="1136200" y="986075"/>
            <a:ext cx="9919601" cy="5688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15" name="Shape 215"/>
        <p:cNvGrpSpPr/>
        <p:nvPr/>
      </p:nvGrpSpPr>
      <p:grpSpPr>
        <a:xfrm>
          <a:off x="0" y="0"/>
          <a:ext cx="0" cy="0"/>
          <a:chOff x="0" y="0"/>
          <a:chExt cx="0" cy="0"/>
        </a:xfrm>
      </p:grpSpPr>
      <p:sp>
        <p:nvSpPr>
          <p:cNvPr id="216" name="Google Shape;216;h1b6171f8b48e2504_0_0"/>
          <p:cNvSpPr txBox="1"/>
          <p:nvPr/>
        </p:nvSpPr>
        <p:spPr>
          <a:xfrm>
            <a:off x="457350" y="213875"/>
            <a:ext cx="112773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Modelo de Datos</a:t>
            </a:r>
            <a:endParaRPr b="0" i="0" sz="1400" u="none" cap="none" strike="noStrike">
              <a:solidFill>
                <a:srgbClr val="000000"/>
              </a:solidFill>
              <a:latin typeface="Arial"/>
              <a:ea typeface="Arial"/>
              <a:cs typeface="Arial"/>
              <a:sym typeface="Arial"/>
            </a:endParaRPr>
          </a:p>
        </p:txBody>
      </p:sp>
      <p:sp>
        <p:nvSpPr>
          <p:cNvPr id="217" name="Google Shape;217;h1b6171f8b48e2504_0_0"/>
          <p:cNvSpPr txBox="1"/>
          <p:nvPr>
            <p:ph idx="12" type="sldNum"/>
          </p:nvPr>
        </p:nvSpPr>
        <p:spPr>
          <a:xfrm>
            <a:off x="9600900" y="6309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18" name="Google Shape;218;h1b6171f8b48e2504_0_0" title="Relational_2.png"/>
          <p:cNvPicPr preferRelativeResize="0"/>
          <p:nvPr/>
        </p:nvPicPr>
        <p:blipFill rotWithShape="1">
          <a:blip r:embed="rId3">
            <a:alphaModFix/>
          </a:blip>
          <a:srcRect b="0" l="0" r="0" t="0"/>
          <a:stretch/>
        </p:blipFill>
        <p:spPr>
          <a:xfrm>
            <a:off x="1849950" y="644975"/>
            <a:ext cx="8848338" cy="59082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3" name="Shape 223"/>
        <p:cNvGrpSpPr/>
        <p:nvPr/>
      </p:nvGrpSpPr>
      <p:grpSpPr>
        <a:xfrm>
          <a:off x="0" y="0"/>
          <a:ext cx="0" cy="0"/>
          <a:chOff x="0" y="0"/>
          <a:chExt cx="0" cy="0"/>
        </a:xfrm>
      </p:grpSpPr>
      <p:sp>
        <p:nvSpPr>
          <p:cNvPr id="224" name="Google Shape;224;p11"/>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Metodología Ágil: Adaptación del Marco Scrum en Monsite</a:t>
            </a:r>
            <a:endParaRPr b="0" i="0" sz="1400" u="none" cap="none" strike="noStrike">
              <a:solidFill>
                <a:srgbClr val="000000"/>
              </a:solidFill>
              <a:latin typeface="Arial"/>
              <a:ea typeface="Arial"/>
              <a:cs typeface="Arial"/>
              <a:sym typeface="Arial"/>
            </a:endParaRPr>
          </a:p>
        </p:txBody>
      </p:sp>
      <p:sp>
        <p:nvSpPr>
          <p:cNvPr id="225" name="Google Shape;225;p11"/>
          <p:cNvSpPr/>
          <p:nvPr/>
        </p:nvSpPr>
        <p:spPr>
          <a:xfrm>
            <a:off x="4480560" y="1921555"/>
            <a:ext cx="3200400" cy="3200400"/>
          </a:xfrm>
          <a:prstGeom prst="ellipse">
            <a:avLst/>
          </a:prstGeom>
          <a:solidFill>
            <a:srgbClr val="1E293B"/>
          </a:solidFill>
          <a:ln cap="flat" cmpd="sng" w="3810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1005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1"/>
          <p:cNvSpPr/>
          <p:nvPr/>
        </p:nvSpPr>
        <p:spPr>
          <a:xfrm>
            <a:off x="731520" y="1280160"/>
            <a:ext cx="3291840" cy="1280160"/>
          </a:xfrm>
          <a:prstGeom prst="roundRect">
            <a:avLst>
              <a:gd fmla="val 16667" name="adj"/>
            </a:avLst>
          </a:prstGeom>
          <a:solidFill>
            <a:srgbClr val="1E293B"/>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1. Product Backlog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Registro priorizado de las 47 historias de usuario con puntajes de esfuerzo estimadas.</a:t>
            </a:r>
            <a:endParaRPr b="0" i="0" sz="1400" u="none" cap="none" strike="noStrike">
              <a:solidFill>
                <a:srgbClr val="000000"/>
              </a:solidFill>
              <a:latin typeface="Arial"/>
              <a:ea typeface="Arial"/>
              <a:cs typeface="Arial"/>
              <a:sym typeface="Arial"/>
            </a:endParaRPr>
          </a:p>
        </p:txBody>
      </p:sp>
      <p:sp>
        <p:nvSpPr>
          <p:cNvPr id="227" name="Google Shape;227;p11"/>
          <p:cNvSpPr/>
          <p:nvPr/>
        </p:nvSpPr>
        <p:spPr>
          <a:xfrm>
            <a:off x="8138160" y="1280160"/>
            <a:ext cx="329184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2. Sprint Planning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Reunión de planificación al inicio de cada sprint de 3 semanas para seleccionar entregables.</a:t>
            </a:r>
            <a:endParaRPr b="0" i="0" sz="1400" u="none" cap="none" strike="noStrike">
              <a:solidFill>
                <a:srgbClr val="000000"/>
              </a:solidFill>
              <a:latin typeface="Arial"/>
              <a:ea typeface="Arial"/>
              <a:cs typeface="Arial"/>
              <a:sym typeface="Arial"/>
            </a:endParaRPr>
          </a:p>
        </p:txBody>
      </p:sp>
      <p:sp>
        <p:nvSpPr>
          <p:cNvPr id="228" name="Google Shape;228;p11"/>
          <p:cNvSpPr/>
          <p:nvPr/>
        </p:nvSpPr>
        <p:spPr>
          <a:xfrm>
            <a:off x="731520" y="3749039"/>
            <a:ext cx="329184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3. Daily Scrum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Sesiones breves diarias de sincronización para coordinar frontend, backend e IA y levantar obstáculos.</a:t>
            </a:r>
            <a:endParaRPr b="0" i="0" sz="1400" u="none" cap="none" strike="noStrike">
              <a:solidFill>
                <a:srgbClr val="000000"/>
              </a:solidFill>
              <a:latin typeface="Arial"/>
              <a:ea typeface="Arial"/>
              <a:cs typeface="Arial"/>
              <a:sym typeface="Arial"/>
            </a:endParaRPr>
          </a:p>
        </p:txBody>
      </p:sp>
      <p:sp>
        <p:nvSpPr>
          <p:cNvPr id="229" name="Google Shape;229;p11"/>
          <p:cNvSpPr/>
          <p:nvPr/>
        </p:nvSpPr>
        <p:spPr>
          <a:xfrm>
            <a:off x="8138160" y="3749039"/>
            <a:ext cx="3291840" cy="1280160"/>
          </a:xfrm>
          <a:prstGeom prst="roundRect">
            <a:avLst>
              <a:gd fmla="val 16667" name="adj"/>
            </a:avLst>
          </a:prstGeom>
          <a:solidFill>
            <a:srgbClr val="1E293B"/>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4. Sprint Review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Demostración de los incrementos funcionales desarrollados al cliente de Monsite para validar UX.</a:t>
            </a:r>
            <a:endParaRPr b="0" i="0" sz="1400" u="none" cap="none" strike="noStrike">
              <a:solidFill>
                <a:srgbClr val="000000"/>
              </a:solidFill>
              <a:latin typeface="Arial"/>
              <a:ea typeface="Arial"/>
              <a:cs typeface="Arial"/>
              <a:sym typeface="Arial"/>
            </a:endParaRPr>
          </a:p>
        </p:txBody>
      </p:sp>
      <p:sp>
        <p:nvSpPr>
          <p:cNvPr id="230" name="Google Shape;230;p11"/>
          <p:cNvSpPr/>
          <p:nvPr/>
        </p:nvSpPr>
        <p:spPr>
          <a:xfrm>
            <a:off x="4480560" y="5303520"/>
            <a:ext cx="411480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5. Retrospective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Reuniones de retrospectiva al cierre de cada sprint para acordar mejoras del proceso interno.</a:t>
            </a:r>
            <a:endParaRPr b="0" i="0" sz="1400" u="none" cap="none" strike="noStrike">
              <a:solidFill>
                <a:srgbClr val="000000"/>
              </a:solidFill>
              <a:latin typeface="Arial"/>
              <a:ea typeface="Arial"/>
              <a:cs typeface="Arial"/>
              <a:sym typeface="Arial"/>
            </a:endParaRPr>
          </a:p>
        </p:txBody>
      </p:sp>
      <p:sp>
        <p:nvSpPr>
          <p:cNvPr id="231" name="Google Shape;231;p11"/>
          <p:cNvSpPr txBox="1"/>
          <p:nvPr>
            <p:ph idx="12" type="sldNum"/>
          </p:nvPr>
        </p:nvSpPr>
        <p:spPr>
          <a:xfrm>
            <a:off x="9600900" y="62179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32" name="Google Shape;232;p11"/>
          <p:cNvSpPr txBox="1"/>
          <p:nvPr/>
        </p:nvSpPr>
        <p:spPr>
          <a:xfrm>
            <a:off x="5178800" y="2977825"/>
            <a:ext cx="1803900" cy="172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rgbClr val="14B8A6"/>
                </a:solidFill>
                <a:latin typeface="Georgia"/>
                <a:ea typeface="Georgia"/>
                <a:cs typeface="Georgia"/>
                <a:sym typeface="Georgia"/>
              </a:rPr>
              <a:t>SCRUM</a:t>
            </a:r>
            <a:br>
              <a:rPr b="1" i="0" lang="en-US" sz="1600" u="none" cap="none" strike="noStrike">
                <a:solidFill>
                  <a:srgbClr val="14B8A6"/>
                </a:solidFill>
                <a:latin typeface="Georgia"/>
                <a:ea typeface="Georgia"/>
                <a:cs typeface="Georgia"/>
                <a:sym typeface="Georgia"/>
              </a:rPr>
            </a:br>
            <a:r>
              <a:rPr b="1" i="0" lang="en-US" sz="1600" u="none" cap="none" strike="noStrike">
                <a:solidFill>
                  <a:srgbClr val="14B8A6"/>
                </a:solidFill>
                <a:latin typeface="Georgia"/>
                <a:ea typeface="Georgia"/>
                <a:cs typeface="Georgia"/>
                <a:sym typeface="Georgia"/>
              </a:rPr>
              <a:t>Mediante Sprints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37" name="Shape 237"/>
        <p:cNvGrpSpPr/>
        <p:nvPr/>
      </p:nvGrpSpPr>
      <p:grpSpPr>
        <a:xfrm>
          <a:off x="0" y="0"/>
          <a:ext cx="0" cy="0"/>
          <a:chOff x="0" y="0"/>
          <a:chExt cx="0" cy="0"/>
        </a:xfrm>
      </p:grpSpPr>
      <p:sp>
        <p:nvSpPr>
          <p:cNvPr id="238" name="Google Shape;238;p12"/>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Equipo de Trabajo: Roles Metodológicos y Responsabilidades</a:t>
            </a:r>
            <a:endParaRPr b="0" i="0" sz="1400" u="none" cap="none" strike="noStrike">
              <a:solidFill>
                <a:srgbClr val="000000"/>
              </a:solidFill>
              <a:latin typeface="Arial"/>
              <a:ea typeface="Arial"/>
              <a:cs typeface="Arial"/>
              <a:sym typeface="Arial"/>
            </a:endParaRPr>
          </a:p>
        </p:txBody>
      </p:sp>
      <p:sp>
        <p:nvSpPr>
          <p:cNvPr id="239" name="Google Shape;239;p12"/>
          <p:cNvSpPr/>
          <p:nvPr/>
        </p:nvSpPr>
        <p:spPr>
          <a:xfrm>
            <a:off x="45720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560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Benjamín Stavrakopulos</a:t>
            </a:r>
            <a:endParaRPr b="1" i="0" sz="1300" u="none" cap="none" strike="noStrike">
              <a:solidFill>
                <a:srgbClr val="1E293B"/>
              </a:solidFill>
              <a:latin typeface="Georgia"/>
              <a:ea typeface="Georgia"/>
              <a:cs typeface="Georgia"/>
              <a:sym typeface="Georgia"/>
            </a:endParaRPr>
          </a:p>
          <a:p>
            <a:pPr indent="0" lvl="0" marL="0" marR="0" rtl="0" algn="ctr">
              <a:lnSpc>
                <a:spcPct val="100000"/>
              </a:lnSpc>
              <a:spcBef>
                <a:spcPts val="200"/>
              </a:spcBef>
              <a:spcAft>
                <a:spcPts val="0"/>
              </a:spcAft>
              <a:buClr>
                <a:srgbClr val="000000"/>
              </a:buClr>
              <a:buSzPts val="900"/>
              <a:buFont typeface="Arial"/>
              <a:buNone/>
            </a:pPr>
            <a:r>
              <a:rPr b="1" i="0" lang="en-US" sz="900" u="none" cap="none" strike="noStrike">
                <a:solidFill>
                  <a:srgbClr val="14B8A6"/>
                </a:solidFill>
                <a:latin typeface="Arial"/>
                <a:ea typeface="Arial"/>
                <a:cs typeface="Arial"/>
                <a:sym typeface="Arial"/>
              </a:rPr>
              <a:t>TEAM DEVELOPER</a:t>
            </a:r>
            <a:br>
              <a:rPr b="1" i="0" lang="en-US" sz="900" u="none" cap="none" strike="noStrike">
                <a:solidFill>
                  <a:srgbClr val="14B8A6"/>
                </a:solidFill>
                <a:latin typeface="Arial"/>
                <a:ea typeface="Arial"/>
                <a:cs typeface="Arial"/>
                <a:sym typeface="Arial"/>
              </a:rPr>
            </a:br>
            <a:r>
              <a:rPr b="1" i="0" lang="en-US" sz="900" u="none" cap="none" strike="noStrike">
                <a:solidFill>
                  <a:srgbClr val="14B8A6"/>
                </a:solidFill>
                <a:latin typeface="Arial"/>
                <a:ea typeface="Arial"/>
                <a:cs typeface="Arial"/>
                <a:sym typeface="Arial"/>
              </a:rPr>
              <a:t>Organización, Backend e Integración</a:t>
            </a:r>
            <a:endParaRPr b="1" i="0" sz="900" u="none" cap="none" strike="noStrike">
              <a:solidFill>
                <a:srgbClr val="14B8A6"/>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Priorización del backlog del negocio.</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Codificación del backend en Express.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Diseño del esquema Firestore y almacenamiento de datos.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Integración de webhooks y Checkout Pro de Mercado Pago.</a:t>
            </a:r>
            <a:endParaRPr b="0" i="0" sz="1400" u="none" cap="none" strike="noStrike">
              <a:solidFill>
                <a:srgbClr val="000000"/>
              </a:solidFill>
              <a:latin typeface="Arial"/>
              <a:ea typeface="Arial"/>
              <a:cs typeface="Arial"/>
              <a:sym typeface="Arial"/>
            </a:endParaRPr>
          </a:p>
        </p:txBody>
      </p:sp>
      <p:sp>
        <p:nvSpPr>
          <p:cNvPr id="240" name="Google Shape;240;p12"/>
          <p:cNvSpPr/>
          <p:nvPr/>
        </p:nvSpPr>
        <p:spPr>
          <a:xfrm>
            <a:off x="141732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BS</a:t>
            </a:r>
            <a:endParaRPr b="0" i="0" sz="1400" u="none" cap="none" strike="noStrike">
              <a:solidFill>
                <a:srgbClr val="000000"/>
              </a:solidFill>
              <a:latin typeface="Arial"/>
              <a:ea typeface="Arial"/>
              <a:cs typeface="Arial"/>
              <a:sym typeface="Arial"/>
            </a:endParaRPr>
          </a:p>
        </p:txBody>
      </p:sp>
      <p:sp>
        <p:nvSpPr>
          <p:cNvPr id="241" name="Google Shape;241;p12"/>
          <p:cNvSpPr/>
          <p:nvPr/>
        </p:nvSpPr>
        <p:spPr>
          <a:xfrm>
            <a:off x="329184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560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Bastián Lazo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00"/>
              <a:buFont typeface="Arial"/>
              <a:buNone/>
            </a:pPr>
            <a:r>
              <a:rPr b="1" i="0" lang="en-US" sz="900" u="none" cap="none" strike="noStrike">
                <a:solidFill>
                  <a:srgbClr val="14B8A6"/>
                </a:solidFill>
                <a:latin typeface="Arial"/>
                <a:ea typeface="Arial"/>
                <a:cs typeface="Arial"/>
                <a:sym typeface="Arial"/>
              </a:rPr>
              <a:t>TEAM DEVELOPER</a:t>
            </a:r>
            <a:br>
              <a:rPr b="1" i="0" lang="en-US" sz="900" u="none" cap="none" strike="noStrike">
                <a:solidFill>
                  <a:srgbClr val="14B8A6"/>
                </a:solidFill>
                <a:latin typeface="Arial"/>
                <a:ea typeface="Arial"/>
                <a:cs typeface="Arial"/>
                <a:sym typeface="Arial"/>
              </a:rPr>
            </a:br>
            <a:r>
              <a:rPr b="1" i="0" lang="en-US" sz="900" u="none" cap="none" strike="noStrike">
                <a:solidFill>
                  <a:srgbClr val="14B8A6"/>
                </a:solidFill>
                <a:latin typeface="Arial"/>
                <a:ea typeface="Arial"/>
                <a:cs typeface="Arial"/>
                <a:sym typeface="Arial"/>
              </a:rPr>
              <a:t>Desarrollo e Inteligencia Artificial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Preparación y preprocesamiento de imágenes capilares.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Entrenamiento y ajuste de curvas del modelo ResNet50.</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Programación de la API de inferencia en FastAPI.</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Apoyo en código general.</a:t>
            </a:r>
            <a:endParaRPr b="0" i="0" sz="1400" u="none" cap="none" strike="noStrike">
              <a:solidFill>
                <a:srgbClr val="000000"/>
              </a:solidFill>
              <a:latin typeface="Arial"/>
              <a:ea typeface="Arial"/>
              <a:cs typeface="Arial"/>
              <a:sym typeface="Arial"/>
            </a:endParaRPr>
          </a:p>
        </p:txBody>
      </p:sp>
      <p:sp>
        <p:nvSpPr>
          <p:cNvPr id="242" name="Google Shape;242;p12"/>
          <p:cNvSpPr/>
          <p:nvPr/>
        </p:nvSpPr>
        <p:spPr>
          <a:xfrm>
            <a:off x="425196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BL</a:t>
            </a:r>
            <a:endParaRPr b="0" i="0" sz="1400" u="none" cap="none" strike="noStrike">
              <a:solidFill>
                <a:srgbClr val="000000"/>
              </a:solidFill>
              <a:latin typeface="Arial"/>
              <a:ea typeface="Arial"/>
              <a:cs typeface="Arial"/>
              <a:sym typeface="Arial"/>
            </a:endParaRPr>
          </a:p>
        </p:txBody>
      </p:sp>
      <p:sp>
        <p:nvSpPr>
          <p:cNvPr id="243" name="Google Shape;243;p12"/>
          <p:cNvSpPr/>
          <p:nvPr/>
        </p:nvSpPr>
        <p:spPr>
          <a:xfrm>
            <a:off x="612648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560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Francisca Guzmán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00"/>
              <a:buFont typeface="Arial"/>
              <a:buNone/>
            </a:pPr>
            <a:r>
              <a:rPr b="1" i="0" lang="en-US" sz="900" u="none" cap="none" strike="noStrike">
                <a:solidFill>
                  <a:srgbClr val="14B8A6"/>
                </a:solidFill>
                <a:latin typeface="Arial"/>
                <a:ea typeface="Arial"/>
                <a:cs typeface="Arial"/>
                <a:sym typeface="Arial"/>
              </a:rPr>
              <a:t>SCRUM MASTER / TEAM DEVELOPER</a:t>
            </a:r>
            <a:br>
              <a:rPr b="1" i="0" lang="en-US" sz="900" u="none" cap="none" strike="noStrike">
                <a:solidFill>
                  <a:srgbClr val="14B8A6"/>
                </a:solidFill>
                <a:latin typeface="Arial"/>
                <a:ea typeface="Arial"/>
                <a:cs typeface="Arial"/>
                <a:sym typeface="Arial"/>
              </a:rPr>
            </a:br>
            <a:r>
              <a:rPr b="1" i="0" lang="en-US" sz="900" u="none" cap="none" strike="noStrike">
                <a:solidFill>
                  <a:srgbClr val="14B8A6"/>
                </a:solidFill>
                <a:latin typeface="Arial"/>
                <a:ea typeface="Arial"/>
                <a:cs typeface="Arial"/>
                <a:sym typeface="Arial"/>
              </a:rPr>
              <a:t>Diseño, UX/UI y Documentación</a:t>
            </a:r>
            <a:endParaRPr b="1" i="0" sz="900" u="none" cap="none" strike="noStrike">
              <a:solidFill>
                <a:srgbClr val="14B8A6"/>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Facilitadora de rituales y control ágil.</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Creación de prototipos del MVP en Figma.</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Desarrollo de maquetación responsiva en Frontend.</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Control documental y registro de evidencias de avance.</a:t>
            </a:r>
            <a:endParaRPr b="0" i="0" sz="1400" u="none" cap="none" strike="noStrike">
              <a:solidFill>
                <a:srgbClr val="000000"/>
              </a:solidFill>
              <a:latin typeface="Arial"/>
              <a:ea typeface="Arial"/>
              <a:cs typeface="Arial"/>
              <a:sym typeface="Arial"/>
            </a:endParaRPr>
          </a:p>
        </p:txBody>
      </p:sp>
      <p:sp>
        <p:nvSpPr>
          <p:cNvPr id="244" name="Google Shape;244;p12"/>
          <p:cNvSpPr/>
          <p:nvPr/>
        </p:nvSpPr>
        <p:spPr>
          <a:xfrm>
            <a:off x="708660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FG</a:t>
            </a:r>
            <a:endParaRPr b="0" i="0" sz="1400" u="none" cap="none" strike="noStrike">
              <a:solidFill>
                <a:srgbClr val="000000"/>
              </a:solidFill>
              <a:latin typeface="Arial"/>
              <a:ea typeface="Arial"/>
              <a:cs typeface="Arial"/>
              <a:sym typeface="Arial"/>
            </a:endParaRPr>
          </a:p>
        </p:txBody>
      </p:sp>
      <p:sp>
        <p:nvSpPr>
          <p:cNvPr id="245" name="Google Shape;245;p12"/>
          <p:cNvSpPr/>
          <p:nvPr/>
        </p:nvSpPr>
        <p:spPr>
          <a:xfrm>
            <a:off x="896112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560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Pablo Briones</a:t>
            </a:r>
            <a:endParaRPr b="1" i="0" sz="1300" u="none" cap="none" strike="noStrike">
              <a:solidFill>
                <a:srgbClr val="1E293B"/>
              </a:solidFill>
              <a:latin typeface="Georgia"/>
              <a:ea typeface="Georgia"/>
              <a:cs typeface="Georgia"/>
              <a:sym typeface="Georgia"/>
            </a:endParaRPr>
          </a:p>
          <a:p>
            <a:pPr indent="0" lvl="0" marL="0" marR="0" rtl="0" algn="ctr">
              <a:lnSpc>
                <a:spcPct val="100000"/>
              </a:lnSpc>
              <a:spcBef>
                <a:spcPts val="200"/>
              </a:spcBef>
              <a:spcAft>
                <a:spcPts val="0"/>
              </a:spcAft>
              <a:buClr>
                <a:srgbClr val="000000"/>
              </a:buClr>
              <a:buSzPts val="900"/>
              <a:buFont typeface="Arial"/>
              <a:buNone/>
            </a:pPr>
            <a:r>
              <a:rPr b="1" i="0" lang="en-US" sz="900" u="none" cap="none" strike="noStrike">
                <a:solidFill>
                  <a:srgbClr val="C2410C"/>
                </a:solidFill>
                <a:latin typeface="Arial"/>
                <a:ea typeface="Arial"/>
                <a:cs typeface="Arial"/>
                <a:sym typeface="Arial"/>
              </a:rPr>
              <a:t>PRODUCT OWNER</a:t>
            </a:r>
            <a:br>
              <a:rPr b="1" i="0" lang="en-US" sz="900" u="none" cap="none" strike="noStrike">
                <a:solidFill>
                  <a:srgbClr val="C2410C"/>
                </a:solidFill>
                <a:latin typeface="Arial"/>
                <a:ea typeface="Arial"/>
                <a:cs typeface="Arial"/>
                <a:sym typeface="Arial"/>
              </a:rPr>
            </a:br>
            <a:r>
              <a:rPr b="1" i="0" lang="en-US" sz="900" u="none" cap="none" strike="noStrike">
                <a:solidFill>
                  <a:srgbClr val="C2410C"/>
                </a:solidFill>
                <a:latin typeface="Arial"/>
                <a:ea typeface="Arial"/>
                <a:cs typeface="Arial"/>
                <a:sym typeface="Arial"/>
              </a:rPr>
              <a:t>Contraparte Comercial del Salón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Detalle de reglas operativas comerciales.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Validación de wireframes y prototipos.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Provisión de catálogo de marcas y datos de stock.</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Recepción y feedback en Sprint Reviews.</a:t>
            </a:r>
            <a:endParaRPr b="0" i="0" sz="1400" u="none" cap="none" strike="noStrike">
              <a:solidFill>
                <a:srgbClr val="000000"/>
              </a:solidFill>
              <a:latin typeface="Arial"/>
              <a:ea typeface="Arial"/>
              <a:cs typeface="Arial"/>
              <a:sym typeface="Arial"/>
            </a:endParaRPr>
          </a:p>
        </p:txBody>
      </p:sp>
      <p:sp>
        <p:nvSpPr>
          <p:cNvPr id="246" name="Google Shape;246;p12"/>
          <p:cNvSpPr/>
          <p:nvPr/>
        </p:nvSpPr>
        <p:spPr>
          <a:xfrm>
            <a:off x="9921240" y="1554480"/>
            <a:ext cx="640080" cy="64008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CM</a:t>
            </a:r>
            <a:endParaRPr b="0" i="0" sz="1400" u="none" cap="none" strike="noStrike">
              <a:solidFill>
                <a:srgbClr val="000000"/>
              </a:solidFill>
              <a:latin typeface="Arial"/>
              <a:ea typeface="Arial"/>
              <a:cs typeface="Arial"/>
              <a:sym typeface="Arial"/>
            </a:endParaRPr>
          </a:p>
        </p:txBody>
      </p:sp>
      <p:sp>
        <p:nvSpPr>
          <p:cNvPr id="247" name="Google Shape;247;p12"/>
          <p:cNvSpPr txBox="1"/>
          <p:nvPr>
            <p:ph idx="12" type="sldNum"/>
          </p:nvPr>
        </p:nvSpPr>
        <p:spPr>
          <a:xfrm>
            <a:off x="9600900" y="62941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51" name="Shape 251"/>
        <p:cNvGrpSpPr/>
        <p:nvPr/>
      </p:nvGrpSpPr>
      <p:grpSpPr>
        <a:xfrm>
          <a:off x="0" y="0"/>
          <a:ext cx="0" cy="0"/>
          <a:chOff x="0" y="0"/>
          <a:chExt cx="0" cy="0"/>
        </a:xfrm>
      </p:grpSpPr>
      <p:sp>
        <p:nvSpPr>
          <p:cNvPr id="252" name="Google Shape;252;h2a029743ffb0fa9e_1_0"/>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53" name="Google Shape;253;h2a029743ffb0fa9e_1_0"/>
          <p:cNvSpPr txBox="1"/>
          <p:nvPr/>
        </p:nvSpPr>
        <p:spPr>
          <a:xfrm>
            <a:off x="219888" y="0"/>
            <a:ext cx="11595000" cy="1092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E293B"/>
                </a:solidFill>
                <a:latin typeface="Georgia"/>
                <a:ea typeface="Georgia"/>
                <a:cs typeface="Georgia"/>
                <a:sym typeface="Georgia"/>
              </a:rPr>
              <a:t>Product Backlog</a:t>
            </a:r>
            <a:endParaRPr b="1" i="0" sz="3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254" name="Google Shape;254;h2a029743ffb0fa9e_1_0"/>
          <p:cNvGraphicFramePr/>
          <p:nvPr/>
        </p:nvGraphicFramePr>
        <p:xfrm>
          <a:off x="298500" y="518825"/>
          <a:ext cx="3000000" cy="3000000"/>
        </p:xfrm>
        <a:graphic>
          <a:graphicData uri="http://schemas.openxmlformats.org/drawingml/2006/table">
            <a:tbl>
              <a:tblPr>
                <a:noFill/>
                <a:tableStyleId>{6F006452-1367-4105-9177-328A18D45F04}</a:tableStyleId>
              </a:tblPr>
              <a:tblGrid>
                <a:gridCol w="599800"/>
                <a:gridCol w="3515350"/>
                <a:gridCol w="875650"/>
                <a:gridCol w="774425"/>
                <a:gridCol w="852250"/>
                <a:gridCol w="752150"/>
                <a:gridCol w="4068150"/>
              </a:tblGrid>
              <a:tr h="199900">
                <a:tc gridSpan="7">
                  <a:txBody>
                    <a:bodyPr/>
                    <a:lstStyle/>
                    <a:p>
                      <a:pPr indent="0" lvl="0" marL="0" marR="0" rtl="0" algn="l">
                        <a:lnSpc>
                          <a:spcPct val="115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Sprint 1</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hMerge="1"/>
                <a:tc hMerge="1"/>
                <a:tc hMerge="1"/>
                <a:tc hMerge="1"/>
                <a:tc hMerge="1"/>
              </a:tr>
              <a:tr h="676150">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E02-H06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Quiero ver el catálogo de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Calibri"/>
                          <a:ea typeface="Calibri"/>
                          <a:cs typeface="Calibri"/>
                          <a:sym typeface="Calibri"/>
                        </a:rPr>
                        <a:t>Completada</a:t>
                      </a:r>
                      <a:endParaRPr sz="11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Alta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Sprint 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existir una vista de catálogo.</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Los productos deben mostrarse con nombre, imagen y precio.</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El catálogo debe cargar productos de forma dinámica.</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2600">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E02-H09</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Quiero ver el detalle completo de un producto.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Calibri"/>
                          <a:ea typeface="Calibri"/>
                          <a:cs typeface="Calibri"/>
                          <a:sym typeface="Calibri"/>
                        </a:rPr>
                        <a:t>Completada</a:t>
                      </a:r>
                      <a:endParaRPr sz="11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Alta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Sprint 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abrirse un modal o vista de detalle.</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mostrarse nombre, precio, categoría y descripción.</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Si existen, deben mostrarse ingredientes y modo de uso.</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98275">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E02-H07</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Quiero buscar productos por nombre o categoría.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Calibri"/>
                          <a:ea typeface="Calibri"/>
                          <a:cs typeface="Calibri"/>
                          <a:sym typeface="Calibri"/>
                        </a:rPr>
                        <a:t>Completada</a:t>
                      </a:r>
                      <a:endParaRPr sz="11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Alta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Sprint 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existir un buscador visible.</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La búsqueda debe filtrar resultados en pantalla.</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El sistema debe mostrar coincidencias relevantes.</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6700">
                <a:tc gridSpan="7">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chemeClr val="dk1"/>
                          </a:solidFill>
                          <a:latin typeface="Calibri"/>
                          <a:ea typeface="Calibri"/>
                          <a:cs typeface="Calibri"/>
                          <a:sym typeface="Calibri"/>
                        </a:rPr>
                        <a:t>Sprint 2</a:t>
                      </a:r>
                      <a:endParaRPr b="1" sz="10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hMerge="1"/>
                <a:tc hMerge="1"/>
                <a:tc hMerge="1"/>
                <a:tc hMerge="1"/>
                <a:tc hMerge="1"/>
              </a:tr>
              <a:tr h="571500">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E01-H03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administrador quiero acceder a un panel exclusivo.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Calibri"/>
                          <a:ea typeface="Calibri"/>
                          <a:cs typeface="Calibri"/>
                          <a:sym typeface="Calibri"/>
                        </a:rPr>
                        <a:t>Completada</a:t>
                      </a:r>
                      <a:endParaRPr sz="11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Alta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Sprint 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existir un acceso diferenciado para administradores.</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El sistema debe redirigir al panel administrativo.</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Un usuario normal no debe ver funciones administrativas.</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98225">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E01-H04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bodeguero quiero acceder a un panel limitado.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Calibri"/>
                          <a:ea typeface="Calibri"/>
                          <a:cs typeface="Calibri"/>
                          <a:sym typeface="Calibri"/>
                        </a:rPr>
                        <a:t>Completada</a:t>
                      </a:r>
                      <a:endParaRPr sz="11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Alta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Sprint 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existir un acceso diferenciado para bodegueros.</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El sistema debe redirigir al panel de bodeguero.</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El bodeguero no debe ver funciones de administración completa.</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1500">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E03-H10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usuario quiero visualizar mi carrito en un panel lateral.</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Calibri"/>
                          <a:ea typeface="Calibri"/>
                          <a:cs typeface="Calibri"/>
                          <a:sym typeface="Calibri"/>
                        </a:rPr>
                        <a:t>Completada</a:t>
                      </a:r>
                      <a:endParaRPr sz="11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Alta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Sprint 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El carrito debe abrirse y cerrarse desde la interfaz.</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mostrar productos, cantidades y total.</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tener un fondo superpuesto para enfocarlo.</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6700">
                <a:tc gridSpan="7">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chemeClr val="dk1"/>
                          </a:solidFill>
                          <a:latin typeface="Calibri"/>
                          <a:ea typeface="Calibri"/>
                          <a:cs typeface="Calibri"/>
                          <a:sym typeface="Calibri"/>
                        </a:rPr>
                        <a:t>Sprint 3</a:t>
                      </a:r>
                      <a:endParaRPr b="1" sz="10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hMerge="1"/>
                <a:tc hMerge="1"/>
                <a:tc hMerge="1"/>
                <a:tc hMerge="1"/>
                <a:tc hMerge="1"/>
              </a:tr>
              <a:tr h="765825">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E08-H26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Quiero gestionar los productos del catálogo.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Calibri"/>
                          <a:ea typeface="Calibri"/>
                          <a:cs typeface="Calibri"/>
                          <a:sym typeface="Calibri"/>
                        </a:rPr>
                        <a:t>Completada</a:t>
                      </a:r>
                      <a:endParaRPr sz="11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Alta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Sprint 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existir una opción para crear nuevos productos en el catálogo.</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ser posible editar la información de los productos existentes.</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existir una opción para eliminar productos del catálogo.</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La tabla de productos debe reflejar la actualización.</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6125">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E08-H28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Quiero gestionar categorías de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Calibri"/>
                          <a:ea typeface="Calibri"/>
                          <a:cs typeface="Calibri"/>
                          <a:sym typeface="Calibri"/>
                        </a:rPr>
                        <a:t>Completada</a:t>
                      </a:r>
                      <a:endParaRPr sz="11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Alta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Sprint 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permitirse agregar y eliminar categorías personalizadas.</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Las categorías nuevas deben poder usarse en productos.</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El sistema debe reflejar los cambios en filtros.</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525">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E08-H27</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Quiero gestionar marcas personalizadas.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Calibri"/>
                          <a:ea typeface="Calibri"/>
                          <a:cs typeface="Calibri"/>
                          <a:sym typeface="Calibri"/>
                        </a:rPr>
                        <a:t>Completada</a:t>
                      </a:r>
                      <a:endParaRPr sz="1100" u="none" cap="none" strike="noStrike">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Alta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Sprint 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existir un módulo para agregar y eliminar marcas.</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Debe permitirse subir logo de marca.</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n-US" sz="1000" u="none" cap="none" strike="noStrike">
                          <a:latin typeface="Calibri"/>
                          <a:ea typeface="Calibri"/>
                          <a:cs typeface="Calibri"/>
                          <a:sym typeface="Calibri"/>
                        </a:rPr>
                        <a:t>Las marcas deben quedar disponibles en filtros y listas.</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h4f042c98fa66798a_1_7"/>
          <p:cNvSpPr txBox="1"/>
          <p:nvPr>
            <p:ph idx="12" type="sldNum"/>
          </p:nvPr>
        </p:nvSpPr>
        <p:spPr>
          <a:xfrm>
            <a:off x="9970300" y="63920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60" name="Google Shape;260;h4f042c98fa66798a_1_7"/>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1: Sprint Backlog</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261" name="Google Shape;261;h4f042c98fa66798a_1_7"/>
          <p:cNvGraphicFramePr/>
          <p:nvPr/>
        </p:nvGraphicFramePr>
        <p:xfrm>
          <a:off x="592900" y="961950"/>
          <a:ext cx="3000000" cy="3000000"/>
        </p:xfrm>
        <a:graphic>
          <a:graphicData uri="http://schemas.openxmlformats.org/drawingml/2006/table">
            <a:tbl>
              <a:tblPr>
                <a:noFill/>
                <a:tableStyleId>{6F006452-1367-4105-9177-328A18D45F04}</a:tableStyleId>
              </a:tblPr>
              <a:tblGrid>
                <a:gridCol w="2523275"/>
                <a:gridCol w="889325"/>
                <a:gridCol w="2426675"/>
                <a:gridCol w="1863700"/>
                <a:gridCol w="1062650"/>
                <a:gridCol w="1079800"/>
                <a:gridCol w="1020275"/>
              </a:tblGrid>
              <a:tr h="164500">
                <a:tc gridSpan="7">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Sprint 1</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hMerge="1"/>
                <a:tc hMerge="1"/>
                <a:tc hMerge="1"/>
                <a:tc hMerge="1"/>
                <a:tc hMerge="1"/>
              </a:tr>
              <a:tr h="164500">
                <a:tc>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Historia de Usuario(7)</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Tarea</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Tarea técnica</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Responsable</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Estimación en Horas</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Puntaje</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Estado</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278400">
                <a:tc rowSpan="4">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usuario quiero ver el catálogo de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H06-T1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base de datos de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512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H06-T2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vista del catálogo.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H06-T3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productos con el Front-End.</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10</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H06-T4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visualización.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rowSpan="4">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usuario quiero ver el detalle completo de un producto.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H09-T1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vista de detalle del producto.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H09-T2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consulta de información del producto.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H09-T3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datos e imágenes del producto.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H09-T4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visualización.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rowSpan="4">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usuario quiero buscar productos por nombre o categoría.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H07-T1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buscador de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H07-T2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búsqueda por nombre y categoría.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H07-T3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búsqueda con la base de datos.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H07-T4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búsqueda.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5125">
                <a:tc rowSpan="4">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usuario quiero filtrar productos por marca y categoría.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H08-T1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filtros de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H08-T2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filtros por marca y categoría.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84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H08-T3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filtros con la base de datos.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512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H08-T4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filtrado.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Completado</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65" name="Shape 265"/>
        <p:cNvGrpSpPr/>
        <p:nvPr/>
      </p:nvGrpSpPr>
      <p:grpSpPr>
        <a:xfrm>
          <a:off x="0" y="0"/>
          <a:ext cx="0" cy="0"/>
          <a:chOff x="0" y="0"/>
          <a:chExt cx="0" cy="0"/>
        </a:xfrm>
      </p:grpSpPr>
      <p:sp>
        <p:nvSpPr>
          <p:cNvPr id="266" name="Google Shape;266;h4f042c98fa66798a_1_18"/>
          <p:cNvSpPr txBox="1"/>
          <p:nvPr>
            <p:ph idx="12" type="sldNum"/>
          </p:nvPr>
        </p:nvSpPr>
        <p:spPr>
          <a:xfrm>
            <a:off x="9691675" y="626110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67" name="Google Shape;267;h4f042c98fa66798a_1_18"/>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1: Burndown Chart</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268" name="Google Shape;268;h4f042c98fa66798a_1_18" title="Gráfico"/>
          <p:cNvPicPr preferRelativeResize="0"/>
          <p:nvPr/>
        </p:nvPicPr>
        <p:blipFill rotWithShape="1">
          <a:blip r:embed="rId3">
            <a:alphaModFix/>
          </a:blip>
          <a:srcRect b="0" l="0" r="0" t="0"/>
          <a:stretch/>
        </p:blipFill>
        <p:spPr>
          <a:xfrm>
            <a:off x="230275" y="1285275"/>
            <a:ext cx="6928253" cy="4287439"/>
          </a:xfrm>
          <a:prstGeom prst="rect">
            <a:avLst/>
          </a:prstGeom>
          <a:noFill/>
          <a:ln>
            <a:noFill/>
          </a:ln>
        </p:spPr>
      </p:pic>
      <p:graphicFrame>
        <p:nvGraphicFramePr>
          <p:cNvPr id="269" name="Google Shape;269;h4f042c98fa66798a_1_18"/>
          <p:cNvGraphicFramePr/>
          <p:nvPr/>
        </p:nvGraphicFramePr>
        <p:xfrm>
          <a:off x="8046900" y="1370275"/>
          <a:ext cx="3000000" cy="3000000"/>
        </p:xfrm>
        <a:graphic>
          <a:graphicData uri="http://schemas.openxmlformats.org/drawingml/2006/table">
            <a:tbl>
              <a:tblPr>
                <a:noFill/>
                <a:tableStyleId>{6F006452-1367-4105-9177-328A18D45F04}</a:tableStyleId>
              </a:tblPr>
              <a:tblGrid>
                <a:gridCol w="1208075"/>
                <a:gridCol w="1208075"/>
                <a:gridCol w="1208075"/>
              </a:tblGrid>
              <a:tr h="243475">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Fecha</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Estimado</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Realizado</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24/08/2026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140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140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25/08/2026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130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133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26/08/2026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120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124</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27/08/2026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110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105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28/08/2026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100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86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31/08/2026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90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74</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01/09/2026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80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68</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02/09/2026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70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57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03/09/2026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60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45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04/09/2026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50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38</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07/09/2026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40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34</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08/09/2026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21</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09/09/2026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10/09/2026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8</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34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11/09/2026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73" name="Shape 273"/>
        <p:cNvGrpSpPr/>
        <p:nvPr/>
      </p:nvGrpSpPr>
      <p:grpSpPr>
        <a:xfrm>
          <a:off x="0" y="0"/>
          <a:ext cx="0" cy="0"/>
          <a:chOff x="0" y="0"/>
          <a:chExt cx="0" cy="0"/>
        </a:xfrm>
      </p:grpSpPr>
      <p:sp>
        <p:nvSpPr>
          <p:cNvPr id="274" name="Google Shape;274;h1fd0423cc0bc1287_0_0"/>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75" name="Google Shape;275;h1fd0423cc0bc1287_0_0"/>
          <p:cNvSpPr txBox="1"/>
          <p:nvPr/>
        </p:nvSpPr>
        <p:spPr>
          <a:xfrm>
            <a:off x="201875" y="278800"/>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1: Impediment Log</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276" name="Google Shape;276;h1fd0423cc0bc1287_0_0"/>
          <p:cNvGraphicFramePr/>
          <p:nvPr/>
        </p:nvGraphicFramePr>
        <p:xfrm>
          <a:off x="1748475" y="1659400"/>
          <a:ext cx="3000000" cy="3000000"/>
        </p:xfrm>
        <a:graphic>
          <a:graphicData uri="http://schemas.openxmlformats.org/drawingml/2006/table">
            <a:tbl>
              <a:tblPr>
                <a:noFill/>
                <a:tableStyleId>{6F006452-1367-4105-9177-328A18D45F04}</a:tableStyleId>
              </a:tblPr>
              <a:tblGrid>
                <a:gridCol w="832625"/>
                <a:gridCol w="1427375"/>
                <a:gridCol w="1189475"/>
                <a:gridCol w="1189475"/>
                <a:gridCol w="1189475"/>
                <a:gridCol w="1522525"/>
                <a:gridCol w="1344100"/>
              </a:tblGrid>
              <a:tr h="555300">
                <a:tc gridSpan="7">
                  <a:txBody>
                    <a:bodyPr/>
                    <a:lstStyle/>
                    <a:p>
                      <a:pPr indent="0" lvl="0" marL="0" marR="0" rtl="0" algn="l">
                        <a:lnSpc>
                          <a:spcPct val="115000"/>
                        </a:lnSpc>
                        <a:spcBef>
                          <a:spcPts val="0"/>
                        </a:spcBef>
                        <a:spcAft>
                          <a:spcPts val="0"/>
                        </a:spcAft>
                        <a:buClr>
                          <a:srgbClr val="000000"/>
                        </a:buClr>
                        <a:buSzPts val="1700"/>
                        <a:buFont typeface="Arial"/>
                        <a:buNone/>
                      </a:pPr>
                      <a:r>
                        <a:rPr b="1" lang="en-US" sz="1700" u="none" cap="none" strike="noStrike"/>
                        <a:t>Impediment Log</a:t>
                      </a:r>
                      <a:endParaRPr b="1"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hMerge="1"/>
                <a:tc hMerge="1"/>
                <a:tc hMerge="1"/>
                <a:tc hMerge="1"/>
                <a:tc hMerge="1"/>
              </a:tr>
              <a:tr h="4442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ID</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Impedimento</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Impacto</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Prioridad</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Responsable</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Acción/Solución</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Estado</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1073625">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rPr lang="en-US" sz="1300" u="none" cap="none" strike="noStrike"/>
                        <a:t>No se presentaron impedimentos durante el Sprint.</a:t>
                      </a:r>
                      <a:endParaRPr sz="13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No aplica</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No aplica</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rPr lang="en-US" sz="1300" u="none" cap="none" strike="noStrike"/>
                        <a:t>Sin impedimentos</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8675">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8675">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8675">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80" name="Shape 280"/>
        <p:cNvGrpSpPr/>
        <p:nvPr/>
      </p:nvGrpSpPr>
      <p:grpSpPr>
        <a:xfrm>
          <a:off x="0" y="0"/>
          <a:ext cx="0" cy="0"/>
          <a:chOff x="0" y="0"/>
          <a:chExt cx="0" cy="0"/>
        </a:xfrm>
      </p:grpSpPr>
      <p:sp>
        <p:nvSpPr>
          <p:cNvPr id="281" name="Google Shape;281;h2a029743ffb0fa9e_1_60"/>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82" name="Google Shape;282;h2a029743ffb0fa9e_1_60"/>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Review 1</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283" name="Google Shape;283;h2a029743ffb0fa9e_1_60"/>
          <p:cNvSpPr txBox="1"/>
          <p:nvPr/>
        </p:nvSpPr>
        <p:spPr>
          <a:xfrm>
            <a:off x="486350" y="840600"/>
            <a:ext cx="6027000" cy="51768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200"/>
              </a:spcBef>
              <a:spcAft>
                <a:spcPts val="0"/>
              </a:spcAft>
              <a:buClr>
                <a:schemeClr val="dk1"/>
              </a:buClr>
              <a:buSzPts val="1100"/>
              <a:buFont typeface="Arial"/>
              <a:buNone/>
            </a:pPr>
            <a:r>
              <a:rPr b="1" i="0" lang="en-US" sz="1400" u="none" cap="none" strike="noStrike">
                <a:solidFill>
                  <a:schemeClr val="dk1"/>
                </a:solidFill>
                <a:latin typeface="Arial"/>
                <a:ea typeface="Arial"/>
                <a:cs typeface="Arial"/>
                <a:sym typeface="Arial"/>
              </a:rPr>
              <a:t>Objetivo:</a:t>
            </a:r>
            <a:r>
              <a:rPr b="0" i="0" lang="en-US" sz="1400" u="none" cap="none" strike="noStrike">
                <a:solidFill>
                  <a:schemeClr val="dk1"/>
                </a:solidFill>
                <a:latin typeface="Arial"/>
                <a:ea typeface="Arial"/>
                <a:cs typeface="Arial"/>
                <a:sym typeface="Arial"/>
              </a:rPr>
              <a:t> Desarrollar las funcionalidades iniciales del catálogo de productos y la autenticación de usuarios.</a:t>
            </a:r>
            <a:endParaRPr b="0" i="0" sz="14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rPr b="1" i="0" lang="en-US" sz="1400" u="none" cap="none" strike="noStrike">
                <a:solidFill>
                  <a:schemeClr val="dk1"/>
                </a:solidFill>
                <a:latin typeface="Arial"/>
                <a:ea typeface="Arial"/>
                <a:cs typeface="Arial"/>
                <a:sym typeface="Arial"/>
              </a:rPr>
              <a:t>Funcionalidades completadas</a:t>
            </a:r>
            <a:endParaRPr b="1" i="0" sz="1400" u="none" cap="none" strike="noStrike">
              <a:solidFill>
                <a:schemeClr val="dk1"/>
              </a:solidFill>
              <a:latin typeface="Arial"/>
              <a:ea typeface="Arial"/>
              <a:cs typeface="Arial"/>
              <a:sym typeface="Arial"/>
            </a:endParaRPr>
          </a:p>
          <a:p>
            <a:pPr indent="-317500" lvl="0" marL="457200" marR="0" rtl="0" algn="just">
              <a:lnSpc>
                <a:spcPct val="115000"/>
              </a:lnSpc>
              <a:spcBef>
                <a:spcPts val="120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Catálogo:</a:t>
            </a:r>
            <a:r>
              <a:rPr b="0" i="0" lang="en-US" sz="1400" u="none" cap="none" strike="noStrike">
                <a:solidFill>
                  <a:schemeClr val="dk1"/>
                </a:solidFill>
                <a:latin typeface="Arial"/>
                <a:ea typeface="Arial"/>
                <a:cs typeface="Arial"/>
                <a:sym typeface="Arial"/>
              </a:rPr>
              <a:t> visualización y detalle de productos.</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Búsqueda y filtros:</a:t>
            </a:r>
            <a:r>
              <a:rPr b="0" i="0" lang="en-US" sz="1400" u="none" cap="none" strike="noStrike">
                <a:solidFill>
                  <a:schemeClr val="dk1"/>
                </a:solidFill>
                <a:latin typeface="Arial"/>
                <a:ea typeface="Arial"/>
                <a:cs typeface="Arial"/>
                <a:sym typeface="Arial"/>
              </a:rPr>
              <a:t> búsqueda por nombre o categoría y filtros por marca y categoría.</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Autenticación:</a:t>
            </a:r>
            <a:r>
              <a:rPr b="0" i="0" lang="en-US" sz="1400" u="none" cap="none" strike="noStrike">
                <a:solidFill>
                  <a:schemeClr val="dk1"/>
                </a:solidFill>
                <a:latin typeface="Arial"/>
                <a:ea typeface="Arial"/>
                <a:cs typeface="Arial"/>
                <a:sym typeface="Arial"/>
              </a:rPr>
              <a:t> registro, inicio de sesión y control de acceso según el rol del usuario.</a:t>
            </a:r>
            <a:endParaRPr b="0" i="0" sz="14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rPr b="1" i="0" lang="en-US" sz="1400" u="none" cap="none" strike="noStrike">
                <a:solidFill>
                  <a:schemeClr val="dk1"/>
                </a:solidFill>
                <a:latin typeface="Arial"/>
                <a:ea typeface="Arial"/>
                <a:cs typeface="Arial"/>
                <a:sym typeface="Arial"/>
              </a:rPr>
              <a:t>Resultado del Sprint Review</a:t>
            </a:r>
            <a:br>
              <a:rPr b="1" i="0" lang="en-US" sz="1400" u="none" cap="none" strike="noStrike">
                <a:solidFill>
                  <a:schemeClr val="dk1"/>
                </a:solidFill>
                <a:latin typeface="Arial"/>
                <a:ea typeface="Arial"/>
                <a:cs typeface="Arial"/>
                <a:sym typeface="Arial"/>
              </a:rPr>
            </a:br>
            <a:r>
              <a:rPr b="0" i="0" lang="en-US" sz="1400" u="none" cap="none" strike="noStrike">
                <a:solidFill>
                  <a:schemeClr val="dk1"/>
                </a:solidFill>
                <a:latin typeface="Arial"/>
                <a:ea typeface="Arial"/>
                <a:cs typeface="Arial"/>
                <a:sym typeface="Arial"/>
              </a:rPr>
              <a:t>Se presentó y revisó el funcionamiento de las siete historias de usuario planificadas. No se recibió feedback externo durante la revisión.</a:t>
            </a:r>
            <a:endParaRPr b="0" i="0" sz="14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rPr b="1" i="0" lang="en-US" sz="1400" u="none" cap="none" strike="noStrike">
                <a:solidFill>
                  <a:schemeClr val="dk1"/>
                </a:solidFill>
                <a:latin typeface="Arial"/>
                <a:ea typeface="Arial"/>
                <a:cs typeface="Arial"/>
                <a:sym typeface="Arial"/>
              </a:rPr>
              <a:t>Acuerdos y próximos pasos</a:t>
            </a:r>
            <a:endParaRPr b="1" i="0" sz="1400" u="none" cap="none" strike="noStrike">
              <a:solidFill>
                <a:schemeClr val="dk1"/>
              </a:solidFill>
              <a:latin typeface="Arial"/>
              <a:ea typeface="Arial"/>
              <a:cs typeface="Arial"/>
              <a:sym typeface="Arial"/>
            </a:endParaRPr>
          </a:p>
          <a:p>
            <a:pPr indent="-317500" lvl="0" marL="457200" marR="0" rtl="0" algn="just">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Continuar con las historias priorizadas del Product Backlog.</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Corregir los problemas detectados en las pruebas.</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Verificar la integración y el correcto funcionamiento de las funcionalidades.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284" name="Google Shape;284;h2a029743ffb0fa9e_1_60"/>
          <p:cNvGraphicFramePr/>
          <p:nvPr/>
        </p:nvGraphicFramePr>
        <p:xfrm>
          <a:off x="7077200" y="1437838"/>
          <a:ext cx="3000000" cy="3000000"/>
        </p:xfrm>
        <a:graphic>
          <a:graphicData uri="http://schemas.openxmlformats.org/drawingml/2006/table">
            <a:tbl>
              <a:tblPr>
                <a:noFill/>
                <a:tableStyleId>{7796CC40-C417-4024-BF14-102760B14647}</a:tableStyleId>
              </a:tblPr>
              <a:tblGrid>
                <a:gridCol w="1441650"/>
                <a:gridCol w="1542075"/>
                <a:gridCol w="1326900"/>
              </a:tblGrid>
              <a:tr h="589850">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Aspecto Revisado</a:t>
                      </a:r>
                      <a:endParaRPr b="1" sz="1200" u="none" cap="none" strike="noStrike"/>
                    </a:p>
                  </a:txBody>
                  <a:tcPr marT="63500" marB="63500" marR="63500" marL="63500">
                    <a:solidFill>
                      <a:srgbClr val="CFE2F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Feedback/Observación</a:t>
                      </a:r>
                      <a:endParaRPr b="1" sz="1200" u="none" cap="none" strike="noStrike"/>
                    </a:p>
                  </a:txBody>
                  <a:tcPr marT="63500" marB="63500" marR="63500" marL="63500">
                    <a:solidFill>
                      <a:srgbClr val="CFE2F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Acción</a:t>
                      </a:r>
                      <a:endParaRPr b="1" sz="1200" u="none" cap="none" strike="noStrike"/>
                    </a:p>
                  </a:txBody>
                  <a:tcPr marT="63500" marB="63500" marR="63500" marL="63500">
                    <a:solidFill>
                      <a:srgbClr val="CFE2F3"/>
                    </a:solidFill>
                  </a:tcPr>
                </a:tc>
              </a:tr>
              <a:tr h="5716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Catálogo</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r h="5716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Detalle de Producto</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r h="5716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Búsqueda y Filtros</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r h="5716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Registro e Inicio Sesión</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r h="5716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Roles de Usuario</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88" name="Shape 288"/>
        <p:cNvGrpSpPr/>
        <p:nvPr/>
      </p:nvGrpSpPr>
      <p:grpSpPr>
        <a:xfrm>
          <a:off x="0" y="0"/>
          <a:ext cx="0" cy="0"/>
          <a:chOff x="0" y="0"/>
          <a:chExt cx="0" cy="0"/>
        </a:xfrm>
      </p:grpSpPr>
      <p:sp>
        <p:nvSpPr>
          <p:cNvPr id="289" name="Google Shape;289;h2a029743ffb0fa9e_1_65"/>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90" name="Google Shape;290;h2a029743ffb0fa9e_1_65"/>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Retrospectiva del Sprint 1</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291" name="Google Shape;291;h2a029743ffb0fa9e_1_65"/>
          <p:cNvSpPr txBox="1"/>
          <p:nvPr/>
        </p:nvSpPr>
        <p:spPr>
          <a:xfrm>
            <a:off x="391475" y="812750"/>
            <a:ext cx="9519300" cy="5442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¿Qué salió bien?</a:t>
            </a:r>
            <a:endParaRPr b="1" i="0" sz="1400" u="none" cap="none" strike="noStrike">
              <a:solidFill>
                <a:schemeClr val="dk1"/>
              </a:solidFill>
              <a:latin typeface="Arial"/>
              <a:ea typeface="Arial"/>
              <a:cs typeface="Arial"/>
              <a:sym typeface="Arial"/>
            </a:endParaRPr>
          </a:p>
          <a:p>
            <a:pPr indent="-317500" lvl="0" marL="457200" marR="0" rtl="0" algn="just">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Se completaron todas las historias de usuario planificadas.</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El catálogo, la búsqueda, los filtros y la autenticación funcionaron según lo esperado.</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Hubo una buena distribución de tareas y no se registraron impedimentos significativos.</a:t>
            </a:r>
            <a:endParaRPr b="0" i="0" sz="14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¿Qué no salió bien?</a:t>
            </a:r>
            <a:endParaRPr b="1" i="0" sz="1400" u="none" cap="none" strike="noStrike">
              <a:solidFill>
                <a:schemeClr val="dk1"/>
              </a:solidFill>
              <a:latin typeface="Arial"/>
              <a:ea typeface="Arial"/>
              <a:cs typeface="Arial"/>
              <a:sym typeface="Arial"/>
            </a:endParaRPr>
          </a:p>
          <a:p>
            <a:pPr indent="-317500" lvl="0" marL="457200" marR="0" rtl="0" algn="just">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No se recibió feedback del Product Owner durante el Sprint Review.</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Quedó pendiente validar las funcionalidades desde la perspectiva del cliente.</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Será necesario mantener las pruebas a medida que se integren nuevos módulos.</a:t>
            </a:r>
            <a:endParaRPr b="0" i="0" sz="14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¿Qué podemos mejorar?</a:t>
            </a:r>
            <a:endParaRPr b="1" i="0" sz="1400" u="none" cap="none" strike="noStrike">
              <a:solidFill>
                <a:schemeClr val="dk1"/>
              </a:solidFill>
              <a:latin typeface="Arial"/>
              <a:ea typeface="Arial"/>
              <a:cs typeface="Arial"/>
              <a:sym typeface="Arial"/>
            </a:endParaRPr>
          </a:p>
          <a:p>
            <a:pPr indent="-317500" lvl="0" marL="457200" marR="0" rtl="0" algn="just">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Promover la participación del Product Owner durante el desarrollo.</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Realizar pruebas de integración continuas.</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Mejorar el seguimiento diario y mantener actualizado el Sprint Backlog.</a:t>
            </a:r>
            <a:endParaRPr b="0" i="0" sz="14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Recomendaciones</a:t>
            </a:r>
            <a:endParaRPr b="1" i="0" sz="1400" u="none" cap="none" strike="noStrike">
              <a:solidFill>
                <a:schemeClr val="dk1"/>
              </a:solidFill>
              <a:latin typeface="Arial"/>
              <a:ea typeface="Arial"/>
              <a:cs typeface="Arial"/>
              <a:sym typeface="Arial"/>
            </a:endParaRPr>
          </a:p>
          <a:p>
            <a:pPr indent="-317500" lvl="0" marL="457200" marR="0" rtl="0" algn="just">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Mantener la organización y distribución de tareas del equipo.</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Realizar revisiones internas antes de cada Sprint Review.</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Continuar utilizando el Burn Down Chart y registrar los impedimentos oportunamente.</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Verificar las funcionalidades existentes para prevenir errores en futuras integraciones.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95" name="Shape 295"/>
        <p:cNvGrpSpPr/>
        <p:nvPr/>
      </p:nvGrpSpPr>
      <p:grpSpPr>
        <a:xfrm>
          <a:off x="0" y="0"/>
          <a:ext cx="0" cy="0"/>
          <a:chOff x="0" y="0"/>
          <a:chExt cx="0" cy="0"/>
        </a:xfrm>
      </p:grpSpPr>
      <p:sp>
        <p:nvSpPr>
          <p:cNvPr id="296" name="Google Shape;296;g94553e02aefe5e1_8"/>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97" name="Google Shape;297;g94553e02aefe5e1_8"/>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Acta de Validación Sprint 1</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298" name="Google Shape;298;g94553e02aefe5e1_8"/>
          <p:cNvPicPr preferRelativeResize="0"/>
          <p:nvPr/>
        </p:nvPicPr>
        <p:blipFill rotWithShape="1">
          <a:blip r:embed="rId3">
            <a:alphaModFix/>
          </a:blip>
          <a:srcRect b="26088" l="0" r="6899" t="30804"/>
          <a:stretch/>
        </p:blipFill>
        <p:spPr>
          <a:xfrm>
            <a:off x="2980253" y="895875"/>
            <a:ext cx="5573925" cy="57779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02" name="Shape 302"/>
        <p:cNvGrpSpPr/>
        <p:nvPr/>
      </p:nvGrpSpPr>
      <p:grpSpPr>
        <a:xfrm>
          <a:off x="0" y="0"/>
          <a:ext cx="0" cy="0"/>
          <a:chOff x="0" y="0"/>
          <a:chExt cx="0" cy="0"/>
        </a:xfrm>
      </p:grpSpPr>
      <p:sp>
        <p:nvSpPr>
          <p:cNvPr id="303" name="Google Shape;303;h4f042c98fa66798a_1_32"/>
          <p:cNvSpPr txBox="1"/>
          <p:nvPr>
            <p:ph idx="12" type="sldNum"/>
          </p:nvPr>
        </p:nvSpPr>
        <p:spPr>
          <a:xfrm>
            <a:off x="9970300" y="63920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04" name="Google Shape;304;h4f042c98fa66798a_1_32"/>
          <p:cNvSpPr txBox="1"/>
          <p:nvPr/>
        </p:nvSpPr>
        <p:spPr>
          <a:xfrm>
            <a:off x="230275" y="0"/>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2: Sprint Backlog</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305" name="Google Shape;305;h4f042c98fa66798a_1_32"/>
          <p:cNvGraphicFramePr/>
          <p:nvPr/>
        </p:nvGraphicFramePr>
        <p:xfrm>
          <a:off x="473850" y="664375"/>
          <a:ext cx="3000000" cy="3000000"/>
        </p:xfrm>
        <a:graphic>
          <a:graphicData uri="http://schemas.openxmlformats.org/drawingml/2006/table">
            <a:tbl>
              <a:tblPr>
                <a:noFill/>
                <a:tableStyleId>{6F006452-1367-4105-9177-328A18D45F04}</a:tableStyleId>
              </a:tblPr>
              <a:tblGrid>
                <a:gridCol w="3040625"/>
                <a:gridCol w="854375"/>
                <a:gridCol w="2535075"/>
                <a:gridCol w="1630650"/>
                <a:gridCol w="1096050"/>
                <a:gridCol w="933350"/>
                <a:gridCol w="1075625"/>
              </a:tblGrid>
              <a:tr h="274200">
                <a:tc gridSpan="7">
                  <a:txBody>
                    <a:bodyPr/>
                    <a:lstStyle/>
                    <a:p>
                      <a:pPr indent="0" lvl="0" marL="0" marR="0" rtl="0" algn="l">
                        <a:lnSpc>
                          <a:spcPct val="115000"/>
                        </a:lnSpc>
                        <a:spcBef>
                          <a:spcPts val="0"/>
                        </a:spcBef>
                        <a:spcAft>
                          <a:spcPts val="0"/>
                        </a:spcAft>
                        <a:buClr>
                          <a:srgbClr val="000000"/>
                        </a:buClr>
                        <a:buSzPts val="1400"/>
                        <a:buFont typeface="Arial"/>
                        <a:buNone/>
                      </a:pPr>
                      <a:r>
                        <a:rPr b="1" lang="en-US" sz="1400" u="none" cap="none" strike="noStrike">
                          <a:latin typeface="Calibri"/>
                          <a:ea typeface="Calibri"/>
                          <a:cs typeface="Calibri"/>
                          <a:sym typeface="Calibri"/>
                        </a:rPr>
                        <a:t>Sprint 2</a:t>
                      </a:r>
                      <a:endParaRPr b="1" sz="14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hMerge="1"/>
                <a:tc hMerge="1"/>
                <a:tc hMerge="1"/>
                <a:tc hMerge="1"/>
                <a:tc hMerge="1"/>
              </a:tr>
              <a:tr h="438725">
                <a:tc>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Historia de Usuario(15)</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Tarea</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Tarea técnica</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Responsable</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Estimación en Horas</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Puntaje</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Estado</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402175">
                <a:tc rowSpan="4">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administrador quiero acceder a un panel exclusivo.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H03-T1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panel exclusivo para administradores.</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417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H03-T2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acceso al panel según rol.</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72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H03-T3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permisos de administrador.</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65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H03-T4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acceso.</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4175">
                <a:tc rowSpan="4">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bodeguero quiero acceder a un panel limitado.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H04-T1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panel limitado para bodeguero.</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417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H04-T2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acceso según rol.</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65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H04-T3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Configurar permisos del panel.</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65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H04-T4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acceso.</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6525">
                <a:tc rowSpan="4">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usuario quiero visualizar mi carrito en un panel lateral.</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H10-T1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panel lateral del carrito.</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417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H10-T2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visualización de productos.</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217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H10-T3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carrito con los productos seleccionados.</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765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H10-T4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del carrito.</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2175">
                <a:tc rowSpan="4">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Como usuario quiero aumentar o disminuir la cantidad de productos en el carrito.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H12-T1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controles para modificar cantidades.</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217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H12-T2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aumento y disminución de cantidades.</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217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H12-T3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Actualizar automáticamente el total del carrito.</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652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H12-T4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cantidades.</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5</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09" name="Shape 309"/>
        <p:cNvGrpSpPr/>
        <p:nvPr/>
      </p:nvGrpSpPr>
      <p:grpSpPr>
        <a:xfrm>
          <a:off x="0" y="0"/>
          <a:ext cx="0" cy="0"/>
          <a:chOff x="0" y="0"/>
          <a:chExt cx="0" cy="0"/>
        </a:xfrm>
      </p:grpSpPr>
      <p:sp>
        <p:nvSpPr>
          <p:cNvPr id="310" name="Google Shape;310;h4f042c98fa66798a_1_0"/>
          <p:cNvSpPr txBox="1"/>
          <p:nvPr>
            <p:ph idx="12" type="sldNum"/>
          </p:nvPr>
        </p:nvSpPr>
        <p:spPr>
          <a:xfrm>
            <a:off x="10006000" y="649290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11" name="Google Shape;311;h4f042c98fa66798a_1_0"/>
          <p:cNvSpPr txBox="1"/>
          <p:nvPr/>
        </p:nvSpPr>
        <p:spPr>
          <a:xfrm>
            <a:off x="298500" y="52475"/>
            <a:ext cx="57021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2: Burndown Chart</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312" name="Google Shape;312;h4f042c98fa66798a_1_0" title="Gráfico"/>
          <p:cNvPicPr preferRelativeResize="0"/>
          <p:nvPr/>
        </p:nvPicPr>
        <p:blipFill rotWithShape="1">
          <a:blip r:embed="rId3">
            <a:alphaModFix/>
          </a:blip>
          <a:srcRect b="0" l="0" r="0" t="0"/>
          <a:stretch/>
        </p:blipFill>
        <p:spPr>
          <a:xfrm>
            <a:off x="211925" y="987300"/>
            <a:ext cx="7225476" cy="4910351"/>
          </a:xfrm>
          <a:prstGeom prst="rect">
            <a:avLst/>
          </a:prstGeom>
          <a:noFill/>
          <a:ln>
            <a:noFill/>
          </a:ln>
        </p:spPr>
      </p:pic>
      <p:graphicFrame>
        <p:nvGraphicFramePr>
          <p:cNvPr id="313" name="Google Shape;313;h4f042c98fa66798a_1_0"/>
          <p:cNvGraphicFramePr/>
          <p:nvPr/>
        </p:nvGraphicFramePr>
        <p:xfrm>
          <a:off x="7631375" y="709750"/>
          <a:ext cx="3000000" cy="3000000"/>
        </p:xfrm>
        <a:graphic>
          <a:graphicData uri="http://schemas.openxmlformats.org/drawingml/2006/table">
            <a:tbl>
              <a:tblPr>
                <a:noFill/>
                <a:tableStyleId>{6F006452-1367-4105-9177-328A18D45F04}</a:tableStyleId>
              </a:tblPr>
              <a:tblGrid>
                <a:gridCol w="1184425"/>
                <a:gridCol w="1184425"/>
                <a:gridCol w="1184425"/>
              </a:tblGrid>
              <a:tr h="324125">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Fecha</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Estimado</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Realizado</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14/09/2026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300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300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15/09/2026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279</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280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16/09/2026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257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260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17/09/2026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236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237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18/09/2026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214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229</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21/09/2026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193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205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22/09/2026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171</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180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23/09/2026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150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155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24/09/2026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129</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130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25/09/2026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107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105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28/09/2026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86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78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29/09/2026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64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55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30/09/2026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43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01/10/2026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21</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12</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4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02/10/2026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17" name="Shape 317"/>
        <p:cNvGrpSpPr/>
        <p:nvPr/>
      </p:nvGrpSpPr>
      <p:grpSpPr>
        <a:xfrm>
          <a:off x="0" y="0"/>
          <a:ext cx="0" cy="0"/>
          <a:chOff x="0" y="0"/>
          <a:chExt cx="0" cy="0"/>
        </a:xfrm>
      </p:grpSpPr>
      <p:sp>
        <p:nvSpPr>
          <p:cNvPr id="318" name="Google Shape;318;h4f042c98fa66798a_1_59"/>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19" name="Google Shape;319;h4f042c98fa66798a_1_59"/>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2: Impediment Log</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320" name="Google Shape;320;h4f042c98fa66798a_1_59"/>
          <p:cNvGraphicFramePr/>
          <p:nvPr/>
        </p:nvGraphicFramePr>
        <p:xfrm>
          <a:off x="834263" y="845775"/>
          <a:ext cx="3000000" cy="3000000"/>
        </p:xfrm>
        <a:graphic>
          <a:graphicData uri="http://schemas.openxmlformats.org/drawingml/2006/table">
            <a:tbl>
              <a:tblPr>
                <a:noFill/>
                <a:tableStyleId>{6F006452-1367-4105-9177-328A18D45F04}</a:tableStyleId>
              </a:tblPr>
              <a:tblGrid>
                <a:gridCol w="717900"/>
                <a:gridCol w="2553650"/>
                <a:gridCol w="1640900"/>
                <a:gridCol w="1025550"/>
                <a:gridCol w="1702425"/>
                <a:gridCol w="2030600"/>
                <a:gridCol w="1025550"/>
              </a:tblGrid>
              <a:tr h="424900">
                <a:tc gridSpan="7">
                  <a:txBody>
                    <a:bodyPr/>
                    <a:lstStyle/>
                    <a:p>
                      <a:pPr indent="0" lvl="0" marL="0" marR="0" rtl="0" algn="l">
                        <a:lnSpc>
                          <a:spcPct val="115000"/>
                        </a:lnSpc>
                        <a:spcBef>
                          <a:spcPts val="0"/>
                        </a:spcBef>
                        <a:spcAft>
                          <a:spcPts val="0"/>
                        </a:spcAft>
                        <a:buClr>
                          <a:srgbClr val="000000"/>
                        </a:buClr>
                        <a:buSzPts val="1400"/>
                        <a:buFont typeface="Arial"/>
                        <a:buNone/>
                      </a:pPr>
                      <a:r>
                        <a:rPr b="1" lang="en-US" sz="1400" u="none" cap="none" strike="noStrike"/>
                        <a:t>Impediment Log</a:t>
                      </a:r>
                      <a:endParaRPr b="1"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hMerge="1"/>
                <a:tc hMerge="1"/>
                <a:tc hMerge="1"/>
                <a:tc hMerge="1"/>
                <a:tc hMerge="1"/>
              </a:tr>
              <a:tr h="368500">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ID</a:t>
                      </a:r>
                      <a:endParaRPr b="1" sz="11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Impedimento</a:t>
                      </a:r>
                      <a:endParaRPr b="1" sz="11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Impacto</a:t>
                      </a:r>
                      <a:endParaRPr b="1" sz="11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Prioridad</a:t>
                      </a:r>
                      <a:endParaRPr b="1" sz="11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Responsable</a:t>
                      </a:r>
                      <a:endParaRPr b="1" sz="11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Acción/Solución</a:t>
                      </a:r>
                      <a:endParaRPr b="1" sz="11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Estado</a:t>
                      </a:r>
                      <a:endParaRPr b="1" sz="11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10265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IMP-01</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Problemas en la gestión del CRUD de productos dentro del popup, debido a elementos que sobresalían de su contenedor y generaban errores al interactuar con el checkbox.</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Dificultó la gestión de los productos desde el panel de administración.</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Alta</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Benjamin Stavrakopulos</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Se ajustó la gestión de los elementos dentro del popup para permitir su correcta interacción.</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Resuelto</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265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IMP-02</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Problemas en el almacenamiento de imágenes en Cloud Run, ya que se estaban guardando en bruto y no se almacenaban correctamente al realizar el CRUD.</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Dificultó el correcto funcionamiento de la gestión de imágenes de los productos.</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Alta</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Benjamin Stavrakopulos</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Se comprimieron las imágenes y se configuró su almacenamiento en Google Cloud.</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Resuelto</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57350">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IMP-03</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Problemas de latencia que provocaban una carga lenta de la página e impedían que el esqueleto de carga se mostrara correctamente.</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Afectó los tiempos de carga y la visualización inicial de la página.</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Alta</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Benjamin Stavrakopulos</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Se implementaron Docker para mejorar el funcionamiento y reducir los problemas de carga.</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Resuelto</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881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IMP-04</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Error en la ruta del carrito de compras debido a una key escrita incorrectamente.</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Impidió que el carrito utilizara correctamente la ruta configurada.</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Media</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Benjamin Stavrakopulos</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Se corrigió la key utilizada en la ruta del carrito.</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Resuelto</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2657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IMP-05</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La acumulación de caché producto de los cambios realizados provocaba que las modificaciones efectuadas en el deploy no se vieran reflejadas en la página.</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Dificultó la visualización y validación de los cambios realizados durante el desarrollo.</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Media</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Benjamin Stavrakopulos</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Se implementó una eliminación automática del caché para permitir que los cambios del deploy se mostraran correctamente.</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Resuelto</a:t>
                      </a:r>
                      <a:endParaRPr sz="1000" u="none" cap="none" strike="noStrike"/>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24" name="Shape 324"/>
        <p:cNvGrpSpPr/>
        <p:nvPr/>
      </p:nvGrpSpPr>
      <p:grpSpPr>
        <a:xfrm>
          <a:off x="0" y="0"/>
          <a:ext cx="0" cy="0"/>
          <a:chOff x="0" y="0"/>
          <a:chExt cx="0" cy="0"/>
        </a:xfrm>
      </p:grpSpPr>
      <p:sp>
        <p:nvSpPr>
          <p:cNvPr id="325" name="Google Shape;325;h2a029743ffb0fa9e_1_54"/>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26" name="Google Shape;326;h2a029743ffb0fa9e_1_54"/>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Review 2</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327" name="Google Shape;327;h2a029743ffb0fa9e_1_54"/>
          <p:cNvSpPr txBox="1"/>
          <p:nvPr/>
        </p:nvSpPr>
        <p:spPr>
          <a:xfrm>
            <a:off x="500975" y="835000"/>
            <a:ext cx="6135000" cy="56304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Objetivo:</a:t>
            </a:r>
            <a:r>
              <a:rPr b="0" i="0" lang="en-US" sz="1400" u="none" cap="none" strike="noStrike">
                <a:solidFill>
                  <a:schemeClr val="dk1"/>
                </a:solidFill>
                <a:latin typeface="Arial"/>
                <a:ea typeface="Arial"/>
                <a:cs typeface="Arial"/>
                <a:sym typeface="Arial"/>
              </a:rPr>
              <a:t> Desarrollar el proceso de compra y las funcionalidades de gestión de pedidos, integrando el carrito, el checkout y los pagos en línea.</a:t>
            </a:r>
            <a:endParaRPr b="0" i="0" sz="14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Funcionalidades completadas</a:t>
            </a:r>
            <a:endParaRPr b="1" i="0" sz="1400" u="none" cap="none" strike="noStrike">
              <a:solidFill>
                <a:schemeClr val="dk1"/>
              </a:solidFill>
              <a:latin typeface="Arial"/>
              <a:ea typeface="Arial"/>
              <a:cs typeface="Arial"/>
              <a:sym typeface="Arial"/>
            </a:endParaRPr>
          </a:p>
          <a:p>
            <a:pPr indent="-317500" lvl="0" marL="457200" marR="0" rtl="0" algn="just">
              <a:lnSpc>
                <a:spcPct val="115000"/>
              </a:lnSpc>
              <a:spcBef>
                <a:spcPts val="120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Carrito y checkout:</a:t>
            </a:r>
            <a:r>
              <a:rPr b="0" i="0" lang="en-US" sz="1400" u="none" cap="none" strike="noStrike">
                <a:solidFill>
                  <a:schemeClr val="dk1"/>
                </a:solidFill>
                <a:latin typeface="Arial"/>
                <a:ea typeface="Arial"/>
                <a:cs typeface="Arial"/>
                <a:sym typeface="Arial"/>
              </a:rPr>
              <a:t> gestión de productos y registro de datos de envío.</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Pagos:</a:t>
            </a:r>
            <a:r>
              <a:rPr b="0" i="0" lang="en-US" sz="1400" u="none" cap="none" strike="noStrike">
                <a:solidFill>
                  <a:schemeClr val="dk1"/>
                </a:solidFill>
                <a:latin typeface="Arial"/>
                <a:ea typeface="Arial"/>
                <a:cs typeface="Arial"/>
                <a:sym typeface="Arial"/>
              </a:rPr>
              <a:t> integración con Mercado Pago y confirmación de compra.</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Gestión de órdenes:</a:t>
            </a:r>
            <a:r>
              <a:rPr b="0" i="0" lang="en-US" sz="1400" u="none" cap="none" strike="noStrike">
                <a:solidFill>
                  <a:schemeClr val="dk1"/>
                </a:solidFill>
                <a:latin typeface="Arial"/>
                <a:ea typeface="Arial"/>
                <a:cs typeface="Arial"/>
                <a:sym typeface="Arial"/>
              </a:rPr>
              <a:t> consulta y administración de pedidos.</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Paneles de gestión:</a:t>
            </a:r>
            <a:r>
              <a:rPr b="0" i="0" lang="en-US" sz="1400" u="none" cap="none" strike="noStrike">
                <a:solidFill>
                  <a:schemeClr val="dk1"/>
                </a:solidFill>
                <a:latin typeface="Arial"/>
                <a:ea typeface="Arial"/>
                <a:cs typeface="Arial"/>
                <a:sym typeface="Arial"/>
              </a:rPr>
              <a:t> funcionalidades para administrador y bodeguero.</a:t>
            </a:r>
            <a:endParaRPr b="0" i="0" sz="14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Resultado del Sprint Review</a:t>
            </a:r>
            <a:br>
              <a:rPr b="1" i="0" lang="en-US" sz="1400" u="none" cap="none" strike="noStrike">
                <a:solidFill>
                  <a:schemeClr val="dk1"/>
                </a:solidFill>
                <a:latin typeface="Arial"/>
                <a:ea typeface="Arial"/>
                <a:cs typeface="Arial"/>
                <a:sym typeface="Arial"/>
              </a:rPr>
            </a:br>
            <a:r>
              <a:rPr b="0" i="0" lang="en-US" sz="1400" u="none" cap="none" strike="noStrike">
                <a:solidFill>
                  <a:schemeClr val="dk1"/>
                </a:solidFill>
                <a:latin typeface="Arial"/>
                <a:ea typeface="Arial"/>
                <a:cs typeface="Arial"/>
                <a:sym typeface="Arial"/>
              </a:rPr>
              <a:t>Se presentó el flujo de compra completo, desde la selección de productos hasta el pago y la gestión de pedidos. No se recibió feedback del Product Owner durante la revisión.</a:t>
            </a:r>
            <a:endParaRPr b="0" i="0" sz="14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Acuerdos y próximos pasos</a:t>
            </a:r>
            <a:endParaRPr b="1" i="0" sz="1400" u="none" cap="none" strike="noStrike">
              <a:solidFill>
                <a:schemeClr val="dk1"/>
              </a:solidFill>
              <a:latin typeface="Arial"/>
              <a:ea typeface="Arial"/>
              <a:cs typeface="Arial"/>
              <a:sym typeface="Arial"/>
            </a:endParaRPr>
          </a:p>
          <a:p>
            <a:pPr indent="-317500" lvl="0" marL="457200" marR="0" rtl="0" algn="just">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Continuar con las historias priorizadas del Product Backlog.</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Corregir los problemas detectados durante las pruebas.</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Verificar la integración del proceso de compra y la gestión de pedidos.</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Incorporar futuros ajustes según las observaciones que se reciban.</a:t>
            </a:r>
            <a:endParaRPr b="0" i="0" sz="1400" u="none" cap="none" strike="noStrike">
              <a:solidFill>
                <a:schemeClr val="dk1"/>
              </a:solidFill>
              <a:latin typeface="Arial"/>
              <a:ea typeface="Arial"/>
              <a:cs typeface="Arial"/>
              <a:sym typeface="Arial"/>
            </a:endParaRPr>
          </a:p>
        </p:txBody>
      </p:sp>
      <p:graphicFrame>
        <p:nvGraphicFramePr>
          <p:cNvPr id="328" name="Google Shape;328;h2a029743ffb0fa9e_1_54"/>
          <p:cNvGraphicFramePr/>
          <p:nvPr/>
        </p:nvGraphicFramePr>
        <p:xfrm>
          <a:off x="6635975" y="1451475"/>
          <a:ext cx="3000000" cy="3000000"/>
        </p:xfrm>
        <a:graphic>
          <a:graphicData uri="http://schemas.openxmlformats.org/drawingml/2006/table">
            <a:tbl>
              <a:tblPr>
                <a:noFill/>
                <a:tableStyleId>{7796CC40-C417-4024-BF14-102760B14647}</a:tableStyleId>
              </a:tblPr>
              <a:tblGrid>
                <a:gridCol w="1770375"/>
                <a:gridCol w="1893675"/>
                <a:gridCol w="1629450"/>
              </a:tblGrid>
              <a:tr h="628950">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Aspecto Revisado</a:t>
                      </a:r>
                      <a:endParaRPr b="1" sz="1200" u="none" cap="none" strike="noStrike"/>
                    </a:p>
                  </a:txBody>
                  <a:tcPr marT="63500" marB="63500" marR="63500" marL="63500">
                    <a:solidFill>
                      <a:srgbClr val="CFE2F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Feedback/Observación</a:t>
                      </a:r>
                      <a:endParaRPr b="1" sz="1200" u="none" cap="none" strike="noStrike"/>
                    </a:p>
                  </a:txBody>
                  <a:tcPr marT="63500" marB="63500" marR="63500" marL="63500">
                    <a:solidFill>
                      <a:srgbClr val="CFE2F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Acción</a:t>
                      </a:r>
                      <a:endParaRPr b="1" sz="1200" u="none" cap="none" strike="noStrike"/>
                    </a:p>
                  </a:txBody>
                  <a:tcPr marT="63500" marB="63500" marR="63500" marL="63500">
                    <a:solidFill>
                      <a:srgbClr val="CFE2F3"/>
                    </a:solidFill>
                  </a:tcPr>
                </a:tc>
              </a:tr>
              <a:tr h="6044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Carrito de compras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r h="6044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Checkout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r h="6044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Mercado Pago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r h="6044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Gestión de órdenes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r h="6044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Paneles según rol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Sin feedback por el momento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Pendiente de revisión </a:t>
                      </a:r>
                      <a:endParaRPr sz="1100" u="none" cap="none" strike="noStrike"/>
                    </a:p>
                  </a:txBody>
                  <a:tcPr marT="63500" marB="63500" marR="63500" marL="6350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32" name="Shape 332"/>
        <p:cNvGrpSpPr/>
        <p:nvPr/>
      </p:nvGrpSpPr>
      <p:grpSpPr>
        <a:xfrm>
          <a:off x="0" y="0"/>
          <a:ext cx="0" cy="0"/>
          <a:chOff x="0" y="0"/>
          <a:chExt cx="0" cy="0"/>
        </a:xfrm>
      </p:grpSpPr>
      <p:sp>
        <p:nvSpPr>
          <p:cNvPr id="333" name="Google Shape;333;h2a029743ffb0fa9e_1_70"/>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34" name="Google Shape;334;h2a029743ffb0fa9e_1_70"/>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Retrospectiva del Sprint 2</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335" name="Google Shape;335;h2a029743ffb0fa9e_1_70"/>
          <p:cNvSpPr txBox="1"/>
          <p:nvPr/>
        </p:nvSpPr>
        <p:spPr>
          <a:xfrm>
            <a:off x="680700" y="968275"/>
            <a:ext cx="7782600" cy="5194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¿Qué salió bien?</a:t>
            </a:r>
            <a:endParaRPr b="1"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Avance en el proceso de compra y gestión de pedidos.</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Integración del carrito, checkout y pagos con Mercado Pago.</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Buena organización y distribución de tareas del equipo.</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¿Qué no salió bien?</a:t>
            </a:r>
            <a:endParaRPr b="1"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Se requiere seguir verificando la integración entre los módulos.</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Es necesario mantener pruebas continuas para detectar errores.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¿Qué podemos mejorar?</a:t>
            </a:r>
            <a:endParaRPr b="1"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Solicitar feedback del Product Owner durante el desarrollo.</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Reforzar las pruebas de integración.</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Mantener actualizado el Sprint Backlog y revisar las funcionalidades antes de cerrarlas.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Recomendaciones</a:t>
            </a:r>
            <a:endParaRPr b="1"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Mantener la coordinación y distribución de tareas.</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Realizar revisiones internas antes del Sprint Review.</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Priorizar la estabilidad de las funcionalidades existentes.</a:t>
            </a:r>
            <a:endParaRPr b="0" i="0" sz="1400" u="none" cap="none" strike="noStrike">
              <a:solidFill>
                <a:schemeClr val="dk1"/>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Continuar utilizando el Burn Down Chart y registrar los impedimentos oportunamente.</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39" name="Shape 339"/>
        <p:cNvGrpSpPr/>
        <p:nvPr/>
      </p:nvGrpSpPr>
      <p:grpSpPr>
        <a:xfrm>
          <a:off x="0" y="0"/>
          <a:ext cx="0" cy="0"/>
          <a:chOff x="0" y="0"/>
          <a:chExt cx="0" cy="0"/>
        </a:xfrm>
      </p:grpSpPr>
      <p:sp>
        <p:nvSpPr>
          <p:cNvPr id="340" name="Google Shape;340;g94553e02aefe5e1_0"/>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41" name="Google Shape;341;g94553e02aefe5e1_0"/>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Acta de Validación Sprint 2</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342" name="Google Shape;342;g94553e02aefe5e1_0"/>
          <p:cNvPicPr preferRelativeResize="0"/>
          <p:nvPr/>
        </p:nvPicPr>
        <p:blipFill rotWithShape="1">
          <a:blip r:embed="rId3">
            <a:alphaModFix/>
          </a:blip>
          <a:srcRect b="27687" l="7485" r="0" t="32557"/>
          <a:stretch/>
        </p:blipFill>
        <p:spPr>
          <a:xfrm rot="1">
            <a:off x="230275" y="891851"/>
            <a:ext cx="5630450" cy="5416872"/>
          </a:xfrm>
          <a:prstGeom prst="rect">
            <a:avLst/>
          </a:prstGeom>
          <a:noFill/>
          <a:ln>
            <a:noFill/>
          </a:ln>
        </p:spPr>
      </p:pic>
      <p:pic>
        <p:nvPicPr>
          <p:cNvPr id="343" name="Google Shape;343;g94553e02aefe5e1_0"/>
          <p:cNvPicPr preferRelativeResize="0"/>
          <p:nvPr/>
        </p:nvPicPr>
        <p:blipFill rotWithShape="1">
          <a:blip r:embed="rId4">
            <a:alphaModFix/>
          </a:blip>
          <a:srcRect b="46098" l="0" r="0" t="38603"/>
          <a:stretch/>
        </p:blipFill>
        <p:spPr>
          <a:xfrm>
            <a:off x="6032375" y="2812900"/>
            <a:ext cx="5630450" cy="19286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47" name="Shape 347"/>
        <p:cNvGrpSpPr/>
        <p:nvPr/>
      </p:nvGrpSpPr>
      <p:grpSpPr>
        <a:xfrm>
          <a:off x="0" y="0"/>
          <a:ext cx="0" cy="0"/>
          <a:chOff x="0" y="0"/>
          <a:chExt cx="0" cy="0"/>
        </a:xfrm>
      </p:grpSpPr>
      <p:sp>
        <p:nvSpPr>
          <p:cNvPr id="348" name="Google Shape;348;h2a029743ffb0fa9e_1_34"/>
          <p:cNvSpPr txBox="1"/>
          <p:nvPr>
            <p:ph idx="12" type="sldNum"/>
          </p:nvPr>
        </p:nvSpPr>
        <p:spPr>
          <a:xfrm>
            <a:off x="10006000" y="649290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49" name="Google Shape;349;h2a029743ffb0fa9e_1_34"/>
          <p:cNvSpPr txBox="1"/>
          <p:nvPr/>
        </p:nvSpPr>
        <p:spPr>
          <a:xfrm>
            <a:off x="230288" y="15587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3: Sprint Backlog</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350" name="Google Shape;350;h2a029743ffb0fa9e_1_34"/>
          <p:cNvGraphicFramePr/>
          <p:nvPr/>
        </p:nvGraphicFramePr>
        <p:xfrm>
          <a:off x="141238" y="1108200"/>
          <a:ext cx="3000000" cy="3000000"/>
        </p:xfrm>
        <a:graphic>
          <a:graphicData uri="http://schemas.openxmlformats.org/drawingml/2006/table">
            <a:tbl>
              <a:tblPr>
                <a:noFill/>
                <a:tableStyleId>{6F006452-1367-4105-9177-328A18D45F04}</a:tableStyleId>
              </a:tblPr>
              <a:tblGrid>
                <a:gridCol w="3600900"/>
                <a:gridCol w="996850"/>
                <a:gridCol w="3272575"/>
                <a:gridCol w="1568875"/>
                <a:gridCol w="1164750"/>
                <a:gridCol w="1169125"/>
              </a:tblGrid>
              <a:tr h="255500">
                <a:tc gridSpan="6">
                  <a:txBody>
                    <a:bodyPr/>
                    <a:lstStyle/>
                    <a:p>
                      <a:pPr indent="0" lvl="0" marL="0" marR="0" rtl="0" algn="l">
                        <a:lnSpc>
                          <a:spcPct val="115000"/>
                        </a:lnSpc>
                        <a:spcBef>
                          <a:spcPts val="0"/>
                        </a:spcBef>
                        <a:spcAft>
                          <a:spcPts val="0"/>
                        </a:spcAft>
                        <a:buClr>
                          <a:srgbClr val="000000"/>
                        </a:buClr>
                        <a:buSzPts val="1400"/>
                        <a:buFont typeface="Arial"/>
                        <a:buNone/>
                      </a:pPr>
                      <a:r>
                        <a:rPr b="1" lang="en-US" sz="1400" u="none" cap="none" strike="noStrike">
                          <a:latin typeface="Calibri"/>
                          <a:ea typeface="Calibri"/>
                          <a:cs typeface="Calibri"/>
                          <a:sym typeface="Calibri"/>
                        </a:rPr>
                        <a:t>Sprint 3</a:t>
                      </a:r>
                      <a:endParaRPr b="1" sz="14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hMerge="1"/>
                <a:tc hMerge="1"/>
                <a:tc hMerge="1"/>
                <a:tc hMerge="1"/>
              </a:tr>
              <a:tr h="221425">
                <a:tc>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Historia de Usuario(19)</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Tarea</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Tarea técnica</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Responsable</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Estimación en Horas</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US" sz="1200" u="none" cap="none" strike="noStrike">
                          <a:latin typeface="Calibri"/>
                          <a:ea typeface="Calibri"/>
                          <a:cs typeface="Calibri"/>
                          <a:sym typeface="Calibri"/>
                        </a:rPr>
                        <a:t>Estado</a:t>
                      </a:r>
                      <a:endParaRPr b="1" sz="12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285675">
                <a:tc rowSpan="4">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Como administrador quiero gestionar los productos del catálogo.</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H26-T1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formulario de gestión de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91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H26-T2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creación, edición y eliminación.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7</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23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H26-T3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productos con la base de datos.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342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H26-T4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gestión.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7775">
                <a:tc rowSpan="4">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Como administrador quiero gestionar categorías de productos.</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H28-T1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sección de categorías.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47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H28-T2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creación, edición y eliminación de categorías.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652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H28-T3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categorías con los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567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H28-T4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categorías con los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1425">
                <a:tc rowSpan="4">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Como administrador quiero gestionar marcas personalizadas.</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H27-T1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sección de marcas.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52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H27-T2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creación, edición y eliminación de marcas.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342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H27-T3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marcas con la base de datos.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342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H27-T4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gestión.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0225">
                <a:tc rowSpan="4">
                  <a:txBody>
                    <a:bodyPr/>
                    <a:lstStyle/>
                    <a:p>
                      <a:pPr indent="0" lvl="0" marL="0" marR="0" rtl="0" algn="l">
                        <a:lnSpc>
                          <a:spcPct val="115000"/>
                        </a:lnSpc>
                        <a:spcBef>
                          <a:spcPts val="0"/>
                        </a:spcBef>
                        <a:spcAft>
                          <a:spcPts val="0"/>
                        </a:spcAft>
                        <a:buClr>
                          <a:srgbClr val="000000"/>
                        </a:buClr>
                        <a:buSzPts val="1000"/>
                        <a:buFont typeface="Arial"/>
                        <a:buNone/>
                      </a:pPr>
                      <a:r>
                        <a:rPr lang="en-US" sz="1000" u="none" cap="none" strike="noStrike"/>
                        <a:t>Como administrador quiero subir imágenes de los productos.</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H29-T1</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Diseñar componente para cargar imágenes.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787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H29-T2</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Desarrollar carga y almacenamiento de imágenes.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Benjamin Stavrakopulos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7</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2300">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H29-T3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Integrar imágenes con los productos.</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Bastian Lazo</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5</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075">
                <a:tc vMerge="1"/>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H29-T4</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Realizar pruebas de carga.</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Francisca Guzmán</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a:t>
                      </a:r>
                      <a:endParaRPr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latin typeface="Calibri"/>
                          <a:ea typeface="Calibri"/>
                          <a:cs typeface="Calibri"/>
                          <a:sym typeface="Calibri"/>
                        </a:rPr>
                        <a:t>Completada</a:t>
                      </a:r>
                      <a:endParaRPr sz="12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54" name="Shape 354"/>
        <p:cNvGrpSpPr/>
        <p:nvPr/>
      </p:nvGrpSpPr>
      <p:grpSpPr>
        <a:xfrm>
          <a:off x="0" y="0"/>
          <a:ext cx="0" cy="0"/>
          <a:chOff x="0" y="0"/>
          <a:chExt cx="0" cy="0"/>
        </a:xfrm>
      </p:grpSpPr>
      <p:sp>
        <p:nvSpPr>
          <p:cNvPr id="355" name="Google Shape;355;h2a029743ffb0fa9e_1_28"/>
          <p:cNvSpPr txBox="1"/>
          <p:nvPr>
            <p:ph idx="12" type="sldNum"/>
          </p:nvPr>
        </p:nvSpPr>
        <p:spPr>
          <a:xfrm>
            <a:off x="9970300" y="63920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graphicFrame>
        <p:nvGraphicFramePr>
          <p:cNvPr id="356" name="Google Shape;356;h2a029743ffb0fa9e_1_28"/>
          <p:cNvGraphicFramePr/>
          <p:nvPr/>
        </p:nvGraphicFramePr>
        <p:xfrm>
          <a:off x="8301825" y="319400"/>
          <a:ext cx="3000000" cy="3000000"/>
        </p:xfrm>
        <a:graphic>
          <a:graphicData uri="http://schemas.openxmlformats.org/drawingml/2006/table">
            <a:tbl>
              <a:tblPr>
                <a:noFill/>
                <a:tableStyleId>{6F006452-1367-4105-9177-328A18D45F04}</a:tableStyleId>
              </a:tblPr>
              <a:tblGrid>
                <a:gridCol w="952500"/>
                <a:gridCol w="952500"/>
                <a:gridCol w="952500"/>
              </a:tblGrid>
              <a:tr h="200025">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Fecha</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extLst>
                      <a:ext uri="http://customooxmlschemas.google.com/">
                        <go:slidesCustomData xmlns:go="http://customooxmlschemas.google.com/" cellId="356:0: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Estimado</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extLst>
                      <a:ext uri="http://customooxmlschemas.google.com/">
                        <go:slidesCustomData xmlns:go="http://customooxmlschemas.google.com/" cellId="356:0: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Realizado</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extLst>
                      <a:ext uri="http://customooxmlschemas.google.com/">
                        <go:slidesCustomData xmlns:go="http://customooxmlschemas.google.com/" cellId="356:0: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05/10/2026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380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380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06/10/2026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2: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353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2: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357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2: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07/10/2026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3: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3: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324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3: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08/10/2026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4: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299</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4: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295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4: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09/10/2026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5: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271</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5: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265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5: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12/10/2026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6: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244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6: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239</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6: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13/10/2026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7: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217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7: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215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7: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14/10/2026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8: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190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8:1"/>
                      </a:ext>
                    </a:extLs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8: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15/10/2026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9: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163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9:1"/>
                      </a:ext>
                    </a:extLs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9: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16/10/2026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0: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136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0:1"/>
                      </a:ext>
                    </a:extLs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0: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19/10/2026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1: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109</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1:1"/>
                      </a:ext>
                    </a:extLs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1: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20/10/2026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2: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81</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2:1"/>
                      </a:ext>
                    </a:extLs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2: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21/10/2026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3: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54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3:1"/>
                      </a:ext>
                    </a:extLs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3: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22/10/2026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4: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4:1"/>
                      </a:ext>
                    </a:extLs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4:2"/>
                      </a:ext>
                    </a:extLst>
                  </a:tcPr>
                </a:tc>
              </a:tr>
              <a:tr h="200025">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23/10/2026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5:0"/>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US" sz="1000" u="none" cap="none" strike="noStrike"/>
                        <a:t>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5:1"/>
                      </a:ext>
                    </a:extLs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56:15:2"/>
                      </a:ext>
                    </a:extLst>
                  </a:tcPr>
                </a:tc>
              </a:tr>
            </a:tbl>
          </a:graphicData>
        </a:graphic>
      </p:graphicFrame>
      <p:pic>
        <p:nvPicPr>
          <p:cNvPr id="357" name="Google Shape;357;h2a029743ffb0fa9e_1_28" title="Gráfico"/>
          <p:cNvPicPr preferRelativeResize="0"/>
          <p:nvPr/>
        </p:nvPicPr>
        <p:blipFill rotWithShape="1">
          <a:blip r:embed="rId3">
            <a:alphaModFix/>
          </a:blip>
          <a:srcRect b="0" l="0" r="0" t="0"/>
          <a:stretch/>
        </p:blipFill>
        <p:spPr>
          <a:xfrm>
            <a:off x="152400" y="1260600"/>
            <a:ext cx="7997025" cy="4953623"/>
          </a:xfrm>
          <a:prstGeom prst="rect">
            <a:avLst/>
          </a:prstGeom>
          <a:noFill/>
          <a:ln>
            <a:noFill/>
          </a:ln>
        </p:spPr>
      </p:pic>
      <p:sp>
        <p:nvSpPr>
          <p:cNvPr id="358" name="Google Shape;358;h2a029743ffb0fa9e_1_28"/>
          <p:cNvSpPr txBox="1"/>
          <p:nvPr/>
        </p:nvSpPr>
        <p:spPr>
          <a:xfrm>
            <a:off x="298500" y="52475"/>
            <a:ext cx="57021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3: Burndown Chart</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62" name="Shape 362"/>
        <p:cNvGrpSpPr/>
        <p:nvPr/>
      </p:nvGrpSpPr>
      <p:grpSpPr>
        <a:xfrm>
          <a:off x="0" y="0"/>
          <a:ext cx="0" cy="0"/>
          <a:chOff x="0" y="0"/>
          <a:chExt cx="0" cy="0"/>
        </a:xfrm>
      </p:grpSpPr>
      <p:sp>
        <p:nvSpPr>
          <p:cNvPr id="363" name="Google Shape;363;h2a029743ffb0fa9e_1_41"/>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64" name="Google Shape;364;h2a029743ffb0fa9e_1_41"/>
          <p:cNvSpPr txBox="1"/>
          <p:nvPr/>
        </p:nvSpPr>
        <p:spPr>
          <a:xfrm>
            <a:off x="201875" y="278800"/>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3: Impediment Log</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365" name="Google Shape;365;h2a029743ffb0fa9e_1_41"/>
          <p:cNvGraphicFramePr/>
          <p:nvPr/>
        </p:nvGraphicFramePr>
        <p:xfrm>
          <a:off x="1748475" y="1659400"/>
          <a:ext cx="3000000" cy="3000000"/>
        </p:xfrm>
        <a:graphic>
          <a:graphicData uri="http://schemas.openxmlformats.org/drawingml/2006/table">
            <a:tbl>
              <a:tblPr>
                <a:noFill/>
                <a:tableStyleId>{6F006452-1367-4105-9177-328A18D45F04}</a:tableStyleId>
              </a:tblPr>
              <a:tblGrid>
                <a:gridCol w="832625"/>
                <a:gridCol w="1427375"/>
                <a:gridCol w="1189475"/>
                <a:gridCol w="1189475"/>
                <a:gridCol w="1189475"/>
                <a:gridCol w="1522525"/>
                <a:gridCol w="1344100"/>
              </a:tblGrid>
              <a:tr h="555300">
                <a:tc gridSpan="7">
                  <a:txBody>
                    <a:bodyPr/>
                    <a:lstStyle/>
                    <a:p>
                      <a:pPr indent="0" lvl="0" marL="0" marR="0" rtl="0" algn="l">
                        <a:lnSpc>
                          <a:spcPct val="115000"/>
                        </a:lnSpc>
                        <a:spcBef>
                          <a:spcPts val="0"/>
                        </a:spcBef>
                        <a:spcAft>
                          <a:spcPts val="0"/>
                        </a:spcAft>
                        <a:buClr>
                          <a:srgbClr val="000000"/>
                        </a:buClr>
                        <a:buSzPts val="1700"/>
                        <a:buFont typeface="Arial"/>
                        <a:buNone/>
                      </a:pPr>
                      <a:r>
                        <a:rPr b="1" lang="en-US" sz="1700" u="none" cap="none" strike="noStrike"/>
                        <a:t>Impediment Log</a:t>
                      </a:r>
                      <a:endParaRPr b="1"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hMerge="1"/>
                <a:tc hMerge="1"/>
                <a:tc hMerge="1"/>
                <a:tc hMerge="1"/>
                <a:tc hMerge="1"/>
              </a:tr>
              <a:tr h="4442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ID</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Impedimento</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Impacto</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Prioridad</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Responsable</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Acción/Solución</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Estado</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1073625">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rPr lang="en-US" sz="1300" u="none" cap="none" strike="noStrike"/>
                        <a:t>No se han presentado impedimentos hasta el momento.</a:t>
                      </a:r>
                      <a:endParaRPr sz="13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No aplica</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n-US" sz="1300" u="none" cap="none" strike="noStrike"/>
                        <a:t>No aplica</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rPr lang="en-US" sz="1300" u="none" cap="none" strike="noStrike"/>
                        <a:t>Sin impedimentos</a:t>
                      </a:r>
                      <a:endParaRPr sz="13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8675">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8675">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8675">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h4189661798d1f2e9_0_0"/>
          <p:cNvSpPr txBox="1"/>
          <p:nvPr>
            <p:ph idx="12" type="sldNum"/>
          </p:nvPr>
        </p:nvSpPr>
        <p:spPr>
          <a:xfrm>
            <a:off x="9890450" y="63801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71" name="Google Shape;371;h4189661798d1f2e9_0_0"/>
          <p:cNvSpPr txBox="1"/>
          <p:nvPr/>
        </p:nvSpPr>
        <p:spPr>
          <a:xfrm>
            <a:off x="298500" y="264300"/>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Trello</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372" name="Google Shape;372;h4189661798d1f2e9_0_0"/>
          <p:cNvPicPr preferRelativeResize="0"/>
          <p:nvPr/>
        </p:nvPicPr>
        <p:blipFill rotWithShape="1">
          <a:blip r:embed="rId4">
            <a:alphaModFix/>
          </a:blip>
          <a:srcRect b="0" l="0" r="0" t="0"/>
          <a:stretch/>
        </p:blipFill>
        <p:spPr>
          <a:xfrm>
            <a:off x="167938" y="1278125"/>
            <a:ext cx="11856124" cy="49698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77" name="Shape 377"/>
        <p:cNvGrpSpPr/>
        <p:nvPr/>
      </p:nvGrpSpPr>
      <p:grpSpPr>
        <a:xfrm>
          <a:off x="0" y="0"/>
          <a:ext cx="0" cy="0"/>
          <a:chOff x="0" y="0"/>
          <a:chExt cx="0" cy="0"/>
        </a:xfrm>
      </p:grpSpPr>
      <p:sp>
        <p:nvSpPr>
          <p:cNvPr id="378" name="Google Shape;378;p18"/>
          <p:cNvSpPr txBox="1"/>
          <p:nvPr/>
        </p:nvSpPr>
        <p:spPr>
          <a:xfrm>
            <a:off x="457200" y="219456"/>
            <a:ext cx="11277295"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Cronograma del Proyecto y Carta Gantt</a:t>
            </a:r>
            <a:endParaRPr b="0" i="0" sz="1400" u="none" cap="none" strike="noStrike">
              <a:solidFill>
                <a:srgbClr val="000000"/>
              </a:solidFill>
              <a:latin typeface="Arial"/>
              <a:ea typeface="Arial"/>
              <a:cs typeface="Arial"/>
              <a:sym typeface="Arial"/>
            </a:endParaRPr>
          </a:p>
        </p:txBody>
      </p:sp>
      <p:sp>
        <p:nvSpPr>
          <p:cNvPr id="379" name="Google Shape;379;p18"/>
          <p:cNvSpPr txBox="1"/>
          <p:nvPr>
            <p:ph idx="12" type="sldNum"/>
          </p:nvPr>
        </p:nvSpPr>
        <p:spPr>
          <a:xfrm>
            <a:off x="9600900" y="63831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80" name="Google Shape;380;p18"/>
          <p:cNvPicPr preferRelativeResize="0"/>
          <p:nvPr/>
        </p:nvPicPr>
        <p:blipFill rotWithShape="1">
          <a:blip r:embed="rId3">
            <a:alphaModFix/>
          </a:blip>
          <a:srcRect b="0" l="0" r="0" t="0"/>
          <a:stretch/>
        </p:blipFill>
        <p:spPr>
          <a:xfrm>
            <a:off x="152400" y="802743"/>
            <a:ext cx="11700958" cy="542803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84" name="Shape 384"/>
        <p:cNvGrpSpPr/>
        <p:nvPr/>
      </p:nvGrpSpPr>
      <p:grpSpPr>
        <a:xfrm>
          <a:off x="0" y="0"/>
          <a:ext cx="0" cy="0"/>
          <a:chOff x="0" y="0"/>
          <a:chExt cx="0" cy="0"/>
        </a:xfrm>
      </p:grpSpPr>
      <p:sp>
        <p:nvSpPr>
          <p:cNvPr id="385" name="Google Shape;385;h1fd0423cc0bc1287_0_8"/>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86" name="Google Shape;386;h1fd0423cc0bc1287_0_8"/>
          <p:cNvSpPr txBox="1"/>
          <p:nvPr/>
        </p:nvSpPr>
        <p:spPr>
          <a:xfrm>
            <a:off x="298500" y="2874900"/>
            <a:ext cx="115950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Demostración del Demo</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91" name="Shape 391"/>
        <p:cNvGrpSpPr/>
        <p:nvPr/>
      </p:nvGrpSpPr>
      <p:grpSpPr>
        <a:xfrm>
          <a:off x="0" y="0"/>
          <a:ext cx="0" cy="0"/>
          <a:chOff x="0" y="0"/>
          <a:chExt cx="0" cy="0"/>
        </a:xfrm>
      </p:grpSpPr>
      <p:sp>
        <p:nvSpPr>
          <p:cNvPr id="392" name="Google Shape;392;p19"/>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Conclusiones: Sinergia de Ingeniería Informática y Escalabilidad</a:t>
            </a:r>
            <a:endParaRPr b="0" i="0" sz="1400" u="none" cap="none" strike="noStrike">
              <a:solidFill>
                <a:srgbClr val="000000"/>
              </a:solidFill>
              <a:latin typeface="Arial"/>
              <a:ea typeface="Arial"/>
              <a:cs typeface="Arial"/>
              <a:sym typeface="Arial"/>
            </a:endParaRPr>
          </a:p>
        </p:txBody>
      </p:sp>
      <p:sp>
        <p:nvSpPr>
          <p:cNvPr id="393" name="Google Shape;393;p19"/>
          <p:cNvSpPr txBox="1"/>
          <p:nvPr/>
        </p:nvSpPr>
        <p:spPr>
          <a:xfrm>
            <a:off x="457075" y="1840025"/>
            <a:ext cx="3383400" cy="251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C2410C"/>
                </a:solidFill>
                <a:latin typeface="Arial"/>
                <a:ea typeface="Arial"/>
                <a:cs typeface="Arial"/>
                <a:sym typeface="Arial"/>
              </a:rPr>
              <a:t>CONCLUSIONES DEL PROYECTO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Estabilidad Ágil: La aplicación rigurosa de Scrum (sprints de 3 semanas) mitigó tempranamente los riesgos técnicos de la integración del backend con la API de 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Experiencia Diferenciada: La plataforma no es solo un e-commerce, es una herramienta interactiva de venta asistida que suprime barreras de conocimiento del usuario capilar.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Soberanía Comercial: Monsite recupera el control de su catálogo, promociones, precios y de la estética original de su empaque premium, recuperando el margen.</a:t>
            </a:r>
            <a:endParaRPr b="0" i="0" sz="1400" u="none" cap="none" strike="noStrike">
              <a:solidFill>
                <a:srgbClr val="000000"/>
              </a:solidFill>
              <a:latin typeface="Arial"/>
              <a:ea typeface="Arial"/>
              <a:cs typeface="Arial"/>
              <a:sym typeface="Arial"/>
            </a:endParaRPr>
          </a:p>
        </p:txBody>
      </p:sp>
      <p:sp>
        <p:nvSpPr>
          <p:cNvPr id="394" name="Google Shape;394;p19"/>
          <p:cNvSpPr txBox="1"/>
          <p:nvPr/>
        </p:nvSpPr>
        <p:spPr>
          <a:xfrm>
            <a:off x="4114738" y="1840025"/>
            <a:ext cx="3383400" cy="2008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B8A6"/>
                </a:solidFill>
                <a:latin typeface="Arial"/>
                <a:ea typeface="Arial"/>
                <a:cs typeface="Arial"/>
                <a:sym typeface="Arial"/>
              </a:rPr>
              <a:t>PRÓXIMOS PASOS DEL NEGOCIO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Reentrenamiento Continuo de IA: Ampliar el volumen de imágenes capilares recolectadas para mejorar la precisión del modelo ResNet50.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Pasarelas de Pago Redundantes: Implementar de forma nativa la integración de Transbank Plus (Webpay) para ofrecer métodos alternativos.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Despacho Automatizado: Conectar la bodega del sistema mediante APIs directamente con operadores chilenos de mensajería (couriers logísticos).</a:t>
            </a:r>
            <a:endParaRPr b="0" i="0" sz="1400" u="none" cap="none" strike="noStrike">
              <a:solidFill>
                <a:srgbClr val="000000"/>
              </a:solidFill>
              <a:latin typeface="Arial"/>
              <a:ea typeface="Arial"/>
              <a:cs typeface="Arial"/>
              <a:sym typeface="Arial"/>
            </a:endParaRPr>
          </a:p>
        </p:txBody>
      </p:sp>
      <p:sp>
        <p:nvSpPr>
          <p:cNvPr id="395" name="Google Shape;395;p19"/>
          <p:cNvSpPr/>
          <p:nvPr/>
        </p:nvSpPr>
        <p:spPr>
          <a:xfrm>
            <a:off x="7772400" y="1188725"/>
            <a:ext cx="3962100" cy="363450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6" name="Google Shape;396;p19"/>
          <p:cNvSpPr txBox="1"/>
          <p:nvPr/>
        </p:nvSpPr>
        <p:spPr>
          <a:xfrm>
            <a:off x="8229600" y="2011680"/>
            <a:ext cx="3504895" cy="320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4B8A6"/>
                </a:solidFill>
                <a:latin typeface="Georgia"/>
                <a:ea typeface="Georgia"/>
                <a:cs typeface="Georgia"/>
                <a:sym typeface="Georgia"/>
              </a:rPr>
              <a:t>SINOPSIS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1300"/>
              <a:buFont typeface="Arial"/>
              <a:buNone/>
            </a:pPr>
            <a:r>
              <a:rPr b="0" i="0" lang="en-US" sz="1300" u="none" cap="none" strike="noStrike">
                <a:solidFill>
                  <a:srgbClr val="F1F5F9"/>
                </a:solidFill>
                <a:latin typeface="Arial"/>
                <a:ea typeface="Arial"/>
                <a:cs typeface="Arial"/>
                <a:sym typeface="Arial"/>
              </a:rPr>
              <a:t>Se entrega una plataforma e-commerce de venta asistida sólida y validada mediante pruebas que cumple los estándares profesionales del perfil de egreso en Ingeniería Informática.</a:t>
            </a:r>
            <a:endParaRPr b="0" i="0" sz="1400" u="none" cap="none" strike="noStrike">
              <a:solidFill>
                <a:srgbClr val="000000"/>
              </a:solidFill>
              <a:latin typeface="Arial"/>
              <a:ea typeface="Arial"/>
              <a:cs typeface="Arial"/>
              <a:sym typeface="Arial"/>
            </a:endParaRPr>
          </a:p>
        </p:txBody>
      </p:sp>
      <p:sp>
        <p:nvSpPr>
          <p:cNvPr id="397" name="Google Shape;397;p19"/>
          <p:cNvSpPr txBox="1"/>
          <p:nvPr>
            <p:ph idx="12" type="sldNum"/>
          </p:nvPr>
        </p:nvSpPr>
        <p:spPr>
          <a:xfrm>
            <a:off x="9600900" y="62630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402" name="Shape 402"/>
        <p:cNvGrpSpPr/>
        <p:nvPr/>
      </p:nvGrpSpPr>
      <p:grpSpPr>
        <a:xfrm>
          <a:off x="0" y="0"/>
          <a:ext cx="0" cy="0"/>
          <a:chOff x="0" y="0"/>
          <a:chExt cx="0" cy="0"/>
        </a:xfrm>
      </p:grpSpPr>
      <p:sp>
        <p:nvSpPr>
          <p:cNvPr id="403" name="Google Shape;403;p20"/>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Reflexiones del Equipo: Competencias de Egreso Puestas en Práctica</a:t>
            </a:r>
            <a:endParaRPr b="0" i="0" sz="1400" u="none" cap="none" strike="noStrike">
              <a:solidFill>
                <a:srgbClr val="000000"/>
              </a:solidFill>
              <a:latin typeface="Arial"/>
              <a:ea typeface="Arial"/>
              <a:cs typeface="Arial"/>
              <a:sym typeface="Arial"/>
            </a:endParaRPr>
          </a:p>
        </p:txBody>
      </p:sp>
      <p:sp>
        <p:nvSpPr>
          <p:cNvPr id="404" name="Google Shape;404;p20"/>
          <p:cNvSpPr/>
          <p:nvPr/>
        </p:nvSpPr>
        <p:spPr>
          <a:xfrm>
            <a:off x="457200" y="1371600"/>
            <a:ext cx="338328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Benjamín Stavrakopulos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50"/>
              <a:buFont typeface="Arial"/>
              <a:buNone/>
            </a:pPr>
            <a:r>
              <a:rPr b="1" i="0" lang="en-US" sz="950" u="none" cap="none" strike="noStrike">
                <a:solidFill>
                  <a:srgbClr val="14B8A6"/>
                </a:solidFill>
                <a:latin typeface="Arial"/>
                <a:ea typeface="Arial"/>
                <a:cs typeface="Arial"/>
                <a:sym typeface="Arial"/>
              </a:rPr>
              <a:t> Backend Developer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050"/>
              <a:buFont typeface="Arial"/>
              <a:buNone/>
            </a:pPr>
            <a:r>
              <a:rPr b="0" i="1" lang="en-US" sz="1050" u="none" cap="none" strike="noStrike">
                <a:solidFill>
                  <a:srgbClr val="1E293B"/>
                </a:solidFill>
                <a:latin typeface="Arial"/>
                <a:ea typeface="Arial"/>
                <a:cs typeface="Arial"/>
                <a:sym typeface="Arial"/>
              </a:rPr>
              <a:t>"Liderar el diseño técnico, la lógica de base de datos en Firestore y las integraciones transaccionales constituyó un profundo desafío de ingeniería. Este proyecto Capstone consolidó mis competencias en la construcción de backend modular en Node.js/Express, la automatización por webhooks de pago reales de Mercado Pago, y la autogestión de equipos de desarrollo incremental con metodologías ágiles."</a:t>
            </a:r>
            <a:endParaRPr b="0" i="0" sz="1400" u="none" cap="none" strike="noStrike">
              <a:solidFill>
                <a:srgbClr val="000000"/>
              </a:solidFill>
              <a:latin typeface="Arial"/>
              <a:ea typeface="Arial"/>
              <a:cs typeface="Arial"/>
              <a:sym typeface="Arial"/>
            </a:endParaRPr>
          </a:p>
        </p:txBody>
      </p:sp>
      <p:sp>
        <p:nvSpPr>
          <p:cNvPr id="405" name="Google Shape;405;p20"/>
          <p:cNvSpPr/>
          <p:nvPr/>
        </p:nvSpPr>
        <p:spPr>
          <a:xfrm>
            <a:off x="4206240" y="1371600"/>
            <a:ext cx="338328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Bastián Lazo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50"/>
              <a:buFont typeface="Arial"/>
              <a:buNone/>
            </a:pPr>
            <a:r>
              <a:rPr b="1" i="0" lang="en-US" sz="950" u="none" cap="none" strike="noStrike">
                <a:solidFill>
                  <a:srgbClr val="C2410C"/>
                </a:solidFill>
                <a:latin typeface="Arial"/>
                <a:ea typeface="Arial"/>
                <a:cs typeface="Arial"/>
                <a:sym typeface="Arial"/>
              </a:rPr>
              <a:t>Team Developer / IA Developer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050"/>
              <a:buFont typeface="Arial"/>
              <a:buNone/>
            </a:pPr>
            <a:r>
              <a:rPr b="0" i="1" lang="en-US" sz="1050" u="none" cap="none" strike="noStrike">
                <a:solidFill>
                  <a:srgbClr val="1E293B"/>
                </a:solidFill>
                <a:latin typeface="Arial"/>
                <a:ea typeface="Arial"/>
                <a:cs typeface="Arial"/>
                <a:sym typeface="Arial"/>
              </a:rPr>
              <a:t>"El preprocesamiento, aumento de datos y entrenamiento del modelo ResNet50 mediante fine-tuning me permitieron profundizar en redes neuronales convolucionales aplicadas a un caso de negocio tradicional. Superar los retos de calidad fotográfica del cabello y desplegar de forma desacoplada un microservicio cloud de inferencia en FastAPI sobre Render fue un aprendizaje de incalculable valor."</a:t>
            </a:r>
            <a:endParaRPr b="0" i="0" sz="1400" u="none" cap="none" strike="noStrike">
              <a:solidFill>
                <a:srgbClr val="000000"/>
              </a:solidFill>
              <a:latin typeface="Arial"/>
              <a:ea typeface="Arial"/>
              <a:cs typeface="Arial"/>
              <a:sym typeface="Arial"/>
            </a:endParaRPr>
          </a:p>
        </p:txBody>
      </p:sp>
      <p:sp>
        <p:nvSpPr>
          <p:cNvPr id="406" name="Google Shape;406;p20"/>
          <p:cNvSpPr/>
          <p:nvPr/>
        </p:nvSpPr>
        <p:spPr>
          <a:xfrm>
            <a:off x="7955280" y="1371600"/>
            <a:ext cx="338328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Francisca Guzmán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50"/>
              <a:buFont typeface="Arial"/>
              <a:buNone/>
            </a:pPr>
            <a:r>
              <a:rPr b="1" i="0" lang="en-US" sz="950" u="none" cap="none" strike="noStrike">
                <a:solidFill>
                  <a:srgbClr val="14B8A6"/>
                </a:solidFill>
                <a:latin typeface="Arial"/>
                <a:ea typeface="Arial"/>
                <a:cs typeface="Arial"/>
                <a:sym typeface="Arial"/>
              </a:rPr>
              <a:t>Scrum Master / Frontend Developer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050"/>
              <a:buFont typeface="Arial"/>
              <a:buNone/>
            </a:pPr>
            <a:r>
              <a:rPr b="0" i="1" lang="en-US" sz="1050" u="none" cap="none" strike="noStrike">
                <a:solidFill>
                  <a:srgbClr val="1E293B"/>
                </a:solidFill>
                <a:latin typeface="Arial"/>
                <a:ea typeface="Arial"/>
                <a:cs typeface="Arial"/>
                <a:sym typeface="Arial"/>
              </a:rPr>
              <a:t>“En conclusión, mi participación como Scrum Master y Frontend Developer me permitió contribuir tanto en la organización del equipo como en el desarrollo de una interfaz clara, responsiva e intuitiva para Monsite. Además, apoyé la planificación, documentación y seguimiento del proyecto, contribuyendo al cumplimiento de los objetivos y al trabajo colaborativo. “</a:t>
            </a:r>
            <a:endParaRPr b="0" i="0" sz="1400" u="none" cap="none" strike="noStrike">
              <a:solidFill>
                <a:srgbClr val="000000"/>
              </a:solidFill>
              <a:latin typeface="Arial"/>
              <a:ea typeface="Arial"/>
              <a:cs typeface="Arial"/>
              <a:sym typeface="Arial"/>
            </a:endParaRPr>
          </a:p>
        </p:txBody>
      </p:sp>
      <p:sp>
        <p:nvSpPr>
          <p:cNvPr id="407" name="Google Shape;407;p20"/>
          <p:cNvSpPr txBox="1"/>
          <p:nvPr>
            <p:ph idx="12" type="sldNum"/>
          </p:nvPr>
        </p:nvSpPr>
        <p:spPr>
          <a:xfrm>
            <a:off x="9678950" y="62179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411" name="Shape 411"/>
        <p:cNvGrpSpPr/>
        <p:nvPr/>
      </p:nvGrpSpPr>
      <p:grpSpPr>
        <a:xfrm>
          <a:off x="0" y="0"/>
          <a:ext cx="0" cy="0"/>
          <a:chOff x="0" y="0"/>
          <a:chExt cx="0" cy="0"/>
        </a:xfrm>
      </p:grpSpPr>
      <p:sp>
        <p:nvSpPr>
          <p:cNvPr id="412" name="Google Shape;412;h2a029743ffb0fa9e_1_90"/>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13" name="Google Shape;413;h2a029743ffb0fa9e_1_90"/>
          <p:cNvSpPr txBox="1"/>
          <p:nvPr/>
        </p:nvSpPr>
        <p:spPr>
          <a:xfrm>
            <a:off x="298500" y="2830350"/>
            <a:ext cx="115950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¡Muchas gracias por su atención!</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7" name="Shape 417"/>
        <p:cNvGrpSpPr/>
        <p:nvPr/>
      </p:nvGrpSpPr>
      <p:grpSpPr>
        <a:xfrm>
          <a:off x="0" y="0"/>
          <a:ext cx="0" cy="0"/>
          <a:chOff x="0" y="0"/>
          <a:chExt cx="0" cy="0"/>
        </a:xfrm>
      </p:grpSpPr>
      <p:sp>
        <p:nvSpPr>
          <p:cNvPr id="418" name="Google Shape;418;h4189661798d1f2e9_1_0"/>
          <p:cNvSpPr txBox="1"/>
          <p:nvPr>
            <p:ph idx="12" type="sldNum"/>
          </p:nvPr>
        </p:nvSpPr>
        <p:spPr>
          <a:xfrm>
            <a:off x="9906000" y="627700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419" name="Google Shape;419;h4189661798d1f2e9_1_0"/>
          <p:cNvPicPr preferRelativeResize="0"/>
          <p:nvPr/>
        </p:nvPicPr>
        <p:blipFill rotWithShape="1">
          <a:blip r:embed="rId3">
            <a:alphaModFix/>
          </a:blip>
          <a:srcRect b="0" l="0" r="0" t="0"/>
          <a:stretch/>
        </p:blipFill>
        <p:spPr>
          <a:xfrm>
            <a:off x="152400" y="1728850"/>
            <a:ext cx="11887201" cy="3993357"/>
          </a:xfrm>
          <a:prstGeom prst="rect">
            <a:avLst/>
          </a:prstGeom>
          <a:noFill/>
          <a:ln>
            <a:noFill/>
          </a:ln>
        </p:spPr>
      </p:pic>
      <p:sp>
        <p:nvSpPr>
          <p:cNvPr id="420" name="Google Shape;420;h4189661798d1f2e9_1_0"/>
          <p:cNvSpPr txBox="1"/>
          <p:nvPr/>
        </p:nvSpPr>
        <p:spPr>
          <a:xfrm>
            <a:off x="457350" y="742950"/>
            <a:ext cx="112773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Costos del Proyecto</a:t>
            </a:r>
            <a:endParaRPr b="1" i="0" sz="2800" u="none" cap="none" strike="noStrike">
              <a:solidFill>
                <a:srgbClr val="1E293B"/>
              </a:solidFill>
              <a:latin typeface="Georgia"/>
              <a:ea typeface="Georgia"/>
              <a:cs typeface="Georgia"/>
              <a:sym typeface="Georgi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BF7"/>
        </a:solidFill>
      </p:bgPr>
    </p:bg>
    <p:spTree>
      <p:nvGrpSpPr>
        <p:cNvPr id="424" name="Shape 424"/>
        <p:cNvGrpSpPr/>
        <p:nvPr/>
      </p:nvGrpSpPr>
      <p:grpSpPr>
        <a:xfrm>
          <a:off x="0" y="0"/>
          <a:ext cx="0" cy="0"/>
          <a:chOff x="0" y="0"/>
          <a:chExt cx="0" cy="0"/>
        </a:xfrm>
      </p:grpSpPr>
      <p:sp>
        <p:nvSpPr>
          <p:cNvPr id="425" name="Google Shape;425;h4f042c98fa66798a_1_43"/>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26" name="Google Shape;426;h4f042c98fa66798a_1_43"/>
          <p:cNvSpPr txBox="1"/>
          <p:nvPr/>
        </p:nvSpPr>
        <p:spPr>
          <a:xfrm>
            <a:off x="213963"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1: Evidencias de Plan de Pruebas</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427" name="Google Shape;427;h4f042c98fa66798a_1_43"/>
          <p:cNvGraphicFramePr/>
          <p:nvPr/>
        </p:nvGraphicFramePr>
        <p:xfrm>
          <a:off x="652425" y="1043675"/>
          <a:ext cx="3000000" cy="3000000"/>
        </p:xfrm>
        <a:graphic>
          <a:graphicData uri="http://schemas.openxmlformats.org/drawingml/2006/table">
            <a:tbl>
              <a:tblPr>
                <a:noFill/>
                <a:tableStyleId>{6F006452-1367-4105-9177-328A18D45F04}</a:tableStyleId>
              </a:tblPr>
              <a:tblGrid>
                <a:gridCol w="1566975"/>
                <a:gridCol w="1566975"/>
                <a:gridCol w="2883200"/>
                <a:gridCol w="1566975"/>
                <a:gridCol w="1566975"/>
                <a:gridCol w="1566975"/>
              </a:tblGrid>
              <a:tr h="165975">
                <a:tc gridSpan="6">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t>Defectos Encontrados en las Pruebas</a:t>
                      </a:r>
                      <a:endParaRPr b="1" sz="12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c hMerge="1"/>
                <a:tc hMerge="1"/>
              </a:tr>
              <a:tr h="140450">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ID. Defecto</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ID CP.</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Descripción Detallada</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Tipo</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Severidad</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Estado</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618650">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DP-01</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CP-02</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u="none" cap="none" strike="noStrike"/>
                        <a:t>Imágenes de productos excedían los límites de sus contenedores.</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No funcional</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Medio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Corregido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16500">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DP-02</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CP-06</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u="none" cap="none" strike="noStrike"/>
                        <a:t>El mensaje de búsqueda sin resultados presentaba problemas de alineación.</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No funcional</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Leve</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Corregido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16500">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DP-03</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CP-07</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u="none" cap="none" strike="noStrike"/>
                        <a:t>Los filtros presentaban problemas de adaptación en resoluciones tipo tablet.</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No funcional</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Medio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Corregido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18650">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DP-04</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CP-08</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u="none" cap="none" strike="noStrike"/>
                        <a:t>Algunas tarjetas cambiaban de tamaño al aplicar filtros.</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No funcional</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Medio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Corregido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67575">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DP-05</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CP-11</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u="none" cap="none" strike="noStrike"/>
                        <a:t>El formulario de registro presentaba desalineación en resoluciones poco comunes.</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No funcional</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Medio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Corregido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67575">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DP-06</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CP-14</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u="none" cap="none" strike="noStrike"/>
                        <a:t>El header no mantenía una presentación consistente entre distintas vistas.</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No funcional</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Leve</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US" sz="1200" u="none" cap="none" strike="noStrike"/>
                        <a:t>Corregido</a:t>
                      </a:r>
                      <a:endParaRPr sz="12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BF7"/>
        </a:solidFill>
      </p:bgPr>
    </p:bg>
    <p:spTree>
      <p:nvGrpSpPr>
        <p:cNvPr id="431" name="Shape 431"/>
        <p:cNvGrpSpPr/>
        <p:nvPr/>
      </p:nvGrpSpPr>
      <p:grpSpPr>
        <a:xfrm>
          <a:off x="0" y="0"/>
          <a:ext cx="0" cy="0"/>
          <a:chOff x="0" y="0"/>
          <a:chExt cx="0" cy="0"/>
        </a:xfrm>
      </p:grpSpPr>
      <p:sp>
        <p:nvSpPr>
          <p:cNvPr id="432" name="Google Shape;432;h4f042c98fa66798a_1_50"/>
          <p:cNvSpPr txBox="1"/>
          <p:nvPr>
            <p:ph idx="12" type="sldNum"/>
          </p:nvPr>
        </p:nvSpPr>
        <p:spPr>
          <a:xfrm>
            <a:off x="9910775" y="63087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33" name="Google Shape;433;h4f042c98fa66798a_1_50"/>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Sprint 2: Evidencias de Plan de Pruebas</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graphicFrame>
        <p:nvGraphicFramePr>
          <p:cNvPr id="434" name="Google Shape;434;h4f042c98fa66798a_1_50"/>
          <p:cNvGraphicFramePr/>
          <p:nvPr/>
        </p:nvGraphicFramePr>
        <p:xfrm>
          <a:off x="1092925" y="1426425"/>
          <a:ext cx="3000000" cy="3000000"/>
        </p:xfrm>
        <a:graphic>
          <a:graphicData uri="http://schemas.openxmlformats.org/drawingml/2006/table">
            <a:tbl>
              <a:tblPr>
                <a:noFill/>
                <a:tableStyleId>{6F006452-1367-4105-9177-328A18D45F04}</a:tableStyleId>
              </a:tblPr>
              <a:tblGrid>
                <a:gridCol w="1396375"/>
                <a:gridCol w="1396375"/>
                <a:gridCol w="2569325"/>
                <a:gridCol w="1396375"/>
                <a:gridCol w="1396375"/>
                <a:gridCol w="1396375"/>
              </a:tblGrid>
              <a:tr h="245300">
                <a:tc gridSpan="6">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t>Defectos Encontrados en las Pruebas</a:t>
                      </a:r>
                      <a:endParaRPr b="1" sz="12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c hMerge="1"/>
                <a:tc hMerge="1"/>
              </a:tr>
              <a:tr h="207575">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ID. Defecto</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ID CP.</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Descripción Detallada</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Tipo</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Severidad</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US" sz="1000" u="none" cap="none" strike="noStrike"/>
                        <a:t>Estado</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1201525">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DP-01</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CP-04</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t>El sistema presentó problemas al continuar desde el carrito hacia el proceso de pago.</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Funcional</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Alta</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Corregido</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67775">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DP-02</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CP-05</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t>Se presentaron problemas al modificar las cantidades de los productos en el carrito y actualizar el total.</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Funcional</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Media</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Corregido</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67775">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DP-03</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CP-07</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t>Se presentaron problemas al modificar las cantidades de los productos en el carrito y actualizar el total.</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Funcional</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Media</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Corregido</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