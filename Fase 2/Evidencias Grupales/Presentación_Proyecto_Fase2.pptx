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48"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 uri="GoogleSlidesCustomDataVersion2">
      <go:slidesCustomData xmlns:go="http://customooxmlschemas.google.com/" r:id="rId48" roundtripDataSignature="AMtx7mgMPHKW0RW+yUkH3PTk47m2zlyHiA=="/>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FRANCISCA ANTONIA GUZMAN JEREZ"/>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0E2485E-D91F-48E7-A0F1-2EFC706E8F4D}">
  <a:tblStyle styleId="{50E2485E-D91F-48E7-A0F1-2EFC706E8F4D}"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b="off" i="off"/>
      <a:tcStyle>
        <a:fill>
          <a:solidFill>
            <a:srgbClr val="CFD7E7"/>
          </a:solidFill>
        </a:fill>
      </a:tcStyle>
    </a:band1H>
    <a:band2H>
      <a:tcTxStyle b="off" i="off"/>
    </a:band2H>
    <a:band1V>
      <a:tcTxStyle b="off" i="off"/>
      <a:tcStyle>
        <a:fill>
          <a:solidFill>
            <a:srgbClr val="CFD7E7"/>
          </a:solidFill>
        </a:fill>
      </a:tcStyle>
    </a:band1V>
    <a:band2V>
      <a:tcTxStyle b="off" i="off"/>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 styleId="{ED052C57-221C-4132-B2C9-E8A35B6E6ACB}"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F8D9801F-9451-43A7-AB0E-337E7390A149}" styleName="Table_2">
    <a:wholeTbl>
      <a:tcTxStyle>
        <a:font>
          <a:latin typeface="Arial"/>
          <a:ea typeface="Arial"/>
          <a:cs typeface="Arial"/>
        </a:font>
        <a:srgbClr val="000000"/>
      </a:tcTxStyle>
      <a:tcStyle>
        <a:tcBdr>
          <a:left>
            <a:ln cap="flat" cmpd="sng" w="12700">
              <a:solidFill>
                <a:srgbClr val="000000"/>
              </a:solidFill>
              <a:prstDash val="solid"/>
              <a:round/>
              <a:headEnd len="sm" w="sm" type="none"/>
              <a:tailEnd len="sm" w="sm" type="none"/>
            </a:ln>
          </a:left>
          <a:right>
            <a:ln cap="flat" cmpd="sng" w="12700">
              <a:solidFill>
                <a:srgbClr val="000000"/>
              </a:solidFill>
              <a:prstDash val="solid"/>
              <a:round/>
              <a:headEnd len="sm" w="sm" type="none"/>
              <a:tailEnd len="sm" w="sm" type="none"/>
            </a:ln>
          </a:right>
          <a:top>
            <a:ln cap="flat" cmpd="sng" w="12700">
              <a:solidFill>
                <a:srgbClr val="000000"/>
              </a:solidFill>
              <a:prstDash val="solid"/>
              <a:round/>
              <a:headEnd len="sm" w="sm" type="none"/>
              <a:tailEnd len="sm" w="sm" type="none"/>
            </a:ln>
          </a:top>
          <a:bottom>
            <a:ln cap="flat" cmpd="sng" w="12700">
              <a:solidFill>
                <a:srgbClr val="000000"/>
              </a:solidFill>
              <a:prstDash val="solid"/>
              <a:round/>
              <a:headEnd len="sm" w="sm" type="none"/>
              <a:tailEnd len="sm" w="sm" type="none"/>
            </a:ln>
          </a:bottom>
          <a:insideH>
            <a:ln cap="flat" cmpd="sng" w="12700">
              <a:solidFill>
                <a:srgbClr val="000000"/>
              </a:solidFill>
              <a:prstDash val="solid"/>
              <a:round/>
              <a:headEnd len="sm" w="sm" type="none"/>
              <a:tailEnd len="sm" w="sm" type="none"/>
            </a:ln>
          </a:insideH>
          <a:insideV>
            <a:ln cap="flat" cmpd="sng" w="1270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20" Type="http://schemas.openxmlformats.org/officeDocument/2006/relationships/slide" Target="slides/slide13.xml"/><Relationship Id="rId42" Type="http://schemas.openxmlformats.org/officeDocument/2006/relationships/slide" Target="slides/slide35.xml"/><Relationship Id="rId41" Type="http://schemas.openxmlformats.org/officeDocument/2006/relationships/slide" Target="slides/slide34.xml"/><Relationship Id="rId22" Type="http://schemas.openxmlformats.org/officeDocument/2006/relationships/slide" Target="slides/slide15.xml"/><Relationship Id="rId44" Type="http://schemas.openxmlformats.org/officeDocument/2006/relationships/slide" Target="slides/slide37.xml"/><Relationship Id="rId21" Type="http://schemas.openxmlformats.org/officeDocument/2006/relationships/slide" Target="slides/slide14.xml"/><Relationship Id="rId43" Type="http://schemas.openxmlformats.org/officeDocument/2006/relationships/slide" Target="slides/slide36.xml"/><Relationship Id="rId24" Type="http://schemas.openxmlformats.org/officeDocument/2006/relationships/slide" Target="slides/slide17.xml"/><Relationship Id="rId46" Type="http://schemas.openxmlformats.org/officeDocument/2006/relationships/slide" Target="slides/slide39.xml"/><Relationship Id="rId23" Type="http://schemas.openxmlformats.org/officeDocument/2006/relationships/slide" Target="slides/slide16.xml"/><Relationship Id="rId45" Type="http://schemas.openxmlformats.org/officeDocument/2006/relationships/slide" Target="slides/slide3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48" Type="http://customschemas.google.com/relationships/presentationmetadata" Target="metadata"/><Relationship Id="rId25" Type="http://schemas.openxmlformats.org/officeDocument/2006/relationships/slide" Target="slides/slide18.xml"/><Relationship Id="rId47" Type="http://schemas.openxmlformats.org/officeDocument/2006/relationships/slide" Target="slides/slide40.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commentAuthors" Target="commentAuthors.xml"/><Relationship Id="rId6" Type="http://schemas.openxmlformats.org/officeDocument/2006/relationships/slideMaster" Target="slideMasters/slideMaster1.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37" Type="http://schemas.openxmlformats.org/officeDocument/2006/relationships/slide" Target="slides/slide30.xml"/><Relationship Id="rId14" Type="http://schemas.openxmlformats.org/officeDocument/2006/relationships/slide" Target="slides/slide7.xml"/><Relationship Id="rId36" Type="http://schemas.openxmlformats.org/officeDocument/2006/relationships/slide" Target="slides/slide29.xml"/><Relationship Id="rId17" Type="http://schemas.openxmlformats.org/officeDocument/2006/relationships/slide" Target="slides/slide10.xml"/><Relationship Id="rId39" Type="http://schemas.openxmlformats.org/officeDocument/2006/relationships/slide" Target="slides/slide32.xml"/><Relationship Id="rId16" Type="http://schemas.openxmlformats.org/officeDocument/2006/relationships/slide" Target="slides/slide9.xml"/><Relationship Id="rId38" Type="http://schemas.openxmlformats.org/officeDocument/2006/relationships/slide" Target="slides/slide31.xml"/><Relationship Id="rId19" Type="http://schemas.openxmlformats.org/officeDocument/2006/relationships/slide" Target="slides/slide12.xml"/><Relationship Id="rId18" Type="http://schemas.openxmlformats.org/officeDocument/2006/relationships/slide" Target="slides/slide1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7T00:17:33.802">
    <p:pos x="6000" y="0"/>
    <p:text>Nose donde meterlo</p:text>
    <p:extLst>
      <p:ext uri="{C676402C-5697-4E1C-873F-D02D1690AC5C}">
        <p15:threadingInfo timeZoneBias="0"/>
      </p:ext>
      <p:ext uri="http://customooxmlschemas.google.com/">
        <go:slidesCustomData xmlns:go="http://customooxmlschemas.google.com/" commentPostId="AAACIRn7EZ4"/>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b="0" i="0" lang="en-US" sz="1200" u="none" cap="none" strike="noStrike">
                <a:solidFill>
                  <a:schemeClr val="dk1"/>
                </a:solidFill>
                <a:latin typeface="Arial"/>
                <a:ea typeface="Arial"/>
                <a:cs typeface="Arial"/>
                <a:sym typeface="Arial"/>
              </a:rPr>
              <a:t>Guión Portada:</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Estimados miembros de la comisión, muy buenos días. Hoy presentaremos nuestro proyecto de título titulado 'Monsite', una plataforma de comercio electrónico propia y sistema de diagnóstico capilar inteligente con Inteligencia Artificial. El equipo de desarrollo está compuesto por Benjamín Stavrakopulos, Bastián Lazo y Francisca Guzmán, todos estudiantes de Ingeniería Informática de Duoc UC, Sede Viña del Mar.</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Tabla de Contenidos:</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Nuestra presentación se divide de forma estricta en 16 secciones que cubren desde el entendimiento profundo del negocio del cliente, pasando por el diseño técnico, la arquitectura de software, la gestión ágil con Scrum, las evidencias del entrenamiento del modelo de IA, la planificación de sprints, y finalmente las reflexiones.</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 name="Google Shape;98;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Contexto (Grounded in Source Passage 4):</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Monsite comenzó en 2014 como una peluquería física en Santiago. Tras una baja afluencia presencial inicial, la empresa decidió complementar sus actividades vendiendo productos capilares de marcas de prestigio en su mismo local, diversificando sus ingresos. En la pandemia de 2020, ante las restricciones de aforo, Monsite funcionó con clientes limitados y se enfocó en ventas digitales mediante plataformas externas como Cornershop, Rappi y Mercado Libre, logrando un éxito masivo. Sin embargo, post-pandemia, las ventas en estas plataformas disminuyeron y los intermediarios aumentaron sus comisiones y exigencias, lo que redujo severamente los márgenes. Las exigencias de etiquetado adicional en español manual dañaron la imagen de los productos importados y los rechazos arbitrarios dejaron parte del stock sin canal de salida. Esto obligó al equipo a plantear un canal propio.</a:t>
            </a:r>
            <a:endParaRPr/>
          </a:p>
        </p:txBody>
      </p:sp>
      <p:sp>
        <p:nvSpPr>
          <p:cNvPr id="99" name="Google Shape;99;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5" name="Google Shape;115;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Problema (Grounded in Source Passage 4):</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Actualmente, la dependencia en plataformas de terceros limita directamente la rentabilidad y la autonomía de Monsite. La empresa está sujeta a políticas y comisiones de venta elevadas. Además, se suma el problema del etiquetado manual adicional en español que las plataformas exigen adherir sobre los envases originales, lo que afecta negativamente la percepción del cliente acerca de la autenticidad y la presentación del producto. Por último, existe una inmovilización del catálogo debido a restricciones arbitrarias. En el plano del usuario final, este carece de guía o conocimiento técnico para seleccionar los productos capilares adecuados desde un catálogo pasivo de terceros, limitando la conversión de ventas.</a:t>
            </a:r>
            <a:endParaRPr/>
          </a:p>
        </p:txBody>
      </p:sp>
      <p:sp>
        <p:nvSpPr>
          <p:cNvPr id="116" name="Google Shape;116;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Necesidad (Grounded in Source Passage 4):</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Monsite requiere un canal de venta digital propio que le permita administrar de manera autónoma su catálogo de productos, precios, promociones y ventas, eliminando los costos y limitaciones de terceros. Sin embargo, la necesidad va más allá de un e-commerce transaccional básico: se busca trasladar al entorno digital parte de la orientación técnica presencial del salón de peluquería. Esto requiere un sistema interactivo e inteligente que guíe la elección, asista al usuario y le recomiende los productos y tratamientos capilares adecuados para su tipo de pelo.</a:t>
            </a:r>
            <a:endParaRPr/>
          </a:p>
        </p:txBody>
      </p:sp>
      <p:sp>
        <p:nvSpPr>
          <p:cNvPr id="128" name="Google Shape;128;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Solución (Grounded in Source Passage 4, 6 and new Solution Text):</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Nuestra solución unifica el comercio electrónico y la inteligencia artificial para dar soberanía comercial a Monsite. La plataforma propia cuenta con vitrina, catálogo de marcas de prestigio, carrito y pasarela de pago (Mercado Pago). Su elemento innovador y diferenciador es el módulo 'Diagnostica tu cabello' en la página de inicio, que captura imágenes del usuario y, mediante un modelo basado en ResNet50 con fine-tuning, detecta características visibles como grasa, resequedad o deshidratación. Finalmente, la solución relaciona el análisis de la IA con el stock disponible, recomendando fórmulas capilares específicas y educando al cliente sobre su aplicación, emulando la asesoría del salón.</a:t>
            </a:r>
            <a:endParaRPr/>
          </a:p>
        </p:txBody>
      </p:sp>
      <p:sp>
        <p:nvSpPr>
          <p:cNvPr id="140" name="Google Shape;140;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Funcionalidades (Grounded in Source Passages 4, 5, 6, 8):</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Las cuatro áreas funcionales principales de Monsite garantizan el valor del proyecto. Primero, el flujo e-commerce cubre la vitrina dinámica y los cupones. Segundo, el módulo interactivo de IA guía la subida de fotos (general, raíz, puntas) y analiza el cabello. Tercero, la gestión logística en bodega cuenta con perfiles restrictivos para bodegueros con acciones para marcar agotados e inventariar. Cuarto, las alertas de sistema ejecutan el descuento automático de stock y envían notificaciones por WhatsApp de forma segura.</a:t>
            </a:r>
            <a:endParaRPr/>
          </a:p>
        </p:txBody>
      </p:sp>
      <p:sp>
        <p:nvSpPr>
          <p:cNvPr id="149" name="Google Shape;149;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9" name="Google Shape;15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Requerimientos (Grounded in Source Passage 4, 8, and Requisitos):</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En esta tabla consolidamos la ingeniería de requerimientos de Monsite. Mapeamos los requerimientos funcionales críticos como el catálogo dinámico, el cobro por Mercado Pago Checkout Pro, el flujo guiado de cámara web y la validación del consentimiento legal. En el ámbito de los requerimientos no funcionales (RNF), destacamos el atributo de seguridad a través de la política de contraseñas, la anonimización de fotos de entrenamiento capilar para resguardar la privacidad, el cumplimiento normativo estricto según la ley chilena 19.628, y el desempeño de la API que asegura un tiempo de flujo menor a 1 minuto.</a:t>
            </a:r>
            <a:endParaRPr/>
          </a:p>
        </p:txBody>
      </p:sp>
      <p:sp>
        <p:nvSpPr>
          <p:cNvPr id="160" name="Google Shape;160;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Épicas (Grounded in Source Passage 6, 12, 13):</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Estructuramos el desarrollo de Monsite en 5 macro-épicas. La primera, E01, es el módulo de Autenticación de accesos y roles. La segunda, E03-E05, es el flujo de Compra y Pago que unifica carrito, checkout y Mercado Pago. La tercera, E12, es el asistente de diagnóstico capilar por IA basado en ResNet50. La cuarta, E08-E09, es el panel de Administración para gestionar productos, marcas, categorías, códigos de descuento y visualizar métricas de negocio. Y la quinta, E13, es el Panel logístico para bodegueros. De acuerdo con nuestra técnica de priorización ágil, asignamos puntajes de historia (de 60 a 100 puntos) validando que el flujo de compra y la autenticación constituyen el núcleo inicial antes de desplegar las herramientas de administración e IA.</a:t>
            </a:r>
            <a:endParaRPr/>
          </a:p>
        </p:txBody>
      </p:sp>
      <p:sp>
        <p:nvSpPr>
          <p:cNvPr id="168" name="Google Shape;168;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Historias de Usuario (Grounded in Source Passage 12, 13, 14, 15, 16, 36, 38):</a:t>
            </a:r>
            <a:endParaRPr/>
          </a:p>
          <a:p>
            <a:pPr indent="0" lvl="0" marL="0" marR="0" rtl="0" algn="l">
              <a:lnSpc>
                <a:spcPct val="100000"/>
              </a:lnSpc>
              <a:spcBef>
                <a:spcPts val="0"/>
              </a:spcBef>
              <a:spcAft>
                <a:spcPts val="0"/>
              </a:spcAft>
              <a:buSzPts val="1100"/>
              <a:buNone/>
            </a:pPr>
            <a:r>
              <a:rPr lang="en-US" sz="1200">
                <a:solidFill>
                  <a:schemeClr val="dk1"/>
                </a:solidFill>
              </a:rPr>
              <a:t>En este slide mostramos las historias de usuario críticas según los principales roles. Para el cliente, priorizamos la visualización del catálogo y el carrito. Para el administrador, la gestión de productos y el monitoreo mediante métricas. En el caso del bodeguero, consideramos el acceso restringido y la actualización de productos agotados. Finalmente, para visitantes y sistema, incluimos el registro y la seguridad mediante restricciones según el rol.</a:t>
            </a:r>
            <a:endParaRPr sz="1200">
              <a:solidFill>
                <a:schemeClr val="dk1"/>
              </a:solidFill>
            </a:endParaRPr>
          </a:p>
          <a:p>
            <a:pPr indent="0" lvl="0" marL="0" marR="0" rtl="0" algn="l">
              <a:lnSpc>
                <a:spcPct val="100000"/>
              </a:lnSpc>
              <a:spcBef>
                <a:spcPts val="0"/>
              </a:spcBef>
              <a:spcAft>
                <a:spcPts val="0"/>
              </a:spcAft>
              <a:buSzPts val="1100"/>
              <a:buNone/>
            </a:pPr>
            <a:r>
              <a:rPr lang="en-US" sz="1200">
                <a:solidFill>
                  <a:schemeClr val="dk1"/>
                </a:solidFill>
              </a:rPr>
              <a:t>A partir de estas historias y sus prioridades, definimos nuestra planificación de trabajo mediante los siguientes sprints. </a:t>
            </a:r>
            <a:endParaRPr sz="1200">
              <a:solidFill>
                <a:schemeClr val="dk1"/>
              </a:solidFill>
            </a:endParaRPr>
          </a:p>
        </p:txBody>
      </p:sp>
      <p:sp>
        <p:nvSpPr>
          <p:cNvPr id="186" name="Google Shape;186;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Sprints I (Grounded in Source Passage 4, 10, 39):</a:t>
            </a:r>
            <a:endParaRPr/>
          </a:p>
          <a:p>
            <a:pPr indent="0" lvl="0" marL="0" marR="0" rtl="0" algn="l">
              <a:lnSpc>
                <a:spcPct val="100000"/>
              </a:lnSpc>
              <a:spcBef>
                <a:spcPts val="0"/>
              </a:spcBef>
              <a:spcAft>
                <a:spcPts val="0"/>
              </a:spcAft>
              <a:buSzPts val="1100"/>
              <a:buNone/>
            </a:pPr>
            <a:r>
              <a:rPr lang="en-US" sz="1200">
                <a:solidFill>
                  <a:schemeClr val="dk1"/>
                </a:solidFill>
              </a:rPr>
              <a:t>Comenzamos con el Sprint 0, donde preparamos la base técnica del proyecto: GitHub, Firebase, backend, cuentas de prueba para Mercado Pago y Twilio, además de los wireframes en Figma. Luego, en el Sprint 1, desarrollamos el catálogo dinámico y la autenticación, incorporando registro, inicio de sesión y recuperación de contraseña. También implementamos el panel administrativo para gestionar productos e imágenes, junto con el menú y la adaptación responsive. </a:t>
            </a:r>
            <a:endParaRPr sz="1200">
              <a:solidFill>
                <a:schemeClr val="dk1"/>
              </a:solidFill>
              <a:latin typeface="Arial"/>
              <a:ea typeface="Arial"/>
              <a:cs typeface="Arial"/>
              <a:sym typeface="Arial"/>
            </a:endParaRPr>
          </a:p>
          <a:p>
            <a:pPr indent="0" lvl="0" marL="0" marR="0" rtl="0" algn="l">
              <a:lnSpc>
                <a:spcPct val="100000"/>
              </a:lnSpc>
              <a:spcBef>
                <a:spcPts val="0"/>
              </a:spcBef>
              <a:spcAft>
                <a:spcPts val="0"/>
              </a:spcAft>
              <a:buSzPts val="1100"/>
              <a:buNone/>
            </a:pPr>
            <a:r>
              <a:rPr lang="en-US" sz="1200">
                <a:solidFill>
                  <a:schemeClr val="dk1"/>
                </a:solidFill>
              </a:rPr>
              <a:t>Una vez construida esta base y habilitado el núcleo de la plataforma, avanzamos hacia el flujo de compra y las funcionalidades más diferenciadoras del proyecto. </a:t>
            </a:r>
            <a:endParaRPr sz="1200">
              <a:solidFill>
                <a:schemeClr val="dk1"/>
              </a:solidFill>
            </a:endParaRPr>
          </a:p>
        </p:txBody>
      </p:sp>
      <p:sp>
        <p:nvSpPr>
          <p:cNvPr id="197" name="Google Shape;197;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Arquitectura (Grounded in Source Passage 4, 6, 8, 10):</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La arquitectura de Monsite es desacoplada y dividida en 3 capas lógicas. La capa de cliente utiliza HTML, CSS y JavaScript Vanilla, garantizando una carga liviana y adaptabilidad móvil (RNF10). El backend en Node.js y Express gestiona transacciones y el webhook de pago de Mercado Pago, persistiendo información de compras y perfiles en las colecciones de Firebase. Para procesar el análisis capilar pesado de manera independiente, se habilitó un servidor cloud en Render con FastAPI y Python 3.12. Esta API independiente recibe las fotos cargadas en Firebase Storage, ejecuta la inferencia con el modelo ResNet50 entrenado, y devuelve los diagnósticos de forma segura para evitar sobrecargar el flujo transaccional del e-commerce.</a:t>
            </a:r>
            <a:endParaRPr/>
          </a:p>
        </p:txBody>
      </p:sp>
      <p:sp>
        <p:nvSpPr>
          <p:cNvPr id="206" name="Google Shape;206;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h1b6171f8b48e2504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h1b6171f8b48e2504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Arquitectura (Grounded in Source Passage 4, 6, 8, 10):</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La arquitectura de Monsite es desacoplada y dividida en 3 capas lógicas. La capa de cliente utiliza HTML, CSS y JavaScript Vanilla, garantizando una carga liviana y adaptabilidad móvil (RNF10). El backend en Node.js y Express gestiona transacciones y el webhook de pago de Mercado Pago, persistiendo información de compras y perfiles en las colecciones de Firebase. Para procesar el análisis capilar pesado de manera independiente, se habilitó un servidor cloud en Render con FastAPI y Python 3.12. Esta API independiente recibe las fotos cargadas en Firebase Storage, ejecuta la inferencia con el modelo ResNet50 entrenado, y devuelve los diagnósticos de forma segura para evitar sobrecargar el flujo transaccional del e-commerce.</a:t>
            </a:r>
            <a:endParaRPr/>
          </a:p>
        </p:txBody>
      </p:sp>
      <p:sp>
        <p:nvSpPr>
          <p:cNvPr id="214" name="Google Shape;214;h1b6171f8b48e2504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Metodología Scrum (Grounded in Source Passage 4, 6, 8, 10):</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Para garantizar la entrega incremental del software de Monsite, el equipo adoptó la metodología Scrum organizando el desarrollo en 3 sprints principales de 4 semanas cada uno, precedidos de un Sprint 0 técnico. El flujo ágil incluye: 1) El Product Backlog con 47 historias priorizadas y estimadas; 2) Sprint Planning al inicio de cada ciclo; 3) Daily Scrum de 15 minutos para detectar bloqueos del stack Firebase/FastAPI; 4) Sprint Review, donde mostramos de forma transparente las demostraciones de incremento al dueño de Monsite; y 5) Sprint Retrospective, donde documentamos acuerdos de mejora continua.</a:t>
            </a:r>
            <a:endParaRPr/>
          </a:p>
        </p:txBody>
      </p:sp>
      <p:sp>
        <p:nvSpPr>
          <p:cNvPr id="222" name="Google Shape;222;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Equipo de Trabajo (Grounded in Source Passage 4, 6, 10):</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Distribuimos las responsabilidades considerando las fortalezas de cada integrante. Benjamín Stavrakopulos actúa como Product Owner, liderando el desarrollo backend, la base de datos Firestore y la integración transaccional con Mercado Pago. Bastián Lazo es el Team Developer a cargo del Machine Learning, recolectando y procesando el dataset, entrenando la red convolucional ResNet50 y desplegando la API en FastAPI. Francisca Guzmán actúa como Scrum Master, facilitando los rituales, diseñando la experiencia responsiva en Figma, maquetando el frontend y garantizando el control de evidencias. Finalmente, la Directiva de Monsite participa activamente como Stakeholder validando los avances.</a:t>
            </a:r>
            <a:endParaRPr/>
          </a:p>
        </p:txBody>
      </p:sp>
      <p:sp>
        <p:nvSpPr>
          <p:cNvPr id="236" name="Google Shape;23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h2a029743ffb0fa9e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h2a029743ffb0fa9e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h4f042c98fa66798a_1_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h4f042c98fa66798a_1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h4f042c98fa66798a_1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h4f042c98fa66798a_1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h1fd0423cc0bc1287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72" name="Google Shape;272;h1fd0423cc0bc128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h2a029743ffb0fa9e_1_6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h2a029743ffb0fa9e_1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h2a029743ffb0fa9e_1_6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87" name="Google Shape;287;h2a029743ffb0fa9e_1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94553e02aefe5e1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94553e02aefe5e1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h4f042c98fa66798a_1_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h4f042c98fa66798a_1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h4f042c98fa66798a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h4f042c98fa66798a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h4f042c98fa66798a_1_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h4f042c98fa66798a_1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h2a029743ffb0fa9e_1_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h2a029743ffb0fa9e_1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h2a029743ffb0fa9e_1_7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31" name="Google Shape;331;h2a029743ffb0fa9e_1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94553e02aefe5e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94553e02aefe5e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h2a029743ffb0fa9e_1_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h2a029743ffb0fa9e_1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h2a029743ffb0fa9e_1_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h2a029743ffb0fa9e_1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h2a029743ffb0fa9e_1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h2a029743ffb0fa9e_1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h4189661798d1f2e9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68" name="Google Shape;368;h4189661798d1f2e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5" name="Google Shape;375;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rPr>
              <a:t>La Carta Gantt organiza nuestro proyecto en un total de 17 semanas. Durante las semanas 1 y 2 realizamos el levantamiento de requerimientos y la preparación técnica mediante el Sprint 0. Desde la semana 3 hasta la 14 desarrollamos los tres incrementos: catálogo y autenticación, transacciones, e IA y bodega. Finalmente, las semanas 15 a 17 se enfocan en las pruebas de integración, validación del e-commerce y preparación de la defensa final. </a:t>
            </a:r>
            <a:endParaRPr/>
          </a:p>
        </p:txBody>
      </p:sp>
      <p:sp>
        <p:nvSpPr>
          <p:cNvPr id="376" name="Google Shape;376;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h1fd0423cc0bc1287_0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383" name="Google Shape;383;h1fd0423cc0bc1287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9" name="Google Shape;38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Conclusiones (Grounded in Source Passage 4, 6, 8, 10):</a:t>
            </a:r>
            <a:endParaRPr/>
          </a:p>
          <a:p>
            <a:pPr indent="0" lvl="0" marL="0" marR="0" rtl="0" algn="l">
              <a:lnSpc>
                <a:spcPct val="100000"/>
              </a:lnSpc>
              <a:spcBef>
                <a:spcPts val="0"/>
              </a:spcBef>
              <a:spcAft>
                <a:spcPts val="0"/>
              </a:spcAft>
              <a:buSzPts val="1100"/>
              <a:buNone/>
            </a:pPr>
            <a:r>
              <a:rPr lang="en-US" sz="1200">
                <a:solidFill>
                  <a:schemeClr val="dk1"/>
                </a:solidFill>
              </a:rPr>
              <a:t>En conclusión, el desarrollo de Monsite permitió integrar distintas áreas de nuestra carrera, como el comercio electrónico, la persistencia de datos en Firebase y la Inteligencia Artificial mediante redes neuronales convolucionales. Además, demostramos la factibilidad de desarrollar y desplegar una solución operacional de calidad profesional dentro de las 17 semanas establecidas. De cara al futuro del negocio, los próximos pasos estarán enfocados en ampliar y reentrenar el dataset capilar del modelo ResNet50, incorporar Transbank Plus como medio de pago alternativo y automatizar la gestión de bodega mediante APIs de despacho locales. </a:t>
            </a:r>
            <a:endParaRPr/>
          </a:p>
        </p:txBody>
      </p:sp>
      <p:sp>
        <p:nvSpPr>
          <p:cNvPr id="390" name="Google Shape;39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0" name="Google Shape;400;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Guión Reflexiones (Grounded in Source Passage 4, 6):</a:t>
            </a:r>
            <a:endParaRPr/>
          </a:p>
          <a:p>
            <a:pPr indent="0" lvl="0" marL="0" marR="0" rtl="0" algn="l">
              <a:lnSpc>
                <a:spcPct val="100000"/>
              </a:lnSpc>
              <a:spcBef>
                <a:spcPts val="0"/>
              </a:spcBef>
              <a:spcAft>
                <a:spcPts val="0"/>
              </a:spcAft>
              <a:buSzPts val="1100"/>
              <a:buNone/>
            </a:pPr>
            <a:r>
              <a:rPr lang="en-US" sz="1200">
                <a:solidFill>
                  <a:schemeClr val="dk1"/>
                </a:solidFill>
                <a:latin typeface="Arial"/>
                <a:ea typeface="Arial"/>
                <a:cs typeface="Arial"/>
                <a:sym typeface="Arial"/>
              </a:rPr>
              <a:t>Para cerrar, cada uno de nosotros ha reflexionado sobre cómo este proyecto de título Monsite ha consolidado nuestro perfil de egreso en Ingeniería Informática. Benjamín destaca el desarrollo e integración de soluciones de software backend y bases de datos cloud; Bastián destaca la implementación y evaluación de modelos convolucionales avanzados en la nube; y Francisca destaca la experiencia de usuario responsiva, el control documental y la facilitación ágil. Agradecemos enormemente su atención y quedamos a su entera disposición para responder a las preguntas de la comisión. Muchas gracias.</a:t>
            </a:r>
            <a:endParaRPr/>
          </a:p>
        </p:txBody>
      </p:sp>
      <p:sp>
        <p:nvSpPr>
          <p:cNvPr id="401" name="Google Shape;401;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h2a029743ffb0fa9e_1_9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h2a029743ffb0fa9e_1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h4189661798d1f2e9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16" name="Google Shape;416;h4189661798d1f2e9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h4f042c98fa66798a_1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h4f042c98fa66798a_1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h4f042c98fa66798a_1_5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30" name="Google Shape;430;h4f042c98fa66798a_1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2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30"/>
          <p:cNvSpPr/>
          <p:nvPr>
            <p:ph idx="2" type="pic"/>
          </p:nvPr>
        </p:nvSpPr>
        <p:spPr>
          <a:xfrm>
            <a:off x="1792288" y="612775"/>
            <a:ext cx="5486400" cy="4114800"/>
          </a:xfrm>
          <a:prstGeom prst="rect">
            <a:avLst/>
          </a:prstGeom>
          <a:noFill/>
          <a:ln>
            <a:noFill/>
          </a:ln>
        </p:spPr>
      </p:sp>
      <p:sp>
        <p:nvSpPr>
          <p:cNvPr id="64" name="Google Shape;64;p3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3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3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2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4.jpg"/><Relationship Id="rId4" Type="http://schemas.openxmlformats.org/officeDocument/2006/relationships/image" Target="../media/image1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comments" Target="../comments/comment1.xml"/><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84" name="Shape 84"/>
        <p:cNvGrpSpPr/>
        <p:nvPr/>
      </p:nvGrpSpPr>
      <p:grpSpPr>
        <a:xfrm>
          <a:off x="0" y="0"/>
          <a:ext cx="0" cy="0"/>
          <a:chOff x="0" y="0"/>
          <a:chExt cx="0" cy="0"/>
        </a:xfrm>
      </p:grpSpPr>
      <p:sp>
        <p:nvSpPr>
          <p:cNvPr id="85" name="Google Shape;85;p1"/>
          <p:cNvSpPr txBox="1"/>
          <p:nvPr/>
        </p:nvSpPr>
        <p:spPr>
          <a:xfrm>
            <a:off x="731520" y="914400"/>
            <a:ext cx="5943600" cy="5029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2410C"/>
                </a:solidFill>
                <a:latin typeface="Arial"/>
                <a:ea typeface="Arial"/>
                <a:cs typeface="Arial"/>
                <a:sym typeface="Arial"/>
              </a:rPr>
              <a:t>PORTAFOLIO DE TÍTULO — INGENIERÍA INFORMÁTICA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5200"/>
              <a:buFont typeface="Arial"/>
              <a:buNone/>
            </a:pPr>
            <a:r>
              <a:rPr b="1" i="0" lang="en-US" sz="5200" u="none" cap="none" strike="noStrike">
                <a:solidFill>
                  <a:srgbClr val="1E293B"/>
                </a:solidFill>
                <a:latin typeface="Georgia"/>
                <a:ea typeface="Georgia"/>
                <a:cs typeface="Georgia"/>
                <a:sym typeface="Georgia"/>
              </a:rPr>
              <a:t>Monsite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600"/>
              <a:buFont typeface="Arial"/>
              <a:buNone/>
            </a:pPr>
            <a:r>
              <a:rPr b="0" i="0" lang="en-US" sz="1600" u="none" cap="none" strike="noStrike">
                <a:solidFill>
                  <a:srgbClr val="64748B"/>
                </a:solidFill>
                <a:latin typeface="Arial"/>
                <a:ea typeface="Arial"/>
                <a:cs typeface="Arial"/>
                <a:sym typeface="Arial"/>
              </a:rPr>
              <a:t>Plataforma E-Commerce y Diagnóstico Capilar Automatizado con Inteligencia Artificial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600"/>
              </a:spcBef>
              <a:spcAft>
                <a:spcPts val="0"/>
              </a:spcAft>
              <a:buClr>
                <a:srgbClr val="000000"/>
              </a:buClr>
              <a:buSzPts val="1100"/>
              <a:buFont typeface="Arial"/>
              <a:buNone/>
            </a:pPr>
            <a:r>
              <a:rPr b="1" i="0" lang="en-US" sz="1100" u="none" cap="none" strike="noStrike">
                <a:solidFill>
                  <a:srgbClr val="1E293B"/>
                </a:solidFill>
                <a:latin typeface="Arial"/>
                <a:ea typeface="Arial"/>
                <a:cs typeface="Arial"/>
                <a:sym typeface="Arial"/>
              </a:rPr>
              <a:t>INTEGRANTES: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300"/>
              <a:buFont typeface="Arial"/>
              <a:buNone/>
            </a:pPr>
            <a:r>
              <a:rPr b="1" i="0" lang="en-US" sz="1300" u="none" cap="none" strike="noStrike">
                <a:solidFill>
                  <a:srgbClr val="1E293B"/>
                </a:solidFill>
                <a:latin typeface="Arial"/>
                <a:ea typeface="Arial"/>
                <a:cs typeface="Arial"/>
                <a:sym typeface="Arial"/>
              </a:rPr>
              <a:t>•  Benjamín Jesús Stavrakopulos Ruiz</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300"/>
              <a:buFont typeface="Arial"/>
              <a:buNone/>
            </a:pPr>
            <a:r>
              <a:rPr b="1" i="0" lang="en-US" sz="1300" u="none" cap="none" strike="noStrike">
                <a:solidFill>
                  <a:srgbClr val="1E293B"/>
                </a:solidFill>
                <a:latin typeface="Arial"/>
                <a:ea typeface="Arial"/>
                <a:cs typeface="Arial"/>
                <a:sym typeface="Arial"/>
              </a:rPr>
              <a:t>•  Bastián Hofni Lazo Neira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300"/>
              <a:buFont typeface="Arial"/>
              <a:buNone/>
            </a:pPr>
            <a:r>
              <a:rPr b="1" i="0" lang="en-US" sz="1300" u="none" cap="none" strike="noStrike">
                <a:solidFill>
                  <a:srgbClr val="1E293B"/>
                </a:solidFill>
                <a:latin typeface="Arial"/>
                <a:ea typeface="Arial"/>
                <a:cs typeface="Arial"/>
                <a:sym typeface="Arial"/>
              </a:rPr>
              <a:t>•  Francisca Antonia Guzmán Jerez</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800"/>
              </a:spcBef>
              <a:spcAft>
                <a:spcPts val="0"/>
              </a:spcAft>
              <a:buClr>
                <a:srgbClr val="000000"/>
              </a:buClr>
              <a:buSzPts val="1100"/>
              <a:buFont typeface="Arial"/>
              <a:buNone/>
            </a:pPr>
            <a:r>
              <a:rPr b="1" i="0" lang="en-US" sz="1100" u="none" cap="none" strike="noStrike">
                <a:solidFill>
                  <a:srgbClr val="C2410C"/>
                </a:solidFill>
                <a:latin typeface="Arial"/>
                <a:ea typeface="Arial"/>
                <a:cs typeface="Arial"/>
                <a:sym typeface="Arial"/>
              </a:rPr>
              <a:t>DOCENTE: Mauricio Figueroa   |   SEDE: Viña del Mar</a:t>
            </a:r>
            <a:endParaRPr b="0" i="0" sz="1400" u="none" cap="none" strike="noStrike">
              <a:solidFill>
                <a:srgbClr val="000000"/>
              </a:solidFill>
              <a:latin typeface="Arial"/>
              <a:ea typeface="Arial"/>
              <a:cs typeface="Arial"/>
              <a:sym typeface="Arial"/>
            </a:endParaRPr>
          </a:p>
        </p:txBody>
      </p:sp>
      <p:sp>
        <p:nvSpPr>
          <p:cNvPr id="86" name="Google Shape;86;p1"/>
          <p:cNvSpPr/>
          <p:nvPr/>
        </p:nvSpPr>
        <p:spPr>
          <a:xfrm>
            <a:off x="7620000" y="-18288"/>
            <a:ext cx="4572000" cy="6858000"/>
          </a:xfrm>
          <a:prstGeom prst="roundRect">
            <a:avLst>
              <a:gd fmla="val 16667" name="adj"/>
            </a:avLst>
          </a:prstGeom>
          <a:solidFill>
            <a:srgbClr val="0F172A"/>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 name="Google Shape;87;p1"/>
          <p:cNvSpPr txBox="1"/>
          <p:nvPr/>
        </p:nvSpPr>
        <p:spPr>
          <a:xfrm>
            <a:off x="8076895" y="2011680"/>
            <a:ext cx="3657600" cy="3200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400"/>
              <a:buFont typeface="Arial"/>
              <a:buNone/>
            </a:pPr>
            <a:r>
              <a:rPr b="1" i="0" lang="en-US" sz="3400" u="none" cap="none" strike="noStrike">
                <a:solidFill>
                  <a:srgbClr val="14B8A6"/>
                </a:solidFill>
                <a:latin typeface="Georgia"/>
                <a:ea typeface="Georgia"/>
                <a:cs typeface="Georgia"/>
                <a:sym typeface="Georgia"/>
              </a:rPr>
              <a:t>DIAGNÓSTICO</a:t>
            </a:r>
            <a:br>
              <a:rPr b="1" i="0" lang="en-US" sz="3400" u="none" cap="none" strike="noStrike">
                <a:solidFill>
                  <a:srgbClr val="14B8A6"/>
                </a:solidFill>
                <a:latin typeface="Georgia"/>
                <a:ea typeface="Georgia"/>
                <a:cs typeface="Georgia"/>
                <a:sym typeface="Georgia"/>
              </a:rPr>
            </a:br>
            <a:r>
              <a:rPr b="1" i="0" lang="en-US" sz="3400" u="none" cap="none" strike="noStrike">
                <a:solidFill>
                  <a:srgbClr val="14B8A6"/>
                </a:solidFill>
                <a:latin typeface="Georgia"/>
                <a:ea typeface="Georgia"/>
                <a:cs typeface="Georgia"/>
                <a:sym typeface="Georgia"/>
              </a:rPr>
              <a:t>CAPILAR</a:t>
            </a:r>
            <a:br>
              <a:rPr b="1" i="0" lang="en-US" sz="3400" u="none" cap="none" strike="noStrike">
                <a:solidFill>
                  <a:srgbClr val="14B8A6"/>
                </a:solidFill>
                <a:latin typeface="Georgia"/>
                <a:ea typeface="Georgia"/>
                <a:cs typeface="Georgia"/>
                <a:sym typeface="Georgia"/>
              </a:rPr>
            </a:br>
            <a:r>
              <a:rPr b="1" i="0" lang="en-US" sz="3400" u="none" cap="none" strike="noStrike">
                <a:solidFill>
                  <a:srgbClr val="14B8A6"/>
                </a:solidFill>
                <a:latin typeface="Georgia"/>
                <a:ea typeface="Georgia"/>
                <a:cs typeface="Georgia"/>
                <a:sym typeface="Georgia"/>
              </a:rPr>
              <a:t>INTELIGENTE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1300"/>
              <a:buFont typeface="Arial"/>
              <a:buNone/>
            </a:pPr>
            <a:r>
              <a:rPr b="0" i="0" lang="en-US" sz="1300" u="none" cap="none" strike="noStrike">
                <a:solidFill>
                  <a:srgbClr val="F1F5F9"/>
                </a:solidFill>
                <a:latin typeface="Arial"/>
                <a:ea typeface="Arial"/>
                <a:cs typeface="Arial"/>
                <a:sym typeface="Arial"/>
              </a:rPr>
              <a:t>Procesamiento de imágenes mediante transferencia de aprendizaje (Fine-Tuning) sobre ResNet50 para recomendación automatizada de stock capilar.</a:t>
            </a:r>
            <a:endParaRPr b="0" i="0" sz="1400" u="none" cap="none" strike="noStrike">
              <a:solidFill>
                <a:srgbClr val="000000"/>
              </a:solidFill>
              <a:latin typeface="Arial"/>
              <a:ea typeface="Arial"/>
              <a:cs typeface="Arial"/>
              <a:sym typeface="Arial"/>
            </a:endParaRPr>
          </a:p>
        </p:txBody>
      </p:sp>
      <p:sp>
        <p:nvSpPr>
          <p:cNvPr id="88" name="Google Shape;88;p1"/>
          <p:cNvSpPr txBox="1"/>
          <p:nvPr>
            <p:ph idx="12" type="sldNum"/>
          </p:nvPr>
        </p:nvSpPr>
        <p:spPr>
          <a:xfrm>
            <a:off x="9600900" y="6210225"/>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93" name="Shape 93"/>
        <p:cNvGrpSpPr/>
        <p:nvPr/>
      </p:nvGrpSpPr>
      <p:grpSpPr>
        <a:xfrm>
          <a:off x="0" y="0"/>
          <a:ext cx="0" cy="0"/>
          <a:chOff x="0" y="0"/>
          <a:chExt cx="0" cy="0"/>
        </a:xfrm>
      </p:grpSpPr>
      <p:sp>
        <p:nvSpPr>
          <p:cNvPr id="94" name="Google Shape;94;p2"/>
          <p:cNvSpPr txBox="1"/>
          <p:nvPr/>
        </p:nvSpPr>
        <p:spPr>
          <a:xfrm>
            <a:off x="329400" y="215800"/>
            <a:ext cx="112773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Tabla de Contenidos: Agenda del Proyecto</a:t>
            </a:r>
            <a:endParaRPr b="0" i="0" sz="1400" u="none" cap="none" strike="noStrike">
              <a:solidFill>
                <a:srgbClr val="000000"/>
              </a:solidFill>
              <a:latin typeface="Arial"/>
              <a:ea typeface="Arial"/>
              <a:cs typeface="Arial"/>
              <a:sym typeface="Arial"/>
            </a:endParaRPr>
          </a:p>
        </p:txBody>
      </p:sp>
      <p:pic>
        <p:nvPicPr>
          <p:cNvPr id="95" name="Google Shape;95;p2"/>
          <p:cNvPicPr preferRelativeResize="0"/>
          <p:nvPr/>
        </p:nvPicPr>
        <p:blipFill rotWithShape="1">
          <a:blip r:embed="rId3">
            <a:alphaModFix/>
          </a:blip>
          <a:srcRect b="5616" l="0" r="0" t="0"/>
          <a:stretch/>
        </p:blipFill>
        <p:spPr>
          <a:xfrm>
            <a:off x="129375" y="646900"/>
            <a:ext cx="11940528" cy="60748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00" name="Shape 100"/>
        <p:cNvGrpSpPr/>
        <p:nvPr/>
      </p:nvGrpSpPr>
      <p:grpSpPr>
        <a:xfrm>
          <a:off x="0" y="0"/>
          <a:ext cx="0" cy="0"/>
          <a:chOff x="0" y="0"/>
          <a:chExt cx="0" cy="0"/>
        </a:xfrm>
      </p:grpSpPr>
      <p:sp>
        <p:nvSpPr>
          <p:cNvPr id="101" name="Google Shape;101;p3"/>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F1F5F9"/>
                </a:solidFill>
                <a:latin typeface="Georgia"/>
                <a:ea typeface="Georgia"/>
                <a:cs typeface="Georgia"/>
                <a:sym typeface="Georgia"/>
              </a:rPr>
              <a:t>Contexto Comercial: Trayectoria y Evolución de Monsite</a:t>
            </a:r>
            <a:endParaRPr b="0" i="0" sz="1400" u="none" cap="none" strike="noStrike">
              <a:solidFill>
                <a:srgbClr val="000000"/>
              </a:solidFill>
              <a:latin typeface="Arial"/>
              <a:ea typeface="Arial"/>
              <a:cs typeface="Arial"/>
              <a:sym typeface="Arial"/>
            </a:endParaRPr>
          </a:p>
        </p:txBody>
      </p:sp>
      <p:sp>
        <p:nvSpPr>
          <p:cNvPr id="102" name="Google Shape;102;p3"/>
          <p:cNvSpPr/>
          <p:nvPr/>
        </p:nvSpPr>
        <p:spPr>
          <a:xfrm>
            <a:off x="731520" y="2926080"/>
            <a:ext cx="10698480" cy="45720"/>
          </a:xfrm>
          <a:prstGeom prst="rect">
            <a:avLst/>
          </a:prstGeom>
          <a:solidFill>
            <a:srgbClr val="14B8A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3" name="Google Shape;103;p3"/>
          <p:cNvSpPr/>
          <p:nvPr/>
        </p:nvSpPr>
        <p:spPr>
          <a:xfrm>
            <a:off x="1828800" y="2834640"/>
            <a:ext cx="274320" cy="274320"/>
          </a:xfrm>
          <a:prstGeom prst="ellipse">
            <a:avLst/>
          </a:prstGeom>
          <a:solidFill>
            <a:srgbClr val="C2410C"/>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4" name="Google Shape;104;p3"/>
          <p:cNvSpPr txBox="1"/>
          <p:nvPr/>
        </p:nvSpPr>
        <p:spPr>
          <a:xfrm>
            <a:off x="731520" y="1188720"/>
            <a:ext cx="246888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Arial"/>
                <a:ea typeface="Arial"/>
                <a:cs typeface="Arial"/>
                <a:sym typeface="Arial"/>
              </a:rPr>
              <a:t>2014 — Origen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1" i="0" lang="en-US" sz="1400" u="none" cap="none" strike="noStrike">
                <a:solidFill>
                  <a:srgbClr val="FFFFFF"/>
                </a:solidFill>
                <a:latin typeface="Georgia"/>
                <a:ea typeface="Georgia"/>
                <a:cs typeface="Georgia"/>
                <a:sym typeface="Georgia"/>
              </a:rPr>
              <a:t>Fundación del Salón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100"/>
              <a:buFont typeface="Arial"/>
              <a:buNone/>
            </a:pPr>
            <a:r>
              <a:rPr b="0" i="0" lang="en-US" sz="1100" u="none" cap="none" strike="noStrike">
                <a:solidFill>
                  <a:srgbClr val="F1F5F9"/>
                </a:solidFill>
                <a:latin typeface="Arial"/>
                <a:ea typeface="Arial"/>
                <a:cs typeface="Arial"/>
                <a:sym typeface="Arial"/>
              </a:rPr>
              <a:t>Nace la peluquería física en Santiago. Ante una baja afluencia presencial inicial, se decide comercializar productos capilares de forma directa para generar ingresos complementarios.</a:t>
            </a:r>
            <a:endParaRPr b="0" i="0" sz="1400" u="none" cap="none" strike="noStrike">
              <a:solidFill>
                <a:srgbClr val="000000"/>
              </a:solidFill>
              <a:latin typeface="Arial"/>
              <a:ea typeface="Arial"/>
              <a:cs typeface="Arial"/>
              <a:sym typeface="Arial"/>
            </a:endParaRPr>
          </a:p>
        </p:txBody>
      </p:sp>
      <p:sp>
        <p:nvSpPr>
          <p:cNvPr id="105" name="Google Shape;105;p3"/>
          <p:cNvSpPr/>
          <p:nvPr/>
        </p:nvSpPr>
        <p:spPr>
          <a:xfrm>
            <a:off x="4572000" y="2834640"/>
            <a:ext cx="274320" cy="274320"/>
          </a:xfrm>
          <a:prstGeom prst="ellipse">
            <a:avLst/>
          </a:prstGeom>
          <a:solidFill>
            <a:srgbClr val="C2410C"/>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 name="Google Shape;106;p3"/>
          <p:cNvSpPr txBox="1"/>
          <p:nvPr/>
        </p:nvSpPr>
        <p:spPr>
          <a:xfrm>
            <a:off x="3474720" y="3291840"/>
            <a:ext cx="246888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Arial"/>
                <a:ea typeface="Arial"/>
                <a:cs typeface="Arial"/>
                <a:sym typeface="Arial"/>
              </a:rPr>
              <a:t>2020 — Pandemia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1" i="0" lang="en-US" sz="1400" u="none" cap="none" strike="noStrike">
                <a:solidFill>
                  <a:srgbClr val="FFFFFF"/>
                </a:solidFill>
                <a:latin typeface="Georgia"/>
                <a:ea typeface="Georgia"/>
                <a:cs typeface="Georgia"/>
                <a:sym typeface="Georgia"/>
              </a:rPr>
              <a:t>Pivote al Canal Digital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100"/>
              <a:buFont typeface="Arial"/>
              <a:buNone/>
            </a:pPr>
            <a:r>
              <a:rPr b="0" i="0" lang="en-US" sz="1100" u="none" cap="none" strike="noStrike">
                <a:solidFill>
                  <a:srgbClr val="F1F5F9"/>
                </a:solidFill>
                <a:latin typeface="Arial"/>
                <a:ea typeface="Arial"/>
                <a:cs typeface="Arial"/>
                <a:sym typeface="Arial"/>
              </a:rPr>
              <a:t>Las restricciones sanitarias de aforo obligan a Monsite a vender en línea. Se asocia con éxito a plataformas de terceros (Cornershop, Rappi, Mercado Libre) con gran volumen de ventas.</a:t>
            </a:r>
            <a:endParaRPr b="0" i="0" sz="1400" u="none" cap="none" strike="noStrike">
              <a:solidFill>
                <a:srgbClr val="000000"/>
              </a:solidFill>
              <a:latin typeface="Arial"/>
              <a:ea typeface="Arial"/>
              <a:cs typeface="Arial"/>
              <a:sym typeface="Arial"/>
            </a:endParaRPr>
          </a:p>
        </p:txBody>
      </p:sp>
      <p:sp>
        <p:nvSpPr>
          <p:cNvPr id="107" name="Google Shape;107;p3"/>
          <p:cNvSpPr/>
          <p:nvPr/>
        </p:nvSpPr>
        <p:spPr>
          <a:xfrm>
            <a:off x="7315200" y="2834640"/>
            <a:ext cx="274320" cy="274320"/>
          </a:xfrm>
          <a:prstGeom prst="ellipse">
            <a:avLst/>
          </a:prstGeom>
          <a:solidFill>
            <a:srgbClr val="C2410C"/>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 name="Google Shape;108;p3"/>
          <p:cNvSpPr txBox="1"/>
          <p:nvPr/>
        </p:nvSpPr>
        <p:spPr>
          <a:xfrm>
            <a:off x="6217920" y="1188720"/>
            <a:ext cx="246888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Arial"/>
                <a:ea typeface="Arial"/>
                <a:cs typeface="Arial"/>
                <a:sym typeface="Arial"/>
              </a:rPr>
              <a:t>Post-Pandemia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1" i="0" lang="en-US" sz="1400" u="none" cap="none" strike="noStrike">
                <a:solidFill>
                  <a:srgbClr val="FFFFFF"/>
                </a:solidFill>
                <a:latin typeface="Georgia"/>
                <a:ea typeface="Georgia"/>
                <a:cs typeface="Georgia"/>
                <a:sym typeface="Georgia"/>
              </a:rPr>
              <a:t>Erosión de la Rentabilidad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100"/>
              <a:buFont typeface="Arial"/>
              <a:buNone/>
            </a:pPr>
            <a:r>
              <a:rPr b="0" i="0" lang="en-US" sz="1100" u="none" cap="none" strike="noStrike">
                <a:solidFill>
                  <a:srgbClr val="F1F5F9"/>
                </a:solidFill>
                <a:latin typeface="Arial"/>
                <a:ea typeface="Arial"/>
                <a:cs typeface="Arial"/>
                <a:sym typeface="Arial"/>
              </a:rPr>
              <a:t>El retorno a la normalidad presencial reduce las ventas en línea. Simultáneamente, las plataformas externas incrementan drásticamente sus comisiones y exigen mayores trabas operativas.</a:t>
            </a:r>
            <a:endParaRPr b="0" i="0" sz="1400" u="none" cap="none" strike="noStrike">
              <a:solidFill>
                <a:srgbClr val="000000"/>
              </a:solidFill>
              <a:latin typeface="Arial"/>
              <a:ea typeface="Arial"/>
              <a:cs typeface="Arial"/>
              <a:sym typeface="Arial"/>
            </a:endParaRPr>
          </a:p>
        </p:txBody>
      </p:sp>
      <p:sp>
        <p:nvSpPr>
          <p:cNvPr id="109" name="Google Shape;109;p3"/>
          <p:cNvSpPr/>
          <p:nvPr/>
        </p:nvSpPr>
        <p:spPr>
          <a:xfrm>
            <a:off x="10058400" y="2834640"/>
            <a:ext cx="274320" cy="274320"/>
          </a:xfrm>
          <a:prstGeom prst="ellipse">
            <a:avLst/>
          </a:prstGeom>
          <a:solidFill>
            <a:srgbClr val="C2410C"/>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 name="Google Shape;110;p3"/>
          <p:cNvSpPr txBox="1"/>
          <p:nvPr/>
        </p:nvSpPr>
        <p:spPr>
          <a:xfrm>
            <a:off x="8961120" y="3291840"/>
            <a:ext cx="246888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Arial"/>
                <a:ea typeface="Arial"/>
                <a:cs typeface="Arial"/>
                <a:sym typeface="Arial"/>
              </a:rPr>
              <a:t>Actualidad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1" i="0" lang="en-US" sz="1400" u="none" cap="none" strike="noStrike">
                <a:solidFill>
                  <a:srgbClr val="FFFFFF"/>
                </a:solidFill>
                <a:latin typeface="Georgia"/>
                <a:ea typeface="Georgia"/>
                <a:cs typeface="Georgia"/>
                <a:sym typeface="Georgia"/>
              </a:rPr>
              <a:t>Pérdida de Autonomía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100"/>
              <a:buFont typeface="Arial"/>
              <a:buNone/>
            </a:pPr>
            <a:r>
              <a:rPr b="0" i="0" lang="en-US" sz="1100" u="none" cap="none" strike="noStrike">
                <a:solidFill>
                  <a:srgbClr val="F1F5F9"/>
                </a:solidFill>
                <a:latin typeface="Arial"/>
                <a:ea typeface="Arial"/>
                <a:cs typeface="Arial"/>
                <a:sym typeface="Arial"/>
              </a:rPr>
              <a:t>Se imponen exigencias como re-etiquetado manual en español de envases importados (afectando la autenticidad) y bloqueos arbitrarios de stock, estancando parte de su catálogo.</a:t>
            </a:r>
            <a:endParaRPr b="0" i="0" sz="1400" u="none" cap="none" strike="noStrike">
              <a:solidFill>
                <a:srgbClr val="000000"/>
              </a:solidFill>
              <a:latin typeface="Arial"/>
              <a:ea typeface="Arial"/>
              <a:cs typeface="Arial"/>
              <a:sym typeface="Arial"/>
            </a:endParaRPr>
          </a:p>
        </p:txBody>
      </p:sp>
      <p:sp>
        <p:nvSpPr>
          <p:cNvPr id="111" name="Google Shape;111;p3"/>
          <p:cNvSpPr txBox="1"/>
          <p:nvPr/>
        </p:nvSpPr>
        <p:spPr>
          <a:xfrm>
            <a:off x="731520" y="5394960"/>
            <a:ext cx="10728655" cy="8229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Arial"/>
                <a:ea typeface="Arial"/>
                <a:cs typeface="Arial"/>
                <a:sym typeface="Arial"/>
              </a:rPr>
              <a:t>CONCLUSIÓN: La dependencia absoluta de plataformas de terceros erosionó los márgenes y arrebató a Monsite el control de la presentación original de su marca, detonando la urgencia de construir un e-commerce transaccional con soberanía absoluta.</a:t>
            </a:r>
            <a:endParaRPr b="0" i="0" sz="1400" u="none" cap="none" strike="noStrike">
              <a:solidFill>
                <a:srgbClr val="000000"/>
              </a:solidFill>
              <a:latin typeface="Arial"/>
              <a:ea typeface="Arial"/>
              <a:cs typeface="Arial"/>
              <a:sym typeface="Arial"/>
            </a:endParaRPr>
          </a:p>
        </p:txBody>
      </p:sp>
      <p:sp>
        <p:nvSpPr>
          <p:cNvPr id="112" name="Google Shape;112;p3"/>
          <p:cNvSpPr txBox="1"/>
          <p:nvPr>
            <p:ph idx="12" type="sldNum"/>
          </p:nvPr>
        </p:nvSpPr>
        <p:spPr>
          <a:xfrm>
            <a:off x="9600900" y="6217925"/>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117" name="Shape 117"/>
        <p:cNvGrpSpPr/>
        <p:nvPr/>
      </p:nvGrpSpPr>
      <p:grpSpPr>
        <a:xfrm>
          <a:off x="0" y="0"/>
          <a:ext cx="0" cy="0"/>
          <a:chOff x="0" y="0"/>
          <a:chExt cx="0" cy="0"/>
        </a:xfrm>
      </p:grpSpPr>
      <p:sp>
        <p:nvSpPr>
          <p:cNvPr id="118" name="Google Shape;118;p4"/>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El Problema: Pérdida de Autonomía, Rentabilidad y Orientación</a:t>
            </a:r>
            <a:endParaRPr b="0" i="0" sz="1400" u="none" cap="none" strike="noStrike">
              <a:solidFill>
                <a:srgbClr val="000000"/>
              </a:solidFill>
              <a:latin typeface="Arial"/>
              <a:ea typeface="Arial"/>
              <a:cs typeface="Arial"/>
              <a:sym typeface="Arial"/>
            </a:endParaRPr>
          </a:p>
        </p:txBody>
      </p:sp>
      <p:sp>
        <p:nvSpPr>
          <p:cNvPr id="119" name="Google Shape;119;p4"/>
          <p:cNvSpPr/>
          <p:nvPr/>
        </p:nvSpPr>
        <p:spPr>
          <a:xfrm>
            <a:off x="457200" y="1371600"/>
            <a:ext cx="3474720" cy="2011680"/>
          </a:xfrm>
          <a:prstGeom prst="roundRect">
            <a:avLst>
              <a:gd fmla="val 16667" name="adj"/>
            </a:avLst>
          </a:prstGeom>
          <a:solidFill>
            <a:srgbClr val="FFFFFF"/>
          </a:solidFill>
          <a:ln cap="flat" cmpd="sng" w="1905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C2410C"/>
                </a:solidFill>
                <a:latin typeface="Georgia"/>
                <a:ea typeface="Georgia"/>
                <a:cs typeface="Georgia"/>
                <a:sym typeface="Georgia"/>
              </a:rPr>
              <a:t>Dependencia Crítica de Terceros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1E293B"/>
                </a:solidFill>
                <a:latin typeface="Arial"/>
                <a:ea typeface="Arial"/>
                <a:cs typeface="Arial"/>
                <a:sym typeface="Arial"/>
              </a:rPr>
              <a:t>La comercialización digital depende de plataformas externas (Cornershop, Rappi, Mercado Libre) que dictan unilateralmente las políticas comerciales.</a:t>
            </a:r>
            <a:endParaRPr b="0" i="0" sz="1400" u="none" cap="none" strike="noStrike">
              <a:solidFill>
                <a:srgbClr val="000000"/>
              </a:solidFill>
              <a:latin typeface="Arial"/>
              <a:ea typeface="Arial"/>
              <a:cs typeface="Arial"/>
              <a:sym typeface="Arial"/>
            </a:endParaRPr>
          </a:p>
        </p:txBody>
      </p:sp>
      <p:sp>
        <p:nvSpPr>
          <p:cNvPr id="120" name="Google Shape;120;p4"/>
          <p:cNvSpPr/>
          <p:nvPr/>
        </p:nvSpPr>
        <p:spPr>
          <a:xfrm>
            <a:off x="4352544" y="1371600"/>
            <a:ext cx="3474720" cy="2011680"/>
          </a:xfrm>
          <a:prstGeom prst="roundRect">
            <a:avLst>
              <a:gd fmla="val 16667" name="adj"/>
            </a:avLst>
          </a:prstGeom>
          <a:solidFill>
            <a:srgbClr val="FFFFFF"/>
          </a:solidFill>
          <a:ln cap="flat" cmpd="sng" w="1905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C2410C"/>
                </a:solidFill>
                <a:latin typeface="Georgia"/>
                <a:ea typeface="Georgia"/>
                <a:cs typeface="Georgia"/>
                <a:sym typeface="Georgia"/>
              </a:rPr>
              <a:t>Erosión de Rentabilidad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1E293B"/>
                </a:solidFill>
                <a:latin typeface="Arial"/>
                <a:ea typeface="Arial"/>
                <a:cs typeface="Arial"/>
                <a:sym typeface="Arial"/>
              </a:rPr>
              <a:t>Comisiones, recargos y tarifas crecientes reducen progresivamente el margen de utilidad obtenido por Monsite en cada transacción digital.</a:t>
            </a:r>
            <a:endParaRPr b="0" i="0" sz="1400" u="none" cap="none" strike="noStrike">
              <a:solidFill>
                <a:srgbClr val="000000"/>
              </a:solidFill>
              <a:latin typeface="Arial"/>
              <a:ea typeface="Arial"/>
              <a:cs typeface="Arial"/>
              <a:sym typeface="Arial"/>
            </a:endParaRPr>
          </a:p>
        </p:txBody>
      </p:sp>
      <p:sp>
        <p:nvSpPr>
          <p:cNvPr id="121" name="Google Shape;121;p4"/>
          <p:cNvSpPr/>
          <p:nvPr/>
        </p:nvSpPr>
        <p:spPr>
          <a:xfrm>
            <a:off x="8247888" y="1371600"/>
            <a:ext cx="3474720" cy="2011680"/>
          </a:xfrm>
          <a:prstGeom prst="roundRect">
            <a:avLst>
              <a:gd fmla="val 16667" name="adj"/>
            </a:avLst>
          </a:prstGeom>
          <a:solidFill>
            <a:srgbClr val="FFFFFF"/>
          </a:solidFill>
          <a:ln cap="flat" cmpd="sng" w="1905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C2410C"/>
                </a:solidFill>
                <a:latin typeface="Georgia"/>
                <a:ea typeface="Georgia"/>
                <a:cs typeface="Georgia"/>
                <a:sym typeface="Georgia"/>
              </a:rPr>
              <a:t>Trabas y Daño de Marca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1E293B"/>
                </a:solidFill>
                <a:latin typeface="Arial"/>
                <a:ea typeface="Arial"/>
                <a:cs typeface="Arial"/>
                <a:sym typeface="Arial"/>
              </a:rPr>
              <a:t>La imposición de re-etiquetado manual y traducción sobre empaques importados perjudica la estética premium y genera desconfianza sobre la autenticidad.</a:t>
            </a:r>
            <a:endParaRPr b="0" i="0" sz="1400" u="none" cap="none" strike="noStrike">
              <a:solidFill>
                <a:srgbClr val="000000"/>
              </a:solidFill>
              <a:latin typeface="Arial"/>
              <a:ea typeface="Arial"/>
              <a:cs typeface="Arial"/>
              <a:sym typeface="Arial"/>
            </a:endParaRPr>
          </a:p>
        </p:txBody>
      </p:sp>
      <p:sp>
        <p:nvSpPr>
          <p:cNvPr id="122" name="Google Shape;122;p4"/>
          <p:cNvSpPr/>
          <p:nvPr/>
        </p:nvSpPr>
        <p:spPr>
          <a:xfrm>
            <a:off x="1645920" y="3749039"/>
            <a:ext cx="4114800" cy="2011680"/>
          </a:xfrm>
          <a:prstGeom prst="roundRect">
            <a:avLst>
              <a:gd fmla="val 16667" name="adj"/>
            </a:avLst>
          </a:prstGeom>
          <a:solidFill>
            <a:srgbClr val="FFFFFF"/>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C2410C"/>
                </a:solidFill>
                <a:latin typeface="Georgia"/>
                <a:ea typeface="Georgia"/>
                <a:cs typeface="Georgia"/>
                <a:sym typeface="Georgia"/>
              </a:rPr>
              <a:t>Stock Inmovilizado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1E293B"/>
                </a:solidFill>
                <a:latin typeface="Arial"/>
                <a:ea typeface="Arial"/>
                <a:cs typeface="Arial"/>
                <a:sym typeface="Arial"/>
              </a:rPr>
              <a:t>Bloqueos arbitrarios o rechazos de publicación de determinados productos de salón según políticas ajenas de catálogo estancan el inventario.</a:t>
            </a:r>
            <a:endParaRPr b="0" i="0" sz="1400" u="none" cap="none" strike="noStrike">
              <a:solidFill>
                <a:srgbClr val="000000"/>
              </a:solidFill>
              <a:latin typeface="Arial"/>
              <a:ea typeface="Arial"/>
              <a:cs typeface="Arial"/>
              <a:sym typeface="Arial"/>
            </a:endParaRPr>
          </a:p>
        </p:txBody>
      </p:sp>
      <p:sp>
        <p:nvSpPr>
          <p:cNvPr id="123" name="Google Shape;123;p4"/>
          <p:cNvSpPr/>
          <p:nvPr/>
        </p:nvSpPr>
        <p:spPr>
          <a:xfrm>
            <a:off x="6400800" y="3749039"/>
            <a:ext cx="4114800" cy="2011680"/>
          </a:xfrm>
          <a:prstGeom prst="roundRect">
            <a:avLst>
              <a:gd fmla="val 16667" name="adj"/>
            </a:avLst>
          </a:prstGeom>
          <a:solidFill>
            <a:srgbClr val="FFFFFF"/>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C2410C"/>
                </a:solidFill>
                <a:latin typeface="Georgia"/>
                <a:ea typeface="Georgia"/>
                <a:cs typeface="Georgia"/>
                <a:sym typeface="Georgia"/>
              </a:rPr>
              <a:t>Brecha de Compra Capilar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1E293B"/>
                </a:solidFill>
                <a:latin typeface="Arial"/>
                <a:ea typeface="Arial"/>
                <a:cs typeface="Arial"/>
                <a:sym typeface="Arial"/>
              </a:rPr>
              <a:t>Un e-commerce plano de terceros no ofrece orientación. El cliente, sin conocimiento técnico capilar, duda ante la gran variedad y desiste de comprar.</a:t>
            </a:r>
            <a:endParaRPr b="0" i="0" sz="1400" u="none" cap="none" strike="noStrike">
              <a:solidFill>
                <a:srgbClr val="000000"/>
              </a:solidFill>
              <a:latin typeface="Arial"/>
              <a:ea typeface="Arial"/>
              <a:cs typeface="Arial"/>
              <a:sym typeface="Arial"/>
            </a:endParaRPr>
          </a:p>
        </p:txBody>
      </p:sp>
      <p:sp>
        <p:nvSpPr>
          <p:cNvPr id="124" name="Google Shape;124;p4"/>
          <p:cNvSpPr txBox="1"/>
          <p:nvPr>
            <p:ph idx="12" type="sldNum"/>
          </p:nvPr>
        </p:nvSpPr>
        <p:spPr>
          <a:xfrm>
            <a:off x="9600900" y="6263050"/>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129" name="Shape 129"/>
        <p:cNvGrpSpPr/>
        <p:nvPr/>
      </p:nvGrpSpPr>
      <p:grpSpPr>
        <a:xfrm>
          <a:off x="0" y="0"/>
          <a:ext cx="0" cy="0"/>
          <a:chOff x="0" y="0"/>
          <a:chExt cx="0" cy="0"/>
        </a:xfrm>
      </p:grpSpPr>
      <p:sp>
        <p:nvSpPr>
          <p:cNvPr id="130" name="Google Shape;130;p5"/>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La Necesidad: Canal Web Propio y Guía Capilar Inteligente</a:t>
            </a:r>
            <a:endParaRPr b="0" i="0" sz="1400" u="none" cap="none" strike="noStrike">
              <a:solidFill>
                <a:srgbClr val="000000"/>
              </a:solidFill>
              <a:latin typeface="Arial"/>
              <a:ea typeface="Arial"/>
              <a:cs typeface="Arial"/>
              <a:sym typeface="Arial"/>
            </a:endParaRPr>
          </a:p>
        </p:txBody>
      </p:sp>
      <p:sp>
        <p:nvSpPr>
          <p:cNvPr id="131" name="Google Shape;131;p5"/>
          <p:cNvSpPr/>
          <p:nvPr/>
        </p:nvSpPr>
        <p:spPr>
          <a:xfrm>
            <a:off x="457200" y="1371600"/>
            <a:ext cx="4114800" cy="4663440"/>
          </a:xfrm>
          <a:prstGeom prst="roundRect">
            <a:avLst>
              <a:gd fmla="val 16667" name="adj"/>
            </a:avLst>
          </a:prstGeom>
          <a:solidFill>
            <a:srgbClr val="0F172A"/>
          </a:solidFill>
          <a:ln>
            <a:noFill/>
          </a:ln>
          <a:effectLst>
            <a:outerShdw blurRad="40000" rotWithShape="0" dir="5400000" dist="23000">
              <a:srgbClr val="000000">
                <a:alpha val="34902"/>
              </a:srgbClr>
            </a:outerShdw>
          </a:effectLst>
        </p:spPr>
        <p:txBody>
          <a:bodyPr anchorCtr="0" anchor="ctr" bIns="365750" lIns="365750" spcFirstLastPara="1" rIns="365750" wrap="square" tIns="365750">
            <a:noAutofit/>
          </a:bodyPr>
          <a:lstStyle/>
          <a:p>
            <a:pPr indent="0" lvl="0" marL="0" marR="0" rtl="0" algn="ctr">
              <a:lnSpc>
                <a:spcPct val="100000"/>
              </a:lnSpc>
              <a:spcBef>
                <a:spcPts val="0"/>
              </a:spcBef>
              <a:spcAft>
                <a:spcPts val="0"/>
              </a:spcAft>
              <a:buClr>
                <a:srgbClr val="000000"/>
              </a:buClr>
              <a:buSzPts val="2800"/>
              <a:buFont typeface="Arial"/>
              <a:buNone/>
            </a:pPr>
            <a:r>
              <a:rPr b="1" i="0" lang="en-US" sz="2800" u="none" cap="none" strike="noStrike">
                <a:solidFill>
                  <a:srgbClr val="14B8A6"/>
                </a:solidFill>
                <a:latin typeface="Georgia"/>
                <a:ea typeface="Georgia"/>
                <a:cs typeface="Georgia"/>
                <a:sym typeface="Georgia"/>
              </a:rPr>
              <a:t>DIAGNOSTICA</a:t>
            </a:r>
            <a:br>
              <a:rPr b="1" i="0" lang="en-US" sz="2800" u="none" cap="none" strike="noStrike">
                <a:solidFill>
                  <a:srgbClr val="14B8A6"/>
                </a:solidFill>
                <a:latin typeface="Georgia"/>
                <a:ea typeface="Georgia"/>
                <a:cs typeface="Georgia"/>
                <a:sym typeface="Georgia"/>
              </a:rPr>
            </a:br>
            <a:r>
              <a:rPr b="1" i="0" lang="en-US" sz="2800" u="none" cap="none" strike="noStrike">
                <a:solidFill>
                  <a:srgbClr val="14B8A6"/>
                </a:solidFill>
                <a:latin typeface="Georgia"/>
                <a:ea typeface="Georgia"/>
                <a:cs typeface="Georgia"/>
                <a:sym typeface="Georgia"/>
              </a:rPr>
              <a:t>TU CABELLO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1300"/>
              <a:buFont typeface="Arial"/>
              <a:buNone/>
            </a:pPr>
            <a:r>
              <a:rPr b="0" i="0" lang="en-US" sz="1300" u="none" cap="none" strike="noStrike">
                <a:solidFill>
                  <a:srgbClr val="F1F5F9"/>
                </a:solidFill>
                <a:latin typeface="Arial"/>
                <a:ea typeface="Arial"/>
                <a:cs typeface="Arial"/>
                <a:sym typeface="Arial"/>
              </a:rPr>
              <a:t>Trasladar parte de la orientación y asesoría personalizada que el cliente recibe en la peluquería tradicional hacia una experiencia digital autónoma.</a:t>
            </a:r>
            <a:endParaRPr b="0" i="0" sz="1400" u="none" cap="none" strike="noStrike">
              <a:solidFill>
                <a:srgbClr val="000000"/>
              </a:solidFill>
              <a:latin typeface="Arial"/>
              <a:ea typeface="Arial"/>
              <a:cs typeface="Arial"/>
              <a:sym typeface="Arial"/>
            </a:endParaRPr>
          </a:p>
        </p:txBody>
      </p:sp>
      <p:sp>
        <p:nvSpPr>
          <p:cNvPr id="132" name="Google Shape;132;p5"/>
          <p:cNvSpPr/>
          <p:nvPr/>
        </p:nvSpPr>
        <p:spPr>
          <a:xfrm>
            <a:off x="4937760" y="1371600"/>
            <a:ext cx="3291840" cy="2103120"/>
          </a:xfrm>
          <a:prstGeom prst="roundRect">
            <a:avLst>
              <a:gd fmla="val 16667" name="adj"/>
            </a:avLst>
          </a:prstGeom>
          <a:solidFill>
            <a:srgbClr val="FFFFFF"/>
          </a:solidFill>
          <a:ln cap="flat" cmpd="sng" w="1270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228600" lIns="228600" spcFirstLastPara="1" rIns="228600" wrap="square" tIns="228600">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C2410C"/>
                </a:solidFill>
                <a:latin typeface="Georgia"/>
                <a:ea typeface="Georgia"/>
                <a:cs typeface="Georgia"/>
                <a:sym typeface="Georgia"/>
              </a:rPr>
              <a:t>Canal de Venta Digital Propio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1E293B"/>
                </a:solidFill>
                <a:latin typeface="Arial"/>
                <a:ea typeface="Arial"/>
                <a:cs typeface="Arial"/>
                <a:sym typeface="Arial"/>
              </a:rPr>
              <a:t>Plataforma e-commerce autónoma que disminuya las limitaciones operativas y elimine las altas comisiones de terceros.</a:t>
            </a:r>
            <a:endParaRPr b="0" i="0" sz="1400" u="none" cap="none" strike="noStrike">
              <a:solidFill>
                <a:srgbClr val="000000"/>
              </a:solidFill>
              <a:latin typeface="Arial"/>
              <a:ea typeface="Arial"/>
              <a:cs typeface="Arial"/>
              <a:sym typeface="Arial"/>
            </a:endParaRPr>
          </a:p>
        </p:txBody>
      </p:sp>
      <p:sp>
        <p:nvSpPr>
          <p:cNvPr id="133" name="Google Shape;133;p5"/>
          <p:cNvSpPr/>
          <p:nvPr/>
        </p:nvSpPr>
        <p:spPr>
          <a:xfrm>
            <a:off x="8595360" y="1371600"/>
            <a:ext cx="3291840" cy="2103120"/>
          </a:xfrm>
          <a:prstGeom prst="roundRect">
            <a:avLst>
              <a:gd fmla="val 16667" name="adj"/>
            </a:avLst>
          </a:prstGeom>
          <a:solidFill>
            <a:srgbClr val="FFFFFF"/>
          </a:solidFill>
          <a:ln cap="flat" cmpd="sng" w="1270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228600" lIns="228600" spcFirstLastPara="1" rIns="228600" wrap="square" tIns="228600">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C2410C"/>
                </a:solidFill>
                <a:latin typeface="Georgia"/>
                <a:ea typeface="Georgia"/>
                <a:cs typeface="Georgia"/>
                <a:sym typeface="Georgia"/>
              </a:rPr>
              <a:t>Soberanía de Catálogo y Precios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1E293B"/>
                </a:solidFill>
                <a:latin typeface="Arial"/>
                <a:ea typeface="Arial"/>
                <a:cs typeface="Arial"/>
                <a:sym typeface="Arial"/>
              </a:rPr>
              <a:t>Control absoluto para administrar y presentar los productos, precios, stock y promociones de forma directa con los clientes.</a:t>
            </a:r>
            <a:endParaRPr b="0" i="0" sz="1400" u="none" cap="none" strike="noStrike">
              <a:solidFill>
                <a:srgbClr val="000000"/>
              </a:solidFill>
              <a:latin typeface="Arial"/>
              <a:ea typeface="Arial"/>
              <a:cs typeface="Arial"/>
              <a:sym typeface="Arial"/>
            </a:endParaRPr>
          </a:p>
        </p:txBody>
      </p:sp>
      <p:sp>
        <p:nvSpPr>
          <p:cNvPr id="134" name="Google Shape;134;p5"/>
          <p:cNvSpPr/>
          <p:nvPr/>
        </p:nvSpPr>
        <p:spPr>
          <a:xfrm>
            <a:off x="4937760" y="3931920"/>
            <a:ext cx="3291840" cy="2103120"/>
          </a:xfrm>
          <a:prstGeom prst="roundRect">
            <a:avLst>
              <a:gd fmla="val 16667" name="adj"/>
            </a:avLst>
          </a:prstGeom>
          <a:solidFill>
            <a:srgbClr val="FFFFFF"/>
          </a:solidFill>
          <a:ln cap="flat" cmpd="sng" w="1270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228600" lIns="228600" spcFirstLastPara="1" rIns="228600" wrap="square" tIns="228600">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C2410C"/>
                </a:solidFill>
                <a:latin typeface="Georgia"/>
                <a:ea typeface="Georgia"/>
                <a:cs typeface="Georgia"/>
                <a:sym typeface="Georgia"/>
              </a:rPr>
              <a:t>Clasificación Científica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1E293B"/>
                </a:solidFill>
                <a:latin typeface="Arial"/>
                <a:ea typeface="Arial"/>
                <a:cs typeface="Arial"/>
                <a:sym typeface="Arial"/>
              </a:rPr>
              <a:t>Mecanismo computacional inteligente capaz de identificar las necesidades reales del cabello del usuario mediante análisis de imágenes.</a:t>
            </a:r>
            <a:endParaRPr b="0" i="0" sz="1400" u="none" cap="none" strike="noStrike">
              <a:solidFill>
                <a:srgbClr val="000000"/>
              </a:solidFill>
              <a:latin typeface="Arial"/>
              <a:ea typeface="Arial"/>
              <a:cs typeface="Arial"/>
              <a:sym typeface="Arial"/>
            </a:endParaRPr>
          </a:p>
        </p:txBody>
      </p:sp>
      <p:sp>
        <p:nvSpPr>
          <p:cNvPr id="135" name="Google Shape;135;p5"/>
          <p:cNvSpPr/>
          <p:nvPr/>
        </p:nvSpPr>
        <p:spPr>
          <a:xfrm>
            <a:off x="8595360" y="3931920"/>
            <a:ext cx="3291840" cy="2103120"/>
          </a:xfrm>
          <a:prstGeom prst="roundRect">
            <a:avLst>
              <a:gd fmla="val 16667" name="adj"/>
            </a:avLst>
          </a:prstGeom>
          <a:solidFill>
            <a:srgbClr val="FFFFFF"/>
          </a:solidFill>
          <a:ln cap="flat" cmpd="sng" w="1270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228600" lIns="228600" spcFirstLastPara="1" rIns="228600" wrap="square" tIns="228600">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C2410C"/>
                </a:solidFill>
                <a:latin typeface="Georgia"/>
                <a:ea typeface="Georgia"/>
                <a:cs typeface="Georgia"/>
                <a:sym typeface="Georgia"/>
              </a:rPr>
              <a:t>Asesoría Guiada Transaccional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1E293B"/>
                </a:solidFill>
                <a:latin typeface="Arial"/>
                <a:ea typeface="Arial"/>
                <a:cs typeface="Arial"/>
                <a:sym typeface="Arial"/>
              </a:rPr>
              <a:t>Conectar el diagnóstico con la recomendación de stock del catálogo propio, explicando al usuario de forma clara las ventajas de cada producto.</a:t>
            </a:r>
            <a:endParaRPr b="0" i="0" sz="1400" u="none" cap="none" strike="noStrike">
              <a:solidFill>
                <a:srgbClr val="000000"/>
              </a:solidFill>
              <a:latin typeface="Arial"/>
              <a:ea typeface="Arial"/>
              <a:cs typeface="Arial"/>
              <a:sym typeface="Arial"/>
            </a:endParaRPr>
          </a:p>
        </p:txBody>
      </p:sp>
      <p:sp>
        <p:nvSpPr>
          <p:cNvPr id="136" name="Google Shape;136;p5"/>
          <p:cNvSpPr txBox="1"/>
          <p:nvPr>
            <p:ph idx="12" type="sldNum"/>
          </p:nvPr>
        </p:nvSpPr>
        <p:spPr>
          <a:xfrm>
            <a:off x="9753600" y="6356350"/>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141" name="Shape 141"/>
        <p:cNvGrpSpPr/>
        <p:nvPr/>
      </p:nvGrpSpPr>
      <p:grpSpPr>
        <a:xfrm>
          <a:off x="0" y="0"/>
          <a:ext cx="0" cy="0"/>
          <a:chOff x="0" y="0"/>
          <a:chExt cx="0" cy="0"/>
        </a:xfrm>
      </p:grpSpPr>
      <p:sp>
        <p:nvSpPr>
          <p:cNvPr id="142" name="Google Shape;142;p6"/>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Nuestra Solución: E-Commerce y Venta Capilar Asistida con IA</a:t>
            </a:r>
            <a:endParaRPr b="0" i="0" sz="1400" u="none" cap="none" strike="noStrike">
              <a:solidFill>
                <a:srgbClr val="000000"/>
              </a:solidFill>
              <a:latin typeface="Arial"/>
              <a:ea typeface="Arial"/>
              <a:cs typeface="Arial"/>
              <a:sym typeface="Arial"/>
            </a:endParaRPr>
          </a:p>
        </p:txBody>
      </p:sp>
      <p:sp>
        <p:nvSpPr>
          <p:cNvPr id="143" name="Google Shape;143;p6"/>
          <p:cNvSpPr/>
          <p:nvPr/>
        </p:nvSpPr>
        <p:spPr>
          <a:xfrm>
            <a:off x="457200" y="1371600"/>
            <a:ext cx="11277295" cy="3291840"/>
          </a:xfrm>
          <a:prstGeom prst="roundRect">
            <a:avLst>
              <a:gd fmla="val 16667" name="adj"/>
            </a:avLst>
          </a:prstGeom>
          <a:solidFill>
            <a:srgbClr val="0F172A"/>
          </a:solidFill>
          <a:ln cap="flat" cmpd="sng" w="2540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274300" lIns="274300" spcFirstLastPara="1" rIns="274300" wrap="square" tIns="274300">
            <a:no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14B8A6"/>
                </a:solidFill>
                <a:latin typeface="Georgia"/>
                <a:ea typeface="Georgia"/>
                <a:cs typeface="Georgia"/>
                <a:sym typeface="Georgia"/>
              </a:rPr>
              <a:t>Monsite: Canal Transaccional y de Diagnóstico Autónomo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800"/>
              </a:spcBef>
              <a:spcAft>
                <a:spcPts val="0"/>
              </a:spcAft>
              <a:buClr>
                <a:srgbClr val="000000"/>
              </a:buClr>
              <a:buSzPts val="1300"/>
              <a:buFont typeface="Arial"/>
              <a:buNone/>
            </a:pPr>
            <a:r>
              <a:rPr b="0" i="0" lang="en-US" sz="1300" u="none" cap="none" strike="noStrike">
                <a:solidFill>
                  <a:srgbClr val="F1F5F9"/>
                </a:solidFill>
                <a:latin typeface="Arial"/>
                <a:ea typeface="Arial"/>
                <a:cs typeface="Arial"/>
                <a:sym typeface="Arial"/>
              </a:rPr>
              <a:t>Canal de venta asistida que combina comercio electrónico e inteligencia artificial para comercializar directamente los productos capilares de Monsite sin depender de terceros, digitalizando la experiencia del salón de peluquería.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600"/>
              </a:spcBef>
              <a:spcAft>
                <a:spcPts val="0"/>
              </a:spcAft>
              <a:buClr>
                <a:srgbClr val="000000"/>
              </a:buClr>
              <a:buSzPts val="1200"/>
              <a:buFont typeface="Arial"/>
              <a:buNone/>
            </a:pPr>
            <a:r>
              <a:rPr b="1" i="0" lang="en-US" sz="1200" u="none" cap="none" strike="noStrike">
                <a:solidFill>
                  <a:srgbClr val="C2410C"/>
                </a:solidFill>
                <a:latin typeface="Arial"/>
                <a:ea typeface="Arial"/>
                <a:cs typeface="Arial"/>
                <a:sym typeface="Arial"/>
              </a:rPr>
              <a:t>• PLATAFORMA PROPIA:</a:t>
            </a:r>
            <a:r>
              <a:rPr b="0" i="0" lang="en-US" sz="1100" u="none" cap="none" strike="noStrike">
                <a:solidFill>
                  <a:srgbClr val="F1F5F9"/>
                </a:solidFill>
                <a:latin typeface="Arial"/>
                <a:ea typeface="Arial"/>
                <a:cs typeface="Arial"/>
                <a:sym typeface="Arial"/>
              </a:rPr>
              <a:t> Catálogo interactivo de marcas de prestigio, carrito lateral persistente, checkout seguro con pasarela de pago y control de bodega.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2410C"/>
                </a:solidFill>
                <a:latin typeface="Arial"/>
                <a:ea typeface="Arial"/>
                <a:cs typeface="Arial"/>
                <a:sym typeface="Arial"/>
              </a:rPr>
              <a:t>• MÓDULO 'DIAGNOSTICA TU CABELLO':</a:t>
            </a:r>
            <a:r>
              <a:rPr b="0" i="0" lang="en-US" sz="1100" u="none" cap="none" strike="noStrike">
                <a:solidFill>
                  <a:srgbClr val="F1F5F9"/>
                </a:solidFill>
                <a:latin typeface="Arial"/>
                <a:ea typeface="Arial"/>
                <a:cs typeface="Arial"/>
                <a:sym typeface="Arial"/>
              </a:rPr>
              <a:t> Herramienta inteligente desde la página principal que analiza fotos de cabello para identificar resequedad, daño o deshidratación.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2410C"/>
                </a:solidFill>
                <a:latin typeface="Arial"/>
                <a:ea typeface="Arial"/>
                <a:cs typeface="Arial"/>
                <a:sym typeface="Arial"/>
              </a:rPr>
              <a:t>• RECOMENDACIÓN EXPLICADA:</a:t>
            </a:r>
            <a:r>
              <a:rPr b="0" i="0" lang="en-US" sz="1100" u="none" cap="none" strike="noStrike">
                <a:solidFill>
                  <a:srgbClr val="F1F5F9"/>
                </a:solidFill>
                <a:latin typeface="Arial"/>
                <a:ea typeface="Arial"/>
                <a:cs typeface="Arial"/>
                <a:sym typeface="Arial"/>
              </a:rPr>
              <a:t> Conecta las condiciones detectadas por el modelo IA con el catálogo, sugiriendo productos y explicando al usuario el 'por qué' técnico capilar.</a:t>
            </a:r>
            <a:endParaRPr b="0" i="0" sz="1400" u="none" cap="none" strike="noStrike">
              <a:solidFill>
                <a:srgbClr val="000000"/>
              </a:solidFill>
              <a:latin typeface="Arial"/>
              <a:ea typeface="Arial"/>
              <a:cs typeface="Arial"/>
              <a:sym typeface="Arial"/>
            </a:endParaRPr>
          </a:p>
        </p:txBody>
      </p:sp>
      <p:sp>
        <p:nvSpPr>
          <p:cNvPr id="144" name="Google Shape;144;p6"/>
          <p:cNvSpPr/>
          <p:nvPr/>
        </p:nvSpPr>
        <p:spPr>
          <a:xfrm>
            <a:off x="457200" y="4846320"/>
            <a:ext cx="11277295" cy="1280160"/>
          </a:xfrm>
          <a:prstGeom prst="roundRect">
            <a:avLst>
              <a:gd fmla="val 16667" name="adj"/>
            </a:avLst>
          </a:prstGeom>
          <a:solidFill>
            <a:srgbClr val="F0F9FF"/>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C2410C"/>
                </a:solidFill>
                <a:latin typeface="Arial"/>
                <a:ea typeface="Arial"/>
                <a:cs typeface="Arial"/>
                <a:sym typeface="Arial"/>
              </a:rPr>
              <a:t>ARQUITECTURA Y STACK TECNOLÓGICO SELECCIONADO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 Frontend Responsivo: HTML5, CSS3, JavaScript Vanilla   |   • Backend Lógico: Node.js y Express.js</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Base de Datos y Autenticación: Suite de Firebase (Firestore, Auth, Storage, Hosting)</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Inteligencia Artificial: Microservicio independiente en Python 3.12, API en FastAPI con modelo ResNet50 en la nube de Render</a:t>
            </a:r>
            <a:endParaRPr b="0" i="0" sz="1400" u="none" cap="none" strike="noStrike">
              <a:solidFill>
                <a:srgbClr val="000000"/>
              </a:solidFill>
              <a:latin typeface="Arial"/>
              <a:ea typeface="Arial"/>
              <a:cs typeface="Arial"/>
              <a:sym typeface="Arial"/>
            </a:endParaRPr>
          </a:p>
        </p:txBody>
      </p:sp>
      <p:sp>
        <p:nvSpPr>
          <p:cNvPr id="145" name="Google Shape;145;p6"/>
          <p:cNvSpPr txBox="1"/>
          <p:nvPr>
            <p:ph idx="12" type="sldNum"/>
          </p:nvPr>
        </p:nvSpPr>
        <p:spPr>
          <a:xfrm>
            <a:off x="9600900" y="6309350"/>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50" name="Shape 150"/>
        <p:cNvGrpSpPr/>
        <p:nvPr/>
      </p:nvGrpSpPr>
      <p:grpSpPr>
        <a:xfrm>
          <a:off x="0" y="0"/>
          <a:ext cx="0" cy="0"/>
          <a:chOff x="0" y="0"/>
          <a:chExt cx="0" cy="0"/>
        </a:xfrm>
      </p:grpSpPr>
      <p:sp>
        <p:nvSpPr>
          <p:cNvPr id="151" name="Google Shape;151;p7"/>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F1F5F9"/>
                </a:solidFill>
                <a:latin typeface="Georgia"/>
                <a:ea typeface="Georgia"/>
                <a:cs typeface="Georgia"/>
                <a:sym typeface="Georgia"/>
              </a:rPr>
              <a:t>Funcionalidades de la Solución: Componentes de la Plataforma</a:t>
            </a:r>
            <a:endParaRPr b="0" i="0" sz="1400" u="none" cap="none" strike="noStrike">
              <a:solidFill>
                <a:srgbClr val="000000"/>
              </a:solidFill>
              <a:latin typeface="Arial"/>
              <a:ea typeface="Arial"/>
              <a:cs typeface="Arial"/>
              <a:sym typeface="Arial"/>
            </a:endParaRPr>
          </a:p>
        </p:txBody>
      </p:sp>
      <p:sp>
        <p:nvSpPr>
          <p:cNvPr id="152" name="Google Shape;152;p7"/>
          <p:cNvSpPr/>
          <p:nvPr/>
        </p:nvSpPr>
        <p:spPr>
          <a:xfrm>
            <a:off x="457200" y="1371600"/>
            <a:ext cx="5303520" cy="2011680"/>
          </a:xfrm>
          <a:prstGeom prst="roundRect">
            <a:avLst>
              <a:gd fmla="val 16667" name="adj"/>
            </a:avLst>
          </a:prstGeom>
          <a:solidFill>
            <a:srgbClr val="1E293B"/>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4B8A6"/>
                </a:solidFill>
                <a:latin typeface="Georgia"/>
                <a:ea typeface="Georgia"/>
                <a:cs typeface="Georgia"/>
                <a:sym typeface="Georgia"/>
              </a:rPr>
              <a:t>Comercio Electrónico de Extremo a Extremo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F1F5F9"/>
                </a:solidFill>
                <a:latin typeface="Arial"/>
                <a:ea typeface="Arial"/>
                <a:cs typeface="Arial"/>
                <a:sym typeface="Arial"/>
              </a:rPr>
              <a:t>Catálogo dinámico con filtros de marcas/categorías, carrito lateral de compras persistente, checkout guiado con datos de envío, validación de cupones y pasarela Mercado Pago.</a:t>
            </a:r>
            <a:endParaRPr b="0" i="0" sz="1400" u="none" cap="none" strike="noStrike">
              <a:solidFill>
                <a:srgbClr val="000000"/>
              </a:solidFill>
              <a:latin typeface="Arial"/>
              <a:ea typeface="Arial"/>
              <a:cs typeface="Arial"/>
              <a:sym typeface="Arial"/>
            </a:endParaRPr>
          </a:p>
        </p:txBody>
      </p:sp>
      <p:sp>
        <p:nvSpPr>
          <p:cNvPr id="153" name="Google Shape;153;p7"/>
          <p:cNvSpPr/>
          <p:nvPr/>
        </p:nvSpPr>
        <p:spPr>
          <a:xfrm>
            <a:off x="6400800" y="1371600"/>
            <a:ext cx="5303520" cy="2011680"/>
          </a:xfrm>
          <a:prstGeom prst="roundRect">
            <a:avLst>
              <a:gd fmla="val 16667" name="adj"/>
            </a:avLst>
          </a:prstGeom>
          <a:solidFill>
            <a:srgbClr val="1E293B"/>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4B8A6"/>
                </a:solidFill>
                <a:latin typeface="Georgia"/>
                <a:ea typeface="Georgia"/>
                <a:cs typeface="Georgia"/>
                <a:sym typeface="Georgia"/>
              </a:rPr>
              <a:t>Módulo de Diagnóstico Capilar Automatizado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F1F5F9"/>
                </a:solidFill>
                <a:latin typeface="Arial"/>
                <a:ea typeface="Arial"/>
                <a:cs typeface="Arial"/>
                <a:sym typeface="Arial"/>
              </a:rPr>
              <a:t>Captura web de 3 fotos (general, raíz, puntas) que valida el brillo mínimo. Procesa la imagen mediante un microservicio en Render para diagnosticar el estado capilar del usuario.</a:t>
            </a:r>
            <a:endParaRPr b="0" i="0" sz="1400" u="none" cap="none" strike="noStrike">
              <a:solidFill>
                <a:srgbClr val="000000"/>
              </a:solidFill>
              <a:latin typeface="Arial"/>
              <a:ea typeface="Arial"/>
              <a:cs typeface="Arial"/>
              <a:sym typeface="Arial"/>
            </a:endParaRPr>
          </a:p>
        </p:txBody>
      </p:sp>
      <p:sp>
        <p:nvSpPr>
          <p:cNvPr id="154" name="Google Shape;154;p7"/>
          <p:cNvSpPr/>
          <p:nvPr/>
        </p:nvSpPr>
        <p:spPr>
          <a:xfrm>
            <a:off x="457200" y="3840480"/>
            <a:ext cx="5303520" cy="2011680"/>
          </a:xfrm>
          <a:prstGeom prst="roundRect">
            <a:avLst>
              <a:gd fmla="val 16667" name="adj"/>
            </a:avLst>
          </a:prstGeom>
          <a:solidFill>
            <a:srgbClr val="1E293B"/>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4B8A6"/>
                </a:solidFill>
                <a:latin typeface="Georgia"/>
                <a:ea typeface="Georgia"/>
                <a:cs typeface="Georgia"/>
                <a:sym typeface="Georgia"/>
              </a:rPr>
              <a:t>Gestión Operativa de Bodega Restringida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F1F5F9"/>
                </a:solidFill>
                <a:latin typeface="Arial"/>
                <a:ea typeface="Arial"/>
                <a:cs typeface="Arial"/>
                <a:sym typeface="Arial"/>
              </a:rPr>
              <a:t>Panel restringido con perfiles para administradores y bodegueros, permitiendo actualizar stock en tiempo real, marcar ítems agotados de inmediato y preparar los despachos de pedidos.</a:t>
            </a:r>
            <a:endParaRPr b="0" i="0" sz="1400" u="none" cap="none" strike="noStrike">
              <a:solidFill>
                <a:srgbClr val="000000"/>
              </a:solidFill>
              <a:latin typeface="Arial"/>
              <a:ea typeface="Arial"/>
              <a:cs typeface="Arial"/>
              <a:sym typeface="Arial"/>
            </a:endParaRPr>
          </a:p>
        </p:txBody>
      </p:sp>
      <p:sp>
        <p:nvSpPr>
          <p:cNvPr id="155" name="Google Shape;155;p7"/>
          <p:cNvSpPr/>
          <p:nvPr/>
        </p:nvSpPr>
        <p:spPr>
          <a:xfrm>
            <a:off x="6400800" y="3840480"/>
            <a:ext cx="5303520" cy="2011680"/>
          </a:xfrm>
          <a:prstGeom prst="roundRect">
            <a:avLst>
              <a:gd fmla="val 16667" name="adj"/>
            </a:avLst>
          </a:prstGeom>
          <a:solidFill>
            <a:srgbClr val="1E293B"/>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4B8A6"/>
                </a:solidFill>
                <a:latin typeface="Georgia"/>
                <a:ea typeface="Georgia"/>
                <a:cs typeface="Georgia"/>
                <a:sym typeface="Georgia"/>
              </a:rPr>
              <a:t>Alertas y Notificaciones Transaccionales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rPr b="0" i="0" lang="en-US" sz="1100" u="none" cap="none" strike="noStrike">
                <a:solidFill>
                  <a:srgbClr val="F1F5F9"/>
                </a:solidFill>
                <a:latin typeface="Arial"/>
                <a:ea typeface="Arial"/>
                <a:cs typeface="Arial"/>
                <a:sym typeface="Arial"/>
              </a:rPr>
              <a:t>Confirmación automática del registro, creación de órdenes y procesamiento de pagos con descuento automático de inventario, incluyendo envío de avisos al cliente por WhatsApp mediante Twilio.</a:t>
            </a:r>
            <a:endParaRPr b="0" i="0" sz="1400" u="none" cap="none" strike="noStrike">
              <a:solidFill>
                <a:srgbClr val="000000"/>
              </a:solidFill>
              <a:latin typeface="Arial"/>
              <a:ea typeface="Arial"/>
              <a:cs typeface="Arial"/>
              <a:sym typeface="Arial"/>
            </a:endParaRPr>
          </a:p>
        </p:txBody>
      </p:sp>
      <p:sp>
        <p:nvSpPr>
          <p:cNvPr id="156" name="Google Shape;156;p7"/>
          <p:cNvSpPr txBox="1"/>
          <p:nvPr>
            <p:ph idx="12" type="sldNum"/>
          </p:nvPr>
        </p:nvSpPr>
        <p:spPr>
          <a:xfrm>
            <a:off x="9600900" y="6216375"/>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161" name="Shape 161"/>
        <p:cNvGrpSpPr/>
        <p:nvPr/>
      </p:nvGrpSpPr>
      <p:grpSpPr>
        <a:xfrm>
          <a:off x="0" y="0"/>
          <a:ext cx="0" cy="0"/>
          <a:chOff x="0" y="0"/>
          <a:chExt cx="0" cy="0"/>
        </a:xfrm>
      </p:grpSpPr>
      <p:sp>
        <p:nvSpPr>
          <p:cNvPr id="162" name="Google Shape;162;p8"/>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Especificación de Requerimientos Funcionales y No Funcionales</a:t>
            </a:r>
            <a:endParaRPr b="0" i="0" sz="1400" u="none" cap="none" strike="noStrike">
              <a:solidFill>
                <a:srgbClr val="000000"/>
              </a:solidFill>
              <a:latin typeface="Arial"/>
              <a:ea typeface="Arial"/>
              <a:cs typeface="Arial"/>
              <a:sym typeface="Arial"/>
            </a:endParaRPr>
          </a:p>
        </p:txBody>
      </p:sp>
      <p:graphicFrame>
        <p:nvGraphicFramePr>
          <p:cNvPr id="163" name="Google Shape;163;p8"/>
          <p:cNvGraphicFramePr/>
          <p:nvPr/>
        </p:nvGraphicFramePr>
        <p:xfrm>
          <a:off x="457200" y="1280160"/>
          <a:ext cx="3000000" cy="3000000"/>
        </p:xfrm>
        <a:graphic>
          <a:graphicData uri="http://schemas.openxmlformats.org/drawingml/2006/table">
            <a:tbl>
              <a:tblPr bandRow="1" firstRow="1">
                <a:noFill/>
                <a:tableStyleId>{50E2485E-D91F-48E7-A0F1-2EFC706E8F4D}</a:tableStyleId>
              </a:tblPr>
              <a:tblGrid>
                <a:gridCol w="1188725"/>
                <a:gridCol w="1280150"/>
                <a:gridCol w="2926075"/>
                <a:gridCol w="5882325"/>
              </a:tblGrid>
              <a:tr h="538475">
                <a:tc>
                  <a:txBody>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Arial"/>
                          <a:ea typeface="Arial"/>
                          <a:cs typeface="Arial"/>
                          <a:sym typeface="Arial"/>
                        </a:rPr>
                        <a:t>Identificador</a:t>
                      </a:r>
                      <a:endParaRPr sz="1400" u="none" cap="none" strike="noStrike"/>
                    </a:p>
                  </a:txBody>
                  <a:tcPr marT="45725" marB="45725" marR="91450" marL="91450" anchor="ctr">
                    <a:solidFill>
                      <a:srgbClr val="0F172A"/>
                    </a:solidFill>
                  </a:tcPr>
                </a:tc>
                <a:tc>
                  <a:txBody>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Arial"/>
                          <a:ea typeface="Arial"/>
                          <a:cs typeface="Arial"/>
                          <a:sym typeface="Arial"/>
                        </a:rPr>
                        <a:t>Tipo de Requisito</a:t>
                      </a:r>
                      <a:endParaRPr sz="1400" u="none" cap="none" strike="noStrike"/>
                    </a:p>
                  </a:txBody>
                  <a:tcPr marT="45725" marB="45725" marR="91450" marL="91450" anchor="ctr">
                    <a:solidFill>
                      <a:srgbClr val="0F172A"/>
                    </a:solidFill>
                  </a:tcPr>
                </a:tc>
                <a:tc>
                  <a:txBody>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Arial"/>
                          <a:ea typeface="Arial"/>
                          <a:cs typeface="Arial"/>
                          <a:sym typeface="Arial"/>
                        </a:rPr>
                        <a:t>Nombre del Requisito</a:t>
                      </a:r>
                      <a:endParaRPr sz="1400" u="none" cap="none" strike="noStrike"/>
                    </a:p>
                  </a:txBody>
                  <a:tcPr marT="45725" marB="45725" marR="91450" marL="91450" anchor="ctr">
                    <a:solidFill>
                      <a:srgbClr val="0F172A"/>
                    </a:solidFill>
                  </a:tcPr>
                </a:tc>
                <a:tc>
                  <a:txBody>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FFFF"/>
                          </a:solidFill>
                          <a:latin typeface="Arial"/>
                          <a:ea typeface="Arial"/>
                          <a:cs typeface="Arial"/>
                          <a:sym typeface="Arial"/>
                        </a:rPr>
                        <a:t>Descripción Técnica y Atributos de Calidad</a:t>
                      </a:r>
                      <a:endParaRPr sz="1400" u="none" cap="none" strike="noStrike"/>
                    </a:p>
                  </a:txBody>
                  <a:tcPr marT="45725" marB="45725" marR="91450" marL="91450" anchor="ctr">
                    <a:solidFill>
                      <a:srgbClr val="0F172A"/>
                    </a:solidFill>
                  </a:tcPr>
                </a:tc>
              </a:tr>
              <a:tr h="538475">
                <a:tc>
                  <a:txBody>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1E293B"/>
                          </a:solidFill>
                          <a:latin typeface="Arial"/>
                          <a:ea typeface="Arial"/>
                          <a:cs typeface="Arial"/>
                          <a:sym typeface="Arial"/>
                        </a:rPr>
                        <a:t>RF01</a:t>
                      </a:r>
                      <a:endParaRPr sz="1400" u="none" cap="none" strike="noStrike"/>
                    </a:p>
                  </a:txBody>
                  <a:tcPr marT="45725" marB="45725" marR="91450" marL="91450" anchor="ctr">
                    <a:solidFill>
                      <a:srgbClr val="FFFFFF"/>
                    </a:solidFill>
                  </a:tcPr>
                </a:tc>
                <a:tc>
                  <a:txBody>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Funcional</a:t>
                      </a:r>
                      <a:endParaRPr b="0" i="0" sz="1000" u="none" cap="none" strike="noStrike">
                        <a:solidFill>
                          <a:srgbClr val="1E293B"/>
                        </a:solidFill>
                        <a:latin typeface="Arial"/>
                        <a:ea typeface="Arial"/>
                        <a:cs typeface="Arial"/>
                        <a:sym typeface="Arial"/>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Catálogo de Productos</a:t>
                      </a:r>
                      <a:endParaRPr b="0" i="0" sz="1000" u="none" cap="none" strike="noStrike">
                        <a:solidFill>
                          <a:srgbClr val="1E293B"/>
                        </a:solidFill>
                        <a:latin typeface="Arial"/>
                        <a:ea typeface="Arial"/>
                        <a:cs typeface="Arial"/>
                        <a:sym typeface="Arial"/>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Permite consultar la vitrina de productos filtrando dinámicamente por categorías y marcas registradas en Firestore.</a:t>
                      </a:r>
                      <a:endParaRPr sz="1400" u="none" cap="none" strike="noStrike"/>
                    </a:p>
                  </a:txBody>
                  <a:tcPr marT="45725" marB="45725" marR="91450" marL="91450" anchor="ctr">
                    <a:solidFill>
                      <a:srgbClr val="FFFFFF"/>
                    </a:solidFill>
                  </a:tcPr>
                </a:tc>
              </a:tr>
              <a:tr h="538475">
                <a:tc>
                  <a:txBody>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1E293B"/>
                          </a:solidFill>
                          <a:latin typeface="Arial"/>
                          <a:ea typeface="Arial"/>
                          <a:cs typeface="Arial"/>
                          <a:sym typeface="Arial"/>
                        </a:rPr>
                        <a:t>RF15</a:t>
                      </a:r>
                      <a:endParaRPr sz="1400" u="none" cap="none" strike="noStrike"/>
                    </a:p>
                  </a:txBody>
                  <a:tcPr marT="45725" marB="45725" marR="91450" marL="91450" anchor="ctr">
                    <a:solidFill>
                      <a:srgbClr val="F0F9FF"/>
                    </a:solidFill>
                  </a:tcPr>
                </a:tc>
                <a:tc>
                  <a:txBody>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Funcional</a:t>
                      </a:r>
                      <a:endParaRPr sz="1400" u="none" cap="none" strike="noStrike"/>
                    </a:p>
                  </a:txBody>
                  <a:tcPr marT="45725" marB="45725" marR="91450" marL="91450" anchor="ctr">
                    <a:solidFill>
                      <a:srgbClr val="F0F9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Integración Mercado Pago</a:t>
                      </a:r>
                      <a:endParaRPr sz="1400" u="none" cap="none" strike="noStrike"/>
                    </a:p>
                  </a:txBody>
                  <a:tcPr marT="45725" marB="45725" marR="91450" marL="91450" anchor="ctr">
                    <a:solidFill>
                      <a:srgbClr val="F0F9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Procesa cobros reales enviando las preferencias del carrito de compras de forma segura al Checkout Pro.</a:t>
                      </a:r>
                      <a:endParaRPr sz="1400" u="none" cap="none" strike="noStrike"/>
                    </a:p>
                  </a:txBody>
                  <a:tcPr marT="45725" marB="45725" marR="91450" marL="91450" anchor="ctr">
                    <a:solidFill>
                      <a:srgbClr val="F0F9FF"/>
                    </a:solidFill>
                  </a:tcPr>
                </a:tc>
              </a:tr>
              <a:tr h="538475">
                <a:tc>
                  <a:txBody>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1E293B"/>
                          </a:solidFill>
                          <a:latin typeface="Arial"/>
                          <a:ea typeface="Arial"/>
                          <a:cs typeface="Arial"/>
                          <a:sym typeface="Arial"/>
                        </a:rPr>
                        <a:t>RF26</a:t>
                      </a:r>
                      <a:endParaRPr sz="1400" u="none" cap="none" strike="noStrike"/>
                    </a:p>
                  </a:txBody>
                  <a:tcPr marT="45725" marB="45725" marR="91450" marL="91450" anchor="ctr">
                    <a:solidFill>
                      <a:srgbClr val="FFFFFF"/>
                    </a:solidFill>
                  </a:tcPr>
                </a:tc>
                <a:tc>
                  <a:txBody>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Funcional</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Captura Guiada de Fotos</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Módulo de cámara para capturar 3 fotos de cabello, validando que el brillo de la imagen supere un umbral mínimo.</a:t>
                      </a:r>
                      <a:endParaRPr sz="1400" u="none" cap="none" strike="noStrike"/>
                    </a:p>
                  </a:txBody>
                  <a:tcPr marT="45725" marB="45725" marR="91450" marL="91450" anchor="ctr">
                    <a:solidFill>
                      <a:srgbClr val="FFFFFF"/>
                    </a:solidFill>
                  </a:tcPr>
                </a:tc>
              </a:tr>
              <a:tr h="538475">
                <a:tc>
                  <a:txBody>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1E293B"/>
                          </a:solidFill>
                          <a:latin typeface="Arial"/>
                          <a:ea typeface="Arial"/>
                          <a:cs typeface="Arial"/>
                          <a:sym typeface="Arial"/>
                        </a:rPr>
                        <a:t>RF27</a:t>
                      </a:r>
                      <a:endParaRPr sz="1400" u="none" cap="none" strike="noStrike"/>
                    </a:p>
                  </a:txBody>
                  <a:tcPr marT="45725" marB="45725" marR="91450" marL="91450" anchor="ctr">
                    <a:solidFill>
                      <a:srgbClr val="F0F9FF"/>
                    </a:solidFill>
                  </a:tcPr>
                </a:tc>
                <a:tc>
                  <a:txBody>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Funcional</a:t>
                      </a:r>
                      <a:endParaRPr sz="1400" u="none" cap="none" strike="noStrike"/>
                    </a:p>
                  </a:txBody>
                  <a:tcPr marT="45725" marB="45725" marR="91450" marL="91450" anchor="ctr">
                    <a:solidFill>
                      <a:srgbClr val="F0F9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Consentimiento de Análisis</a:t>
                      </a:r>
                      <a:endParaRPr b="0" i="0" sz="1000" u="none" cap="none" strike="noStrike">
                        <a:solidFill>
                          <a:srgbClr val="1E293B"/>
                        </a:solidFill>
                        <a:latin typeface="Arial"/>
                        <a:ea typeface="Arial"/>
                        <a:cs typeface="Arial"/>
                        <a:sym typeface="Arial"/>
                      </a:endParaRPr>
                    </a:p>
                  </a:txBody>
                  <a:tcPr marT="45725" marB="45725" marR="91450" marL="91450" anchor="ctr">
                    <a:solidFill>
                      <a:srgbClr val="F0F9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Exige la firma de consentimiento de privacidad de imágenes obligatorio antes de habilitar la cámara de diagnóstico.</a:t>
                      </a:r>
                      <a:endParaRPr sz="1400" u="none" cap="none" strike="noStrike"/>
                    </a:p>
                  </a:txBody>
                  <a:tcPr marT="45725" marB="45725" marR="91450" marL="91450" anchor="ctr">
                    <a:solidFill>
                      <a:srgbClr val="F0F9FF"/>
                    </a:solidFill>
                  </a:tcPr>
                </a:tc>
              </a:tr>
              <a:tr h="538475">
                <a:tc>
                  <a:txBody>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1E293B"/>
                          </a:solidFill>
                          <a:latin typeface="Arial"/>
                          <a:ea typeface="Arial"/>
                          <a:cs typeface="Arial"/>
                          <a:sym typeface="Arial"/>
                        </a:rPr>
                        <a:t>RNF01</a:t>
                      </a:r>
                      <a:endParaRPr sz="1400" u="none" cap="none" strike="noStrike"/>
                    </a:p>
                  </a:txBody>
                  <a:tcPr marT="45725" marB="45725" marR="91450" marL="91450" anchor="ctr">
                    <a:solidFill>
                      <a:srgbClr val="FFFFFF"/>
                    </a:solidFill>
                  </a:tcPr>
                </a:tc>
                <a:tc>
                  <a:txBody>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No Funcional</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Política de Contraseñas</a:t>
                      </a:r>
                      <a:endParaRPr b="0" i="0" sz="1000" u="none" cap="none" strike="noStrike">
                        <a:solidFill>
                          <a:srgbClr val="1E293B"/>
                        </a:solidFill>
                        <a:latin typeface="Arial"/>
                        <a:ea typeface="Arial"/>
                        <a:cs typeface="Arial"/>
                        <a:sym typeface="Arial"/>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Seguridad de accesos: contraseñas de mínimo 12 caracteres, mayúscula, número y un carácter especial.</a:t>
                      </a:r>
                      <a:endParaRPr sz="1400" u="none" cap="none" strike="noStrike"/>
                    </a:p>
                  </a:txBody>
                  <a:tcPr marT="45725" marB="45725" marR="91450" marL="91450" anchor="ctr">
                    <a:solidFill>
                      <a:srgbClr val="FFFFFF"/>
                    </a:solidFill>
                  </a:tcPr>
                </a:tc>
              </a:tr>
              <a:tr h="538475">
                <a:tc>
                  <a:txBody>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1E293B"/>
                          </a:solidFill>
                          <a:latin typeface="Arial"/>
                          <a:ea typeface="Arial"/>
                          <a:cs typeface="Arial"/>
                          <a:sym typeface="Arial"/>
                        </a:rPr>
                        <a:t>RNF03</a:t>
                      </a:r>
                      <a:endParaRPr sz="1400" u="none" cap="none" strike="noStrike"/>
                    </a:p>
                  </a:txBody>
                  <a:tcPr marT="45725" marB="45725" marR="91450" marL="91450" anchor="ctr">
                    <a:solidFill>
                      <a:srgbClr val="F0F9FF"/>
                    </a:solidFill>
                  </a:tcPr>
                </a:tc>
                <a:tc>
                  <a:txBody>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No Funcional</a:t>
                      </a:r>
                      <a:endParaRPr sz="1400" u="none" cap="none" strike="noStrike"/>
                    </a:p>
                  </a:txBody>
                  <a:tcPr marT="45725" marB="45725" marR="91450" marL="91450" anchor="ctr">
                    <a:solidFill>
                      <a:srgbClr val="F0F9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Anonimización de Datos</a:t>
                      </a:r>
                      <a:endParaRPr sz="1400" u="none" cap="none" strike="noStrike"/>
                    </a:p>
                  </a:txBody>
                  <a:tcPr marT="45725" marB="45725" marR="91450" marL="91450" anchor="ctr">
                    <a:solidFill>
                      <a:srgbClr val="F0F9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Almacenamiento de fotos capilares de entrenamiento aisladas de nombres, correos o RUT de los clientes.</a:t>
                      </a:r>
                      <a:endParaRPr sz="1400" u="none" cap="none" strike="noStrike"/>
                    </a:p>
                  </a:txBody>
                  <a:tcPr marT="45725" marB="45725" marR="91450" marL="91450" anchor="ctr">
                    <a:solidFill>
                      <a:srgbClr val="F0F9FF"/>
                    </a:solidFill>
                  </a:tcPr>
                </a:tc>
              </a:tr>
              <a:tr h="538475">
                <a:tc>
                  <a:txBody>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1E293B"/>
                          </a:solidFill>
                          <a:latin typeface="Arial"/>
                          <a:ea typeface="Arial"/>
                          <a:cs typeface="Arial"/>
                          <a:sym typeface="Arial"/>
                        </a:rPr>
                        <a:t>RNF07</a:t>
                      </a:r>
                      <a:endParaRPr sz="1400" u="none" cap="none" strike="noStrike"/>
                    </a:p>
                  </a:txBody>
                  <a:tcPr marT="45725" marB="45725" marR="91450" marL="91450" anchor="ctr">
                    <a:solidFill>
                      <a:srgbClr val="FFFFFF"/>
                    </a:solidFill>
                  </a:tcPr>
                </a:tc>
                <a:tc>
                  <a:txBody>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No Funcional</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Cumplimiento Normativo</a:t>
                      </a:r>
                      <a:endParaRPr b="0" i="0" sz="1000" u="none" cap="none" strike="noStrike">
                        <a:solidFill>
                          <a:srgbClr val="1E293B"/>
                        </a:solidFill>
                        <a:latin typeface="Arial"/>
                        <a:ea typeface="Arial"/>
                        <a:cs typeface="Arial"/>
                        <a:sym typeface="Arial"/>
                      </a:endParaRPr>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Protección de datos capilares regulada bajo leyes chilenas 19.628 (protección de la vida privada) y 21.719.</a:t>
                      </a:r>
                      <a:endParaRPr sz="1400" u="none" cap="none" strike="noStrike"/>
                    </a:p>
                  </a:txBody>
                  <a:tcPr marT="45725" marB="45725" marR="91450" marL="91450" anchor="ctr">
                    <a:solidFill>
                      <a:srgbClr val="FFFFFF"/>
                    </a:solidFill>
                  </a:tcPr>
                </a:tc>
              </a:tr>
              <a:tr h="538475">
                <a:tc>
                  <a:txBody>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1E293B"/>
                          </a:solidFill>
                          <a:latin typeface="Arial"/>
                          <a:ea typeface="Arial"/>
                          <a:cs typeface="Arial"/>
                          <a:sym typeface="Arial"/>
                        </a:rPr>
                        <a:t>RNF12</a:t>
                      </a:r>
                      <a:endParaRPr sz="1400" u="none" cap="none" strike="noStrike"/>
                    </a:p>
                  </a:txBody>
                  <a:tcPr marT="45725" marB="45725" marR="91450" marL="91450" anchor="ctr">
                    <a:solidFill>
                      <a:srgbClr val="F0F9FF"/>
                    </a:solidFill>
                  </a:tcPr>
                </a:tc>
                <a:tc>
                  <a:txBody>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No Funcional</a:t>
                      </a:r>
                      <a:endParaRPr sz="1400" u="none" cap="none" strike="noStrike"/>
                    </a:p>
                  </a:txBody>
                  <a:tcPr marT="45725" marB="45725" marR="91450" marL="91450" anchor="ctr">
                    <a:solidFill>
                      <a:srgbClr val="F0F9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Eficiencia Temporal</a:t>
                      </a:r>
                      <a:endParaRPr sz="1400" u="none" cap="none" strike="noStrike"/>
                    </a:p>
                  </a:txBody>
                  <a:tcPr marT="45725" marB="45725" marR="91450" marL="91450" anchor="ctr">
                    <a:solidFill>
                      <a:srgbClr val="F0F9FF"/>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El flujo completo de análisis capilar por el modelo IA en FastAPI no debe demorar más de 1 minuto.</a:t>
                      </a:r>
                      <a:endParaRPr sz="1400" u="none" cap="none" strike="noStrike"/>
                    </a:p>
                  </a:txBody>
                  <a:tcPr marT="45725" marB="45725" marR="91450" marL="91450" anchor="ctr">
                    <a:solidFill>
                      <a:srgbClr val="F0F9FF"/>
                    </a:solidFill>
                  </a:tcPr>
                </a:tc>
              </a:tr>
            </a:tbl>
          </a:graphicData>
        </a:graphic>
      </p:graphicFrame>
      <p:sp>
        <p:nvSpPr>
          <p:cNvPr id="164" name="Google Shape;164;p8"/>
          <p:cNvSpPr txBox="1"/>
          <p:nvPr>
            <p:ph idx="12" type="sldNum"/>
          </p:nvPr>
        </p:nvSpPr>
        <p:spPr>
          <a:xfrm>
            <a:off x="9600900" y="6217850"/>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169" name="Shape 169"/>
        <p:cNvGrpSpPr/>
        <p:nvPr/>
      </p:nvGrpSpPr>
      <p:grpSpPr>
        <a:xfrm>
          <a:off x="0" y="0"/>
          <a:ext cx="0" cy="0"/>
          <a:chOff x="0" y="0"/>
          <a:chExt cx="0" cy="0"/>
        </a:xfrm>
      </p:grpSpPr>
      <p:sp>
        <p:nvSpPr>
          <p:cNvPr id="170" name="Google Shape;170;p9"/>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F1F5F9"/>
                </a:solidFill>
                <a:latin typeface="Georgia"/>
                <a:ea typeface="Georgia"/>
                <a:cs typeface="Georgia"/>
                <a:sym typeface="Georgia"/>
              </a:rPr>
              <a:t>Mapa de Épicas del Proyecto y Priorización SCRUM</a:t>
            </a:r>
            <a:endParaRPr b="0" i="0" sz="1400" u="none" cap="none" strike="noStrike">
              <a:solidFill>
                <a:srgbClr val="000000"/>
              </a:solidFill>
              <a:latin typeface="Arial"/>
              <a:ea typeface="Arial"/>
              <a:cs typeface="Arial"/>
              <a:sym typeface="Arial"/>
            </a:endParaRPr>
          </a:p>
        </p:txBody>
      </p:sp>
      <p:sp>
        <p:nvSpPr>
          <p:cNvPr id="171" name="Google Shape;171;p9"/>
          <p:cNvSpPr/>
          <p:nvPr/>
        </p:nvSpPr>
        <p:spPr>
          <a:xfrm>
            <a:off x="1371600" y="2926080"/>
            <a:ext cx="9418320" cy="54864"/>
          </a:xfrm>
          <a:prstGeom prst="rect">
            <a:avLst/>
          </a:prstGeom>
          <a:solidFill>
            <a:srgbClr val="14B8A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 name="Google Shape;172;p9"/>
          <p:cNvSpPr/>
          <p:nvPr/>
        </p:nvSpPr>
        <p:spPr>
          <a:xfrm>
            <a:off x="731520" y="2103120"/>
            <a:ext cx="1645920" cy="1645920"/>
          </a:xfrm>
          <a:prstGeom prst="ellipse">
            <a:avLst/>
          </a:prstGeom>
          <a:solidFill>
            <a:srgbClr val="1E293B"/>
          </a:solidFill>
          <a:ln cap="flat" cmpd="sng" w="317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9125" lIns="9125" spcFirstLastPara="1" rIns="9125" wrap="square" tIns="91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AF9F6"/>
                </a:solidFill>
                <a:latin typeface="Arial"/>
                <a:ea typeface="Arial"/>
                <a:cs typeface="Arial"/>
                <a:sym typeface="Arial"/>
              </a:rPr>
              <a:t>🔑 E01</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100"/>
              </a:spcBef>
              <a:spcAft>
                <a:spcPts val="0"/>
              </a:spcAft>
              <a:buClr>
                <a:srgbClr val="000000"/>
              </a:buClr>
              <a:buSzPts val="1000"/>
              <a:buFont typeface="Arial"/>
              <a:buNone/>
            </a:pPr>
            <a:r>
              <a:rPr b="1" i="0" lang="en-US" sz="1000" u="none" cap="none" strike="noStrike">
                <a:solidFill>
                  <a:srgbClr val="FAF9F6"/>
                </a:solidFill>
                <a:latin typeface="Georgia"/>
                <a:ea typeface="Georgia"/>
                <a:cs typeface="Georgia"/>
                <a:sym typeface="Georgia"/>
              </a:rPr>
              <a:t>Autenticación</a:t>
            </a:r>
            <a:endParaRPr b="0" i="0" sz="1400" u="none" cap="none" strike="noStrike">
              <a:solidFill>
                <a:srgbClr val="000000"/>
              </a:solidFill>
              <a:latin typeface="Arial"/>
              <a:ea typeface="Arial"/>
              <a:cs typeface="Arial"/>
              <a:sym typeface="Arial"/>
            </a:endParaRPr>
          </a:p>
        </p:txBody>
      </p:sp>
      <p:sp>
        <p:nvSpPr>
          <p:cNvPr id="173" name="Google Shape;173;p9"/>
          <p:cNvSpPr txBox="1"/>
          <p:nvPr/>
        </p:nvSpPr>
        <p:spPr>
          <a:xfrm>
            <a:off x="548640" y="3931920"/>
            <a:ext cx="2011680" cy="21031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F1F5F9"/>
                </a:solidFill>
                <a:latin typeface="Arial"/>
                <a:ea typeface="Arial"/>
                <a:cs typeface="Arial"/>
                <a:sym typeface="Arial"/>
              </a:rPr>
              <a:t>Registro e inicio de sesión integrados en Firebase Auth con restricciones según roles (Cliente, Admin, Bodeguero).</a:t>
            </a:r>
            <a:endParaRPr b="0" i="0" sz="1400" u="none" cap="none" strike="noStrike">
              <a:solidFill>
                <a:srgbClr val="000000"/>
              </a:solidFill>
              <a:latin typeface="Arial"/>
              <a:ea typeface="Arial"/>
              <a:cs typeface="Arial"/>
              <a:sym typeface="Arial"/>
            </a:endParaRPr>
          </a:p>
        </p:txBody>
      </p:sp>
      <p:sp>
        <p:nvSpPr>
          <p:cNvPr id="174" name="Google Shape;174;p9"/>
          <p:cNvSpPr/>
          <p:nvPr/>
        </p:nvSpPr>
        <p:spPr>
          <a:xfrm>
            <a:off x="2926080" y="2103120"/>
            <a:ext cx="1645920" cy="1645920"/>
          </a:xfrm>
          <a:prstGeom prst="ellipse">
            <a:avLst/>
          </a:prstGeom>
          <a:solidFill>
            <a:srgbClr val="1E293B"/>
          </a:solidFill>
          <a:ln cap="flat" cmpd="sng" w="317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9125" lIns="9125" spcFirstLastPara="1" rIns="9125" wrap="square" tIns="91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AF9F6"/>
                </a:solidFill>
                <a:latin typeface="Arial"/>
                <a:ea typeface="Arial"/>
                <a:cs typeface="Arial"/>
                <a:sym typeface="Arial"/>
              </a:rPr>
              <a:t>🛍️ E03-05</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100"/>
              </a:spcBef>
              <a:spcAft>
                <a:spcPts val="0"/>
              </a:spcAft>
              <a:buClr>
                <a:srgbClr val="000000"/>
              </a:buClr>
              <a:buSzPts val="1100"/>
              <a:buFont typeface="Arial"/>
              <a:buNone/>
            </a:pPr>
            <a:r>
              <a:rPr b="1" i="0" lang="en-US" sz="1100" u="none" cap="none" strike="noStrike">
                <a:solidFill>
                  <a:srgbClr val="FAF9F6"/>
                </a:solidFill>
                <a:latin typeface="Georgia"/>
                <a:ea typeface="Georgia"/>
                <a:cs typeface="Georgia"/>
                <a:sym typeface="Georgia"/>
              </a:rPr>
              <a:t>Compra y Pago</a:t>
            </a:r>
            <a:endParaRPr b="0" i="0" sz="1400" u="none" cap="none" strike="noStrike">
              <a:solidFill>
                <a:srgbClr val="000000"/>
              </a:solidFill>
              <a:latin typeface="Arial"/>
              <a:ea typeface="Arial"/>
              <a:cs typeface="Arial"/>
              <a:sym typeface="Arial"/>
            </a:endParaRPr>
          </a:p>
        </p:txBody>
      </p:sp>
      <p:sp>
        <p:nvSpPr>
          <p:cNvPr id="175" name="Google Shape;175;p9"/>
          <p:cNvSpPr txBox="1"/>
          <p:nvPr/>
        </p:nvSpPr>
        <p:spPr>
          <a:xfrm>
            <a:off x="2743200" y="3931920"/>
            <a:ext cx="2011680" cy="21031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94A3B8"/>
                </a:solidFill>
                <a:latin typeface="Arial"/>
                <a:ea typeface="Arial"/>
                <a:cs typeface="Arial"/>
                <a:sym typeface="Arial"/>
              </a:rPr>
              <a:t>Gestión de carrito lateral, captura de envíos y pasarela transaccional con Mercado Pago.</a:t>
            </a:r>
            <a:endParaRPr b="0" i="0" sz="1400" u="none" cap="none" strike="noStrike">
              <a:solidFill>
                <a:srgbClr val="000000"/>
              </a:solidFill>
              <a:latin typeface="Arial"/>
              <a:ea typeface="Arial"/>
              <a:cs typeface="Arial"/>
              <a:sym typeface="Arial"/>
            </a:endParaRPr>
          </a:p>
        </p:txBody>
      </p:sp>
      <p:sp>
        <p:nvSpPr>
          <p:cNvPr id="176" name="Google Shape;176;p9"/>
          <p:cNvSpPr/>
          <p:nvPr/>
        </p:nvSpPr>
        <p:spPr>
          <a:xfrm>
            <a:off x="5120640" y="2103120"/>
            <a:ext cx="1645920" cy="1645920"/>
          </a:xfrm>
          <a:prstGeom prst="ellipse">
            <a:avLst/>
          </a:prstGeom>
          <a:solidFill>
            <a:srgbClr val="1E293B"/>
          </a:solidFill>
          <a:ln cap="flat" cmpd="sng" w="317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9125" lIns="9125" spcFirstLastPara="1" rIns="9125" wrap="square" tIns="91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AF9F6"/>
                </a:solidFill>
                <a:latin typeface="Arial"/>
                <a:ea typeface="Arial"/>
                <a:cs typeface="Arial"/>
                <a:sym typeface="Arial"/>
              </a:rPr>
              <a:t>🧠 E12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100"/>
              </a:spcBef>
              <a:spcAft>
                <a:spcPts val="0"/>
              </a:spcAft>
              <a:buClr>
                <a:srgbClr val="000000"/>
              </a:buClr>
              <a:buSzPts val="1100"/>
              <a:buFont typeface="Arial"/>
              <a:buNone/>
            </a:pPr>
            <a:r>
              <a:rPr b="1" i="0" lang="en-US" sz="1100" u="none" cap="none" strike="noStrike">
                <a:solidFill>
                  <a:srgbClr val="FAF9F6"/>
                </a:solidFill>
                <a:latin typeface="Georgia"/>
                <a:ea typeface="Georgia"/>
                <a:cs typeface="Georgia"/>
                <a:sym typeface="Georgia"/>
              </a:rPr>
              <a:t>Asistente IA</a:t>
            </a:r>
            <a:endParaRPr b="0" i="0" sz="1400" u="none" cap="none" strike="noStrike">
              <a:solidFill>
                <a:srgbClr val="000000"/>
              </a:solidFill>
              <a:latin typeface="Arial"/>
              <a:ea typeface="Arial"/>
              <a:cs typeface="Arial"/>
              <a:sym typeface="Arial"/>
            </a:endParaRPr>
          </a:p>
        </p:txBody>
      </p:sp>
      <p:sp>
        <p:nvSpPr>
          <p:cNvPr id="177" name="Google Shape;177;p9"/>
          <p:cNvSpPr txBox="1"/>
          <p:nvPr/>
        </p:nvSpPr>
        <p:spPr>
          <a:xfrm>
            <a:off x="4937760" y="3931920"/>
            <a:ext cx="2011680" cy="21031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94A3B8"/>
                </a:solidFill>
                <a:latin typeface="Arial"/>
                <a:ea typeface="Arial"/>
                <a:cs typeface="Arial"/>
                <a:sym typeface="Arial"/>
              </a:rPr>
              <a:t>Módulo 'Diagnostica tu cabello' para evaluar fotos con el modelo ResNet50 en Render.</a:t>
            </a:r>
            <a:endParaRPr b="0" i="0" sz="1400" u="none" cap="none" strike="noStrike">
              <a:solidFill>
                <a:srgbClr val="000000"/>
              </a:solidFill>
              <a:latin typeface="Arial"/>
              <a:ea typeface="Arial"/>
              <a:cs typeface="Arial"/>
              <a:sym typeface="Arial"/>
            </a:endParaRPr>
          </a:p>
        </p:txBody>
      </p:sp>
      <p:sp>
        <p:nvSpPr>
          <p:cNvPr id="178" name="Google Shape;178;p9"/>
          <p:cNvSpPr/>
          <p:nvPr/>
        </p:nvSpPr>
        <p:spPr>
          <a:xfrm>
            <a:off x="7315200" y="2103120"/>
            <a:ext cx="1645920" cy="1645920"/>
          </a:xfrm>
          <a:prstGeom prst="ellipse">
            <a:avLst/>
          </a:prstGeom>
          <a:solidFill>
            <a:srgbClr val="1E293B"/>
          </a:solidFill>
          <a:ln cap="flat" cmpd="sng" w="31750">
            <a:solidFill>
              <a:srgbClr val="C241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9125" lIns="9125" spcFirstLastPara="1" rIns="9125" wrap="square" tIns="91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AF9F6"/>
                </a:solidFill>
                <a:latin typeface="Arial"/>
                <a:ea typeface="Arial"/>
                <a:cs typeface="Arial"/>
                <a:sym typeface="Arial"/>
              </a:rPr>
              <a:t>⚙️ E08-09</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100"/>
              </a:spcBef>
              <a:spcAft>
                <a:spcPts val="0"/>
              </a:spcAft>
              <a:buClr>
                <a:srgbClr val="000000"/>
              </a:buClr>
              <a:buSzPts val="1100"/>
              <a:buFont typeface="Arial"/>
              <a:buNone/>
            </a:pPr>
            <a:r>
              <a:rPr b="1" i="0" lang="en-US" sz="1100" u="none" cap="none" strike="noStrike">
                <a:solidFill>
                  <a:srgbClr val="FAF9F6"/>
                </a:solidFill>
                <a:latin typeface="Georgia"/>
                <a:ea typeface="Georgia"/>
                <a:cs typeface="Georgia"/>
                <a:sym typeface="Georgia"/>
              </a:rPr>
              <a:t>Admin</a:t>
            </a:r>
            <a:endParaRPr b="0" i="0" sz="1400" u="none" cap="none" strike="noStrike">
              <a:solidFill>
                <a:srgbClr val="000000"/>
              </a:solidFill>
              <a:latin typeface="Arial"/>
              <a:ea typeface="Arial"/>
              <a:cs typeface="Arial"/>
              <a:sym typeface="Arial"/>
            </a:endParaRPr>
          </a:p>
        </p:txBody>
      </p:sp>
      <p:sp>
        <p:nvSpPr>
          <p:cNvPr id="179" name="Google Shape;179;p9"/>
          <p:cNvSpPr txBox="1"/>
          <p:nvPr/>
        </p:nvSpPr>
        <p:spPr>
          <a:xfrm>
            <a:off x="7132320" y="3931920"/>
            <a:ext cx="2011680" cy="21031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94A3B8"/>
                </a:solidFill>
                <a:latin typeface="Arial"/>
                <a:ea typeface="Arial"/>
                <a:cs typeface="Arial"/>
                <a:sym typeface="Arial"/>
              </a:rPr>
              <a:t>Panel administrativo para controlar catálogo, marcas, categorías, cupones y ver métricas.</a:t>
            </a:r>
            <a:endParaRPr b="0" i="0" sz="1400" u="none" cap="none" strike="noStrike">
              <a:solidFill>
                <a:srgbClr val="000000"/>
              </a:solidFill>
              <a:latin typeface="Arial"/>
              <a:ea typeface="Arial"/>
              <a:cs typeface="Arial"/>
              <a:sym typeface="Arial"/>
            </a:endParaRPr>
          </a:p>
        </p:txBody>
      </p:sp>
      <p:sp>
        <p:nvSpPr>
          <p:cNvPr id="180" name="Google Shape;180;p9"/>
          <p:cNvSpPr/>
          <p:nvPr/>
        </p:nvSpPr>
        <p:spPr>
          <a:xfrm>
            <a:off x="9509760" y="2103120"/>
            <a:ext cx="1645920" cy="1645920"/>
          </a:xfrm>
          <a:prstGeom prst="ellipse">
            <a:avLst/>
          </a:prstGeom>
          <a:solidFill>
            <a:srgbClr val="1E293B"/>
          </a:solidFill>
          <a:ln cap="flat" cmpd="sng" w="317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9125" lIns="9125" spcFirstLastPara="1" rIns="9125" wrap="square" tIns="91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AF9F6"/>
                </a:solidFill>
                <a:latin typeface="Arial"/>
                <a:ea typeface="Arial"/>
                <a:cs typeface="Arial"/>
                <a:sym typeface="Arial"/>
              </a:rPr>
              <a:t>📦 E13</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100"/>
              </a:spcBef>
              <a:spcAft>
                <a:spcPts val="0"/>
              </a:spcAft>
              <a:buClr>
                <a:srgbClr val="000000"/>
              </a:buClr>
              <a:buSzPts val="1100"/>
              <a:buFont typeface="Arial"/>
              <a:buNone/>
            </a:pPr>
            <a:r>
              <a:rPr b="1" i="0" lang="en-US" sz="1100" u="none" cap="none" strike="noStrike">
                <a:solidFill>
                  <a:srgbClr val="FAF9F6"/>
                </a:solidFill>
                <a:latin typeface="Georgia"/>
                <a:ea typeface="Georgia"/>
                <a:cs typeface="Georgia"/>
                <a:sym typeface="Georgia"/>
              </a:rPr>
              <a:t>Control Bodega</a:t>
            </a:r>
            <a:endParaRPr b="0" i="0" sz="1400" u="none" cap="none" strike="noStrike">
              <a:solidFill>
                <a:srgbClr val="000000"/>
              </a:solidFill>
              <a:latin typeface="Arial"/>
              <a:ea typeface="Arial"/>
              <a:cs typeface="Arial"/>
              <a:sym typeface="Arial"/>
            </a:endParaRPr>
          </a:p>
        </p:txBody>
      </p:sp>
      <p:sp>
        <p:nvSpPr>
          <p:cNvPr id="181" name="Google Shape;181;p9"/>
          <p:cNvSpPr txBox="1"/>
          <p:nvPr/>
        </p:nvSpPr>
        <p:spPr>
          <a:xfrm>
            <a:off x="9326880" y="3931920"/>
            <a:ext cx="2011680" cy="21031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94A3B8"/>
                </a:solidFill>
                <a:latin typeface="Arial"/>
                <a:ea typeface="Arial"/>
                <a:cs typeface="Arial"/>
                <a:sym typeface="Arial"/>
              </a:rPr>
              <a:t>Panel exclusivo para bodegueros, despacho de pedidos en tiempo real y regularización de stock.</a:t>
            </a:r>
            <a:endParaRPr b="0" i="0" sz="1400" u="none" cap="none" strike="noStrike">
              <a:solidFill>
                <a:srgbClr val="000000"/>
              </a:solidFill>
              <a:latin typeface="Arial"/>
              <a:ea typeface="Arial"/>
              <a:cs typeface="Arial"/>
              <a:sym typeface="Arial"/>
            </a:endParaRPr>
          </a:p>
        </p:txBody>
      </p:sp>
      <p:sp>
        <p:nvSpPr>
          <p:cNvPr id="182" name="Google Shape;182;p9"/>
          <p:cNvSpPr txBox="1"/>
          <p:nvPr>
            <p:ph idx="12" type="sldNum"/>
          </p:nvPr>
        </p:nvSpPr>
        <p:spPr>
          <a:xfrm>
            <a:off x="9509738" y="6217925"/>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0F9FF"/>
        </a:solidFill>
      </p:bgPr>
    </p:bg>
    <p:spTree>
      <p:nvGrpSpPr>
        <p:cNvPr id="187" name="Shape 187"/>
        <p:cNvGrpSpPr/>
        <p:nvPr/>
      </p:nvGrpSpPr>
      <p:grpSpPr>
        <a:xfrm>
          <a:off x="0" y="0"/>
          <a:ext cx="0" cy="0"/>
          <a:chOff x="0" y="0"/>
          <a:chExt cx="0" cy="0"/>
        </a:xfrm>
      </p:grpSpPr>
      <p:sp>
        <p:nvSpPr>
          <p:cNvPr id="188" name="Google Shape;188;p15"/>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Historias de Usuario Críticas y Estimaciones de Esfuerzo</a:t>
            </a:r>
            <a:endParaRPr b="0" i="0" sz="1400" u="none" cap="none" strike="noStrike">
              <a:solidFill>
                <a:srgbClr val="000000"/>
              </a:solidFill>
              <a:latin typeface="Arial"/>
              <a:ea typeface="Arial"/>
              <a:cs typeface="Arial"/>
              <a:sym typeface="Arial"/>
            </a:endParaRPr>
          </a:p>
        </p:txBody>
      </p:sp>
      <p:sp>
        <p:nvSpPr>
          <p:cNvPr id="189" name="Google Shape;189;p15"/>
          <p:cNvSpPr/>
          <p:nvPr/>
        </p:nvSpPr>
        <p:spPr>
          <a:xfrm>
            <a:off x="457200" y="1371600"/>
            <a:ext cx="2560320" cy="4663440"/>
          </a:xfrm>
          <a:prstGeom prst="roundRect">
            <a:avLst>
              <a:gd fmla="val 16667" name="adj"/>
            </a:avLst>
          </a:prstGeom>
          <a:solidFill>
            <a:srgbClr val="FFFFFF"/>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37150" lIns="137150" spcFirstLastPara="1" rIns="137150" wrap="square" tIns="13715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1E293B"/>
                </a:solidFill>
                <a:latin typeface="Arial"/>
                <a:ea typeface="Arial"/>
                <a:cs typeface="Arial"/>
                <a:sym typeface="Arial"/>
              </a:rPr>
              <a:t>CLIENTE / COMPRADOR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950"/>
              <a:buFont typeface="Arial"/>
              <a:buNone/>
            </a:pPr>
            <a:r>
              <a:rPr b="0" i="0" lang="en-US" sz="950" u="none" cap="none" strike="noStrike">
                <a:solidFill>
                  <a:srgbClr val="1E293B"/>
                </a:solidFill>
                <a:latin typeface="Arial"/>
                <a:ea typeface="Arial"/>
                <a:cs typeface="Arial"/>
                <a:sym typeface="Arial"/>
              </a:rPr>
              <a:t>• E02-H06 (100 Puntos / Alta):</a:t>
            </a:r>
            <a:br>
              <a:rPr b="0" i="0" lang="en-US" sz="950" u="none" cap="none" strike="noStrike">
                <a:solidFill>
                  <a:srgbClr val="1E293B"/>
                </a:solidFill>
                <a:latin typeface="Arial"/>
                <a:ea typeface="Arial"/>
                <a:cs typeface="Arial"/>
                <a:sym typeface="Arial"/>
              </a:rPr>
            </a:br>
            <a:r>
              <a:rPr b="0" i="0" lang="en-US" sz="950" u="none" cap="none" strike="noStrike">
                <a:solidFill>
                  <a:srgbClr val="1E293B"/>
                </a:solidFill>
                <a:latin typeface="Arial"/>
                <a:ea typeface="Arial"/>
                <a:cs typeface="Arial"/>
                <a:sym typeface="Arial"/>
              </a:rPr>
              <a:t>"Como cliente, quiero visualizar el catálogo dinámico de productos para explorar la vitrina comercial de marcas capilares."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950"/>
              <a:buFont typeface="Arial"/>
              <a:buNone/>
            </a:pPr>
            <a:r>
              <a:rPr b="0" i="0" lang="en-US" sz="950" u="none" cap="none" strike="noStrike">
                <a:solidFill>
                  <a:srgbClr val="1E293B"/>
                </a:solidFill>
                <a:latin typeface="Arial"/>
                <a:ea typeface="Arial"/>
                <a:cs typeface="Arial"/>
                <a:sym typeface="Arial"/>
              </a:rPr>
              <a:t>• E03-H11 (90 Puntos / Alta):</a:t>
            </a:r>
            <a:br>
              <a:rPr b="0" i="0" lang="en-US" sz="950" u="none" cap="none" strike="noStrike">
                <a:solidFill>
                  <a:srgbClr val="1E293B"/>
                </a:solidFill>
                <a:latin typeface="Arial"/>
                <a:ea typeface="Arial"/>
                <a:cs typeface="Arial"/>
                <a:sym typeface="Arial"/>
              </a:rPr>
            </a:br>
            <a:r>
              <a:rPr b="0" i="0" lang="en-US" sz="950" u="none" cap="none" strike="noStrike">
                <a:solidFill>
                  <a:srgbClr val="1E293B"/>
                </a:solidFill>
                <a:latin typeface="Arial"/>
                <a:ea typeface="Arial"/>
                <a:cs typeface="Arial"/>
                <a:sym typeface="Arial"/>
              </a:rPr>
              <a:t>"Como cliente, quiero abrir un carrito de compras lateral persistente para revisar los productos seleccionados sin salir del catálogo."</a:t>
            </a:r>
            <a:endParaRPr b="0" i="0" sz="1400" u="none" cap="none" strike="noStrike">
              <a:solidFill>
                <a:srgbClr val="000000"/>
              </a:solidFill>
              <a:latin typeface="Arial"/>
              <a:ea typeface="Arial"/>
              <a:cs typeface="Arial"/>
              <a:sym typeface="Arial"/>
            </a:endParaRPr>
          </a:p>
        </p:txBody>
      </p:sp>
      <p:sp>
        <p:nvSpPr>
          <p:cNvPr id="190" name="Google Shape;190;p15"/>
          <p:cNvSpPr/>
          <p:nvPr/>
        </p:nvSpPr>
        <p:spPr>
          <a:xfrm>
            <a:off x="3291840" y="1371600"/>
            <a:ext cx="2560320" cy="4663440"/>
          </a:xfrm>
          <a:prstGeom prst="roundRect">
            <a:avLst>
              <a:gd fmla="val 16667" name="adj"/>
            </a:avLst>
          </a:prstGeom>
          <a:solidFill>
            <a:srgbClr val="FFFFFF"/>
          </a:solidFill>
          <a:ln cap="flat" cmpd="sng" w="19050">
            <a:solidFill>
              <a:srgbClr val="C241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37150" lIns="137150" spcFirstLastPara="1" rIns="137150" wrap="square" tIns="13715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1E293B"/>
                </a:solidFill>
                <a:latin typeface="Arial"/>
                <a:ea typeface="Arial"/>
                <a:cs typeface="Arial"/>
                <a:sym typeface="Arial"/>
              </a:rPr>
              <a:t>ADMINISTRADOR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950"/>
              <a:buFont typeface="Arial"/>
              <a:buNone/>
            </a:pPr>
            <a:r>
              <a:rPr b="0" i="0" lang="en-US" sz="950" u="none" cap="none" strike="noStrike">
                <a:solidFill>
                  <a:srgbClr val="1E293B"/>
                </a:solidFill>
                <a:latin typeface="Arial"/>
                <a:ea typeface="Arial"/>
                <a:cs typeface="Arial"/>
                <a:sym typeface="Arial"/>
              </a:rPr>
              <a:t>• E08-H26 (90 Puntos / Alta):</a:t>
            </a:r>
            <a:br>
              <a:rPr b="0" i="0" lang="en-US" sz="950" u="none" cap="none" strike="noStrike">
                <a:solidFill>
                  <a:srgbClr val="1E293B"/>
                </a:solidFill>
                <a:latin typeface="Arial"/>
                <a:ea typeface="Arial"/>
                <a:cs typeface="Arial"/>
                <a:sym typeface="Arial"/>
              </a:rPr>
            </a:br>
            <a:r>
              <a:rPr b="0" i="0" lang="en-US" sz="950" u="none" cap="none" strike="noStrike">
                <a:solidFill>
                  <a:srgbClr val="1E293B"/>
                </a:solidFill>
                <a:latin typeface="Arial"/>
                <a:ea typeface="Arial"/>
                <a:cs typeface="Arial"/>
                <a:sym typeface="Arial"/>
              </a:rPr>
              <a:t>"Como administrador, quiero crear, editar y eliminar productos del catálogo para mantener el catálogo actualizado."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950"/>
              <a:buFont typeface="Arial"/>
              <a:buNone/>
            </a:pPr>
            <a:r>
              <a:rPr b="0" i="0" lang="en-US" sz="950" u="none" cap="none" strike="noStrike">
                <a:solidFill>
                  <a:srgbClr val="1E293B"/>
                </a:solidFill>
                <a:latin typeface="Arial"/>
                <a:ea typeface="Arial"/>
                <a:cs typeface="Arial"/>
                <a:sym typeface="Arial"/>
              </a:rPr>
              <a:t>• E09-H30 (60 Puntos / Media):</a:t>
            </a:r>
            <a:br>
              <a:rPr b="0" i="0" lang="en-US" sz="950" u="none" cap="none" strike="noStrike">
                <a:solidFill>
                  <a:srgbClr val="1E293B"/>
                </a:solidFill>
                <a:latin typeface="Arial"/>
                <a:ea typeface="Arial"/>
                <a:cs typeface="Arial"/>
                <a:sym typeface="Arial"/>
              </a:rPr>
            </a:br>
            <a:r>
              <a:rPr b="0" i="0" lang="en-US" sz="950" u="none" cap="none" strike="noStrike">
                <a:solidFill>
                  <a:srgbClr val="1E293B"/>
                </a:solidFill>
                <a:latin typeface="Arial"/>
                <a:ea typeface="Arial"/>
                <a:cs typeface="Arial"/>
                <a:sym typeface="Arial"/>
              </a:rPr>
              <a:t>"Como administrador, quiero visualizar métricas de productos destacados y stock bajo para monitorear el negocio."</a:t>
            </a:r>
            <a:endParaRPr b="0" i="0" sz="1400" u="none" cap="none" strike="noStrike">
              <a:solidFill>
                <a:srgbClr val="000000"/>
              </a:solidFill>
              <a:latin typeface="Arial"/>
              <a:ea typeface="Arial"/>
              <a:cs typeface="Arial"/>
              <a:sym typeface="Arial"/>
            </a:endParaRPr>
          </a:p>
        </p:txBody>
      </p:sp>
      <p:sp>
        <p:nvSpPr>
          <p:cNvPr id="191" name="Google Shape;191;p15"/>
          <p:cNvSpPr/>
          <p:nvPr/>
        </p:nvSpPr>
        <p:spPr>
          <a:xfrm>
            <a:off x="6126480" y="1371600"/>
            <a:ext cx="2560320" cy="4663440"/>
          </a:xfrm>
          <a:prstGeom prst="roundRect">
            <a:avLst>
              <a:gd fmla="val 16667" name="adj"/>
            </a:avLst>
          </a:prstGeom>
          <a:solidFill>
            <a:srgbClr val="FFFFFF"/>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37150" lIns="137150" spcFirstLastPara="1" rIns="137150" wrap="square" tIns="13715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C2410C"/>
                </a:solidFill>
                <a:latin typeface="Arial"/>
                <a:ea typeface="Arial"/>
                <a:cs typeface="Arial"/>
                <a:sym typeface="Arial"/>
              </a:rPr>
              <a:t>BODEGUERO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950"/>
              <a:buFont typeface="Arial"/>
              <a:buNone/>
            </a:pPr>
            <a:r>
              <a:rPr b="0" i="0" lang="en-US" sz="950" u="none" cap="none" strike="noStrike">
                <a:solidFill>
                  <a:srgbClr val="1E293B"/>
                </a:solidFill>
                <a:latin typeface="Arial"/>
                <a:ea typeface="Arial"/>
                <a:cs typeface="Arial"/>
                <a:sym typeface="Arial"/>
              </a:rPr>
              <a:t>• E13-H44 (60 Puntos / Media):</a:t>
            </a:r>
            <a:br>
              <a:rPr b="0" i="0" lang="en-US" sz="950" u="none" cap="none" strike="noStrike">
                <a:solidFill>
                  <a:srgbClr val="1E293B"/>
                </a:solidFill>
                <a:latin typeface="Arial"/>
                <a:ea typeface="Arial"/>
                <a:cs typeface="Arial"/>
                <a:sym typeface="Arial"/>
              </a:rPr>
            </a:br>
            <a:r>
              <a:rPr b="0" i="0" lang="en-US" sz="950" u="none" cap="none" strike="noStrike">
                <a:solidFill>
                  <a:srgbClr val="1E293B"/>
                </a:solidFill>
                <a:latin typeface="Arial"/>
                <a:ea typeface="Arial"/>
                <a:cs typeface="Arial"/>
                <a:sym typeface="Arial"/>
              </a:rPr>
              <a:t>"Como bodeguero, quiero acceder a un panel exclusivo limitado para operar solo las tareas de mi rol."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950"/>
              <a:buFont typeface="Arial"/>
              <a:buNone/>
            </a:pPr>
            <a:r>
              <a:rPr b="0" i="0" lang="en-US" sz="950" u="none" cap="none" strike="noStrike">
                <a:solidFill>
                  <a:srgbClr val="1E293B"/>
                </a:solidFill>
                <a:latin typeface="Arial"/>
                <a:ea typeface="Arial"/>
                <a:cs typeface="Arial"/>
                <a:sym typeface="Arial"/>
              </a:rPr>
              <a:t>• E13-H45 (60 Puntos / Media):</a:t>
            </a:r>
            <a:br>
              <a:rPr b="0" i="0" lang="en-US" sz="950" u="none" cap="none" strike="noStrike">
                <a:solidFill>
                  <a:srgbClr val="1E293B"/>
                </a:solidFill>
                <a:latin typeface="Arial"/>
                <a:ea typeface="Arial"/>
                <a:cs typeface="Arial"/>
                <a:sym typeface="Arial"/>
              </a:rPr>
            </a:br>
            <a:r>
              <a:rPr b="0" i="0" lang="en-US" sz="950" u="none" cap="none" strike="noStrike">
                <a:solidFill>
                  <a:srgbClr val="1E293B"/>
                </a:solidFill>
                <a:latin typeface="Arial"/>
                <a:ea typeface="Arial"/>
                <a:cs typeface="Arial"/>
                <a:sym typeface="Arial"/>
              </a:rPr>
              <a:t>"Como bodeguero, quiero marcar productos como agotados de forma inmediata para que dejen de ofrecerse en la web."</a:t>
            </a:r>
            <a:endParaRPr b="0" i="0" sz="1400" u="none" cap="none" strike="noStrike">
              <a:solidFill>
                <a:srgbClr val="000000"/>
              </a:solidFill>
              <a:latin typeface="Arial"/>
              <a:ea typeface="Arial"/>
              <a:cs typeface="Arial"/>
              <a:sym typeface="Arial"/>
            </a:endParaRPr>
          </a:p>
        </p:txBody>
      </p:sp>
      <p:sp>
        <p:nvSpPr>
          <p:cNvPr id="192" name="Google Shape;192;p15"/>
          <p:cNvSpPr/>
          <p:nvPr/>
        </p:nvSpPr>
        <p:spPr>
          <a:xfrm>
            <a:off x="8961120" y="1371600"/>
            <a:ext cx="2560320" cy="4663440"/>
          </a:xfrm>
          <a:prstGeom prst="roundRect">
            <a:avLst>
              <a:gd fmla="val 16667" name="adj"/>
            </a:avLst>
          </a:prstGeom>
          <a:solidFill>
            <a:srgbClr val="FFFFFF"/>
          </a:solidFill>
          <a:ln cap="flat" cmpd="sng" w="19050">
            <a:solidFill>
              <a:srgbClr val="C241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37150" lIns="137150" spcFirstLastPara="1" rIns="137150" wrap="square" tIns="137150">
            <a:no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1E293B"/>
                </a:solidFill>
                <a:latin typeface="Arial"/>
                <a:ea typeface="Arial"/>
                <a:cs typeface="Arial"/>
                <a:sym typeface="Arial"/>
              </a:rPr>
              <a:t>SISTEMA / INVITADO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950"/>
              <a:buFont typeface="Arial"/>
              <a:buNone/>
            </a:pPr>
            <a:r>
              <a:rPr b="0" i="0" lang="en-US" sz="950" u="none" cap="none" strike="noStrike">
                <a:solidFill>
                  <a:srgbClr val="1E293B"/>
                </a:solidFill>
                <a:latin typeface="Arial"/>
                <a:ea typeface="Arial"/>
                <a:cs typeface="Arial"/>
                <a:sym typeface="Arial"/>
              </a:rPr>
              <a:t>• E01-H02 (90 Puntos / Alta):</a:t>
            </a:r>
            <a:br>
              <a:rPr b="0" i="0" lang="en-US" sz="950" u="none" cap="none" strike="noStrike">
                <a:solidFill>
                  <a:srgbClr val="1E293B"/>
                </a:solidFill>
                <a:latin typeface="Arial"/>
                <a:ea typeface="Arial"/>
                <a:cs typeface="Arial"/>
                <a:sym typeface="Arial"/>
              </a:rPr>
            </a:br>
            <a:r>
              <a:rPr b="0" i="0" lang="en-US" sz="950" u="none" cap="none" strike="noStrike">
                <a:solidFill>
                  <a:srgbClr val="1E293B"/>
                </a:solidFill>
                <a:latin typeface="Arial"/>
                <a:ea typeface="Arial"/>
                <a:cs typeface="Arial"/>
                <a:sym typeface="Arial"/>
              </a:rPr>
              <a:t>"Como visitante, quiero registrarme ingresando mis datos para contar con una cuenta transaccional."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950"/>
              <a:buFont typeface="Arial"/>
              <a:buNone/>
            </a:pPr>
            <a:r>
              <a:rPr b="0" i="0" lang="en-US" sz="950" u="none" cap="none" strike="noStrike">
                <a:solidFill>
                  <a:srgbClr val="1E293B"/>
                </a:solidFill>
                <a:latin typeface="Arial"/>
                <a:ea typeface="Arial"/>
                <a:cs typeface="Arial"/>
                <a:sym typeface="Arial"/>
              </a:rPr>
              <a:t>• E01-H05 (90 Puntos / Alta):</a:t>
            </a:r>
            <a:br>
              <a:rPr b="0" i="0" lang="en-US" sz="950" u="none" cap="none" strike="noStrike">
                <a:solidFill>
                  <a:srgbClr val="1E293B"/>
                </a:solidFill>
                <a:latin typeface="Arial"/>
                <a:ea typeface="Arial"/>
                <a:cs typeface="Arial"/>
                <a:sym typeface="Arial"/>
              </a:rPr>
            </a:br>
            <a:r>
              <a:rPr b="0" i="0" lang="en-US" sz="950" u="none" cap="none" strike="noStrike">
                <a:solidFill>
                  <a:srgbClr val="1E293B"/>
                </a:solidFill>
                <a:latin typeface="Arial"/>
                <a:ea typeface="Arial"/>
                <a:cs typeface="Arial"/>
                <a:sym typeface="Arial"/>
              </a:rPr>
              <a:t>"Como sistema, quiero restringir rutas e interfaces según el rol del usuario para evitar accesos no autorizados."</a:t>
            </a:r>
            <a:endParaRPr b="0" i="0" sz="1400" u="none" cap="none" strike="noStrike">
              <a:solidFill>
                <a:srgbClr val="000000"/>
              </a:solidFill>
              <a:latin typeface="Arial"/>
              <a:ea typeface="Arial"/>
              <a:cs typeface="Arial"/>
              <a:sym typeface="Arial"/>
            </a:endParaRPr>
          </a:p>
        </p:txBody>
      </p:sp>
      <p:sp>
        <p:nvSpPr>
          <p:cNvPr id="193" name="Google Shape;193;p15"/>
          <p:cNvSpPr txBox="1"/>
          <p:nvPr>
            <p:ph idx="12" type="sldNum"/>
          </p:nvPr>
        </p:nvSpPr>
        <p:spPr>
          <a:xfrm>
            <a:off x="9600900" y="6309700"/>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198" name="Shape 198"/>
        <p:cNvGrpSpPr/>
        <p:nvPr/>
      </p:nvGrpSpPr>
      <p:grpSpPr>
        <a:xfrm>
          <a:off x="0" y="0"/>
          <a:ext cx="0" cy="0"/>
          <a:chOff x="0" y="0"/>
          <a:chExt cx="0" cy="0"/>
        </a:xfrm>
      </p:grpSpPr>
      <p:pic>
        <p:nvPicPr>
          <p:cNvPr id="199" name="Google Shape;199;p16"/>
          <p:cNvPicPr preferRelativeResize="0"/>
          <p:nvPr/>
        </p:nvPicPr>
        <p:blipFill rotWithShape="1">
          <a:blip r:embed="rId3">
            <a:alphaModFix/>
          </a:blip>
          <a:srcRect b="0" l="0" r="0" t="0"/>
          <a:stretch/>
        </p:blipFill>
        <p:spPr>
          <a:xfrm>
            <a:off x="0" y="3835800"/>
            <a:ext cx="12219575" cy="430775"/>
          </a:xfrm>
          <a:prstGeom prst="rect">
            <a:avLst/>
          </a:prstGeom>
          <a:solidFill>
            <a:srgbClr val="FFFFFF"/>
          </a:solidFill>
          <a:ln cap="flat" cmpd="sng" w="19050">
            <a:solidFill>
              <a:schemeClr val="lt1"/>
            </a:solidFill>
            <a:prstDash val="solid"/>
            <a:round/>
            <a:headEnd len="sm" w="sm" type="none"/>
            <a:tailEnd len="sm" w="sm" type="none"/>
          </a:ln>
        </p:spPr>
      </p:pic>
      <p:sp>
        <p:nvSpPr>
          <p:cNvPr id="200" name="Google Shape;200;p16"/>
          <p:cNvSpPr txBox="1"/>
          <p:nvPr>
            <p:ph idx="12" type="sldNum"/>
          </p:nvPr>
        </p:nvSpPr>
        <p:spPr>
          <a:xfrm>
            <a:off x="9712200" y="6353875"/>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pic>
        <p:nvPicPr>
          <p:cNvPr id="201" name="Google Shape;201;p16"/>
          <p:cNvPicPr preferRelativeResize="0"/>
          <p:nvPr/>
        </p:nvPicPr>
        <p:blipFill>
          <a:blip r:embed="rId4">
            <a:alphaModFix/>
          </a:blip>
          <a:stretch>
            <a:fillRect/>
          </a:stretch>
        </p:blipFill>
        <p:spPr>
          <a:xfrm>
            <a:off x="152400" y="935943"/>
            <a:ext cx="11665246" cy="5274724"/>
          </a:xfrm>
          <a:prstGeom prst="rect">
            <a:avLst/>
          </a:prstGeom>
          <a:noFill/>
          <a:ln>
            <a:noFill/>
          </a:ln>
        </p:spPr>
      </p:pic>
      <p:pic>
        <p:nvPicPr>
          <p:cNvPr id="202" name="Google Shape;202;p16"/>
          <p:cNvPicPr preferRelativeResize="0"/>
          <p:nvPr/>
        </p:nvPicPr>
        <p:blipFill>
          <a:blip r:embed="rId5">
            <a:alphaModFix/>
          </a:blip>
          <a:stretch>
            <a:fillRect/>
          </a:stretch>
        </p:blipFill>
        <p:spPr>
          <a:xfrm>
            <a:off x="152400" y="152400"/>
            <a:ext cx="11887199" cy="78356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207" name="Shape 207"/>
        <p:cNvGrpSpPr/>
        <p:nvPr/>
      </p:nvGrpSpPr>
      <p:grpSpPr>
        <a:xfrm>
          <a:off x="0" y="0"/>
          <a:ext cx="0" cy="0"/>
          <a:chOff x="0" y="0"/>
          <a:chExt cx="0" cy="0"/>
        </a:xfrm>
      </p:grpSpPr>
      <p:sp>
        <p:nvSpPr>
          <p:cNvPr id="208" name="Google Shape;208;p10"/>
          <p:cNvSpPr txBox="1"/>
          <p:nvPr/>
        </p:nvSpPr>
        <p:spPr>
          <a:xfrm>
            <a:off x="457350" y="213875"/>
            <a:ext cx="11277300" cy="861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Arquitectura del Sistema: Diseño Desacoplado y Consumo de IA</a:t>
            </a:r>
            <a:endParaRPr b="0" i="0" sz="1400" u="none" cap="none" strike="noStrike">
              <a:solidFill>
                <a:srgbClr val="000000"/>
              </a:solidFill>
              <a:latin typeface="Arial"/>
              <a:ea typeface="Arial"/>
              <a:cs typeface="Arial"/>
              <a:sym typeface="Arial"/>
            </a:endParaRPr>
          </a:p>
        </p:txBody>
      </p:sp>
      <p:sp>
        <p:nvSpPr>
          <p:cNvPr id="209" name="Google Shape;209;p10"/>
          <p:cNvSpPr txBox="1"/>
          <p:nvPr>
            <p:ph idx="12" type="sldNum"/>
          </p:nvPr>
        </p:nvSpPr>
        <p:spPr>
          <a:xfrm>
            <a:off x="9600900" y="6309350"/>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pic>
        <p:nvPicPr>
          <p:cNvPr id="210" name="Google Shape;210;p10"/>
          <p:cNvPicPr preferRelativeResize="0"/>
          <p:nvPr/>
        </p:nvPicPr>
        <p:blipFill rotWithShape="1">
          <a:blip r:embed="rId3">
            <a:alphaModFix/>
          </a:blip>
          <a:srcRect b="0" l="0" r="0" t="0"/>
          <a:stretch/>
        </p:blipFill>
        <p:spPr>
          <a:xfrm>
            <a:off x="1136200" y="986075"/>
            <a:ext cx="9919601" cy="56883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215" name="Shape 215"/>
        <p:cNvGrpSpPr/>
        <p:nvPr/>
      </p:nvGrpSpPr>
      <p:grpSpPr>
        <a:xfrm>
          <a:off x="0" y="0"/>
          <a:ext cx="0" cy="0"/>
          <a:chOff x="0" y="0"/>
          <a:chExt cx="0" cy="0"/>
        </a:xfrm>
      </p:grpSpPr>
      <p:sp>
        <p:nvSpPr>
          <p:cNvPr id="216" name="Google Shape;216;h1b6171f8b48e2504_0_0"/>
          <p:cNvSpPr txBox="1"/>
          <p:nvPr/>
        </p:nvSpPr>
        <p:spPr>
          <a:xfrm>
            <a:off x="457350" y="213875"/>
            <a:ext cx="112773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lang="en-US" sz="2800">
                <a:solidFill>
                  <a:srgbClr val="1E293B"/>
                </a:solidFill>
                <a:latin typeface="Georgia"/>
                <a:ea typeface="Georgia"/>
                <a:cs typeface="Georgia"/>
                <a:sym typeface="Georgia"/>
              </a:rPr>
              <a:t>Modelo de Datos</a:t>
            </a:r>
            <a:endParaRPr b="0" i="0" sz="1400" u="none" cap="none" strike="noStrike">
              <a:solidFill>
                <a:srgbClr val="000000"/>
              </a:solidFill>
              <a:latin typeface="Arial"/>
              <a:ea typeface="Arial"/>
              <a:cs typeface="Arial"/>
              <a:sym typeface="Arial"/>
            </a:endParaRPr>
          </a:p>
        </p:txBody>
      </p:sp>
      <p:sp>
        <p:nvSpPr>
          <p:cNvPr id="217" name="Google Shape;217;h1b6171f8b48e2504_0_0"/>
          <p:cNvSpPr txBox="1"/>
          <p:nvPr>
            <p:ph idx="12" type="sldNum"/>
          </p:nvPr>
        </p:nvSpPr>
        <p:spPr>
          <a:xfrm>
            <a:off x="9600900" y="6309350"/>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pic>
        <p:nvPicPr>
          <p:cNvPr id="218" name="Google Shape;218;h1b6171f8b48e2504_0_0" title="Monsite.png"/>
          <p:cNvPicPr preferRelativeResize="0"/>
          <p:nvPr/>
        </p:nvPicPr>
        <p:blipFill rotWithShape="1">
          <a:blip r:embed="rId3">
            <a:alphaModFix/>
          </a:blip>
          <a:srcRect b="0" l="630" r="-630" t="0"/>
          <a:stretch/>
        </p:blipFill>
        <p:spPr>
          <a:xfrm>
            <a:off x="1499500" y="644975"/>
            <a:ext cx="8848725" cy="59082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223" name="Shape 223"/>
        <p:cNvGrpSpPr/>
        <p:nvPr/>
      </p:nvGrpSpPr>
      <p:grpSpPr>
        <a:xfrm>
          <a:off x="0" y="0"/>
          <a:ext cx="0" cy="0"/>
          <a:chOff x="0" y="0"/>
          <a:chExt cx="0" cy="0"/>
        </a:xfrm>
      </p:grpSpPr>
      <p:sp>
        <p:nvSpPr>
          <p:cNvPr id="224" name="Google Shape;224;p11"/>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F1F5F9"/>
                </a:solidFill>
                <a:latin typeface="Georgia"/>
                <a:ea typeface="Georgia"/>
                <a:cs typeface="Georgia"/>
                <a:sym typeface="Georgia"/>
              </a:rPr>
              <a:t>Metodología Ágil: Adaptación del Marco Scrum en Monsite</a:t>
            </a:r>
            <a:endParaRPr b="0" i="0" sz="1400" u="none" cap="none" strike="noStrike">
              <a:solidFill>
                <a:srgbClr val="000000"/>
              </a:solidFill>
              <a:latin typeface="Arial"/>
              <a:ea typeface="Arial"/>
              <a:cs typeface="Arial"/>
              <a:sym typeface="Arial"/>
            </a:endParaRPr>
          </a:p>
        </p:txBody>
      </p:sp>
      <p:sp>
        <p:nvSpPr>
          <p:cNvPr id="225" name="Google Shape;225;p11"/>
          <p:cNvSpPr/>
          <p:nvPr/>
        </p:nvSpPr>
        <p:spPr>
          <a:xfrm>
            <a:off x="4480560" y="1921555"/>
            <a:ext cx="3200400" cy="3200400"/>
          </a:xfrm>
          <a:prstGeom prst="ellipse">
            <a:avLst/>
          </a:prstGeom>
          <a:solidFill>
            <a:srgbClr val="1E293B"/>
          </a:solidFill>
          <a:ln cap="flat" cmpd="sng" w="3810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10058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11"/>
          <p:cNvSpPr/>
          <p:nvPr/>
        </p:nvSpPr>
        <p:spPr>
          <a:xfrm>
            <a:off x="731520" y="1280160"/>
            <a:ext cx="3291840" cy="1280160"/>
          </a:xfrm>
          <a:prstGeom prst="roundRect">
            <a:avLst>
              <a:gd fmla="val 16667" name="adj"/>
            </a:avLst>
          </a:prstGeom>
          <a:solidFill>
            <a:srgbClr val="1E293B"/>
          </a:solidFill>
          <a:ln cap="flat" cmpd="sng" w="19050">
            <a:solidFill>
              <a:srgbClr val="C241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09725" lIns="109725" spcFirstLastPara="1" rIns="109725" wrap="square" tIns="1097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Georgia"/>
                <a:ea typeface="Georgia"/>
                <a:cs typeface="Georgia"/>
                <a:sym typeface="Georgia"/>
              </a:rPr>
              <a:t>1. Product Backlog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z="1000" u="none" cap="none" strike="noStrike">
                <a:solidFill>
                  <a:srgbClr val="F1F5F9"/>
                </a:solidFill>
                <a:latin typeface="Arial"/>
                <a:ea typeface="Arial"/>
                <a:cs typeface="Arial"/>
                <a:sym typeface="Arial"/>
              </a:rPr>
              <a:t>Registro priorizado de las 47 historias de usuario con puntajes de esfuerzo estimadas.</a:t>
            </a:r>
            <a:endParaRPr b="0" i="0" sz="1400" u="none" cap="none" strike="noStrike">
              <a:solidFill>
                <a:srgbClr val="000000"/>
              </a:solidFill>
              <a:latin typeface="Arial"/>
              <a:ea typeface="Arial"/>
              <a:cs typeface="Arial"/>
              <a:sym typeface="Arial"/>
            </a:endParaRPr>
          </a:p>
        </p:txBody>
      </p:sp>
      <p:sp>
        <p:nvSpPr>
          <p:cNvPr id="227" name="Google Shape;227;p11"/>
          <p:cNvSpPr/>
          <p:nvPr/>
        </p:nvSpPr>
        <p:spPr>
          <a:xfrm>
            <a:off x="8138160" y="1280160"/>
            <a:ext cx="3291840" cy="1280160"/>
          </a:xfrm>
          <a:prstGeom prst="roundRect">
            <a:avLst>
              <a:gd fmla="val 16667" name="adj"/>
            </a:avLst>
          </a:prstGeom>
          <a:solidFill>
            <a:srgbClr val="1E293B"/>
          </a:solidFill>
          <a:ln cap="flat" cmpd="sng" w="1905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09725" lIns="109725" spcFirstLastPara="1" rIns="109725" wrap="square" tIns="1097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Georgia"/>
                <a:ea typeface="Georgia"/>
                <a:cs typeface="Georgia"/>
                <a:sym typeface="Georgia"/>
              </a:rPr>
              <a:t>2. Sprint Planning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z="1000" u="none" cap="none" strike="noStrike">
                <a:solidFill>
                  <a:srgbClr val="F1F5F9"/>
                </a:solidFill>
                <a:latin typeface="Arial"/>
                <a:ea typeface="Arial"/>
                <a:cs typeface="Arial"/>
                <a:sym typeface="Arial"/>
              </a:rPr>
              <a:t>Reunión de planificación al inicio de cada sprint de 3 semanas para seleccionar entregables.</a:t>
            </a:r>
            <a:endParaRPr b="0" i="0" sz="1400" u="none" cap="none" strike="noStrike">
              <a:solidFill>
                <a:srgbClr val="000000"/>
              </a:solidFill>
              <a:latin typeface="Arial"/>
              <a:ea typeface="Arial"/>
              <a:cs typeface="Arial"/>
              <a:sym typeface="Arial"/>
            </a:endParaRPr>
          </a:p>
        </p:txBody>
      </p:sp>
      <p:sp>
        <p:nvSpPr>
          <p:cNvPr id="228" name="Google Shape;228;p11"/>
          <p:cNvSpPr/>
          <p:nvPr/>
        </p:nvSpPr>
        <p:spPr>
          <a:xfrm>
            <a:off x="731520" y="3749039"/>
            <a:ext cx="3291840" cy="1280160"/>
          </a:xfrm>
          <a:prstGeom prst="roundRect">
            <a:avLst>
              <a:gd fmla="val 16667" name="adj"/>
            </a:avLst>
          </a:prstGeom>
          <a:solidFill>
            <a:srgbClr val="1E293B"/>
          </a:solidFill>
          <a:ln cap="flat" cmpd="sng" w="1905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09725" lIns="109725" spcFirstLastPara="1" rIns="109725" wrap="square" tIns="1097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Georgia"/>
                <a:ea typeface="Georgia"/>
                <a:cs typeface="Georgia"/>
                <a:sym typeface="Georgia"/>
              </a:rPr>
              <a:t>3. Daily Scrum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z="1000" u="none" cap="none" strike="noStrike">
                <a:solidFill>
                  <a:srgbClr val="F1F5F9"/>
                </a:solidFill>
                <a:latin typeface="Arial"/>
                <a:ea typeface="Arial"/>
                <a:cs typeface="Arial"/>
                <a:sym typeface="Arial"/>
              </a:rPr>
              <a:t>Sesiones breves diarias de sincronización para coordinar frontend, backend e IA y levantar obstáculos.</a:t>
            </a:r>
            <a:endParaRPr b="0" i="0" sz="1400" u="none" cap="none" strike="noStrike">
              <a:solidFill>
                <a:srgbClr val="000000"/>
              </a:solidFill>
              <a:latin typeface="Arial"/>
              <a:ea typeface="Arial"/>
              <a:cs typeface="Arial"/>
              <a:sym typeface="Arial"/>
            </a:endParaRPr>
          </a:p>
        </p:txBody>
      </p:sp>
      <p:sp>
        <p:nvSpPr>
          <p:cNvPr id="229" name="Google Shape;229;p11"/>
          <p:cNvSpPr/>
          <p:nvPr/>
        </p:nvSpPr>
        <p:spPr>
          <a:xfrm>
            <a:off x="8138160" y="3749039"/>
            <a:ext cx="3291840" cy="1280160"/>
          </a:xfrm>
          <a:prstGeom prst="roundRect">
            <a:avLst>
              <a:gd fmla="val 16667" name="adj"/>
            </a:avLst>
          </a:prstGeom>
          <a:solidFill>
            <a:srgbClr val="1E293B"/>
          </a:solidFill>
          <a:ln cap="flat" cmpd="sng" w="19050">
            <a:solidFill>
              <a:srgbClr val="C241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09725" lIns="109725" spcFirstLastPara="1" rIns="109725" wrap="square" tIns="1097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Georgia"/>
                <a:ea typeface="Georgia"/>
                <a:cs typeface="Georgia"/>
                <a:sym typeface="Georgia"/>
              </a:rPr>
              <a:t>4. Sprint Review</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z="1000" u="none" cap="none" strike="noStrike">
                <a:solidFill>
                  <a:srgbClr val="F1F5F9"/>
                </a:solidFill>
                <a:latin typeface="Arial"/>
                <a:ea typeface="Arial"/>
                <a:cs typeface="Arial"/>
                <a:sym typeface="Arial"/>
              </a:rPr>
              <a:t>Demostración de los incrementos funcionales desarrollados al cliente de Monsite para validar UX.</a:t>
            </a:r>
            <a:endParaRPr b="0" i="0" sz="1400" u="none" cap="none" strike="noStrike">
              <a:solidFill>
                <a:srgbClr val="000000"/>
              </a:solidFill>
              <a:latin typeface="Arial"/>
              <a:ea typeface="Arial"/>
              <a:cs typeface="Arial"/>
              <a:sym typeface="Arial"/>
            </a:endParaRPr>
          </a:p>
        </p:txBody>
      </p:sp>
      <p:sp>
        <p:nvSpPr>
          <p:cNvPr id="230" name="Google Shape;230;p11"/>
          <p:cNvSpPr/>
          <p:nvPr/>
        </p:nvSpPr>
        <p:spPr>
          <a:xfrm>
            <a:off x="4480560" y="5303520"/>
            <a:ext cx="4114800" cy="1280160"/>
          </a:xfrm>
          <a:prstGeom prst="roundRect">
            <a:avLst>
              <a:gd fmla="val 16667" name="adj"/>
            </a:avLst>
          </a:prstGeom>
          <a:solidFill>
            <a:srgbClr val="1E293B"/>
          </a:solidFill>
          <a:ln cap="flat" cmpd="sng" w="1905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09725" lIns="109725" spcFirstLastPara="1" rIns="109725" wrap="square" tIns="10972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4B8A6"/>
                </a:solidFill>
                <a:latin typeface="Georgia"/>
                <a:ea typeface="Georgia"/>
                <a:cs typeface="Georgia"/>
                <a:sym typeface="Georgia"/>
              </a:rPr>
              <a:t>5. Retrospective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000"/>
              <a:buFont typeface="Arial"/>
              <a:buNone/>
            </a:pPr>
            <a:r>
              <a:rPr b="0" i="0" lang="en-US" sz="1000" u="none" cap="none" strike="noStrike">
                <a:solidFill>
                  <a:srgbClr val="F1F5F9"/>
                </a:solidFill>
                <a:latin typeface="Arial"/>
                <a:ea typeface="Arial"/>
                <a:cs typeface="Arial"/>
                <a:sym typeface="Arial"/>
              </a:rPr>
              <a:t>Reuniones de retrospectiva al cierre de cada sprint para acordar mejoras del proceso interno.</a:t>
            </a:r>
            <a:endParaRPr b="0" i="0" sz="1400" u="none" cap="none" strike="noStrike">
              <a:solidFill>
                <a:srgbClr val="000000"/>
              </a:solidFill>
              <a:latin typeface="Arial"/>
              <a:ea typeface="Arial"/>
              <a:cs typeface="Arial"/>
              <a:sym typeface="Arial"/>
            </a:endParaRPr>
          </a:p>
        </p:txBody>
      </p:sp>
      <p:sp>
        <p:nvSpPr>
          <p:cNvPr id="231" name="Google Shape;231;p11"/>
          <p:cNvSpPr txBox="1"/>
          <p:nvPr>
            <p:ph idx="12" type="sldNum"/>
          </p:nvPr>
        </p:nvSpPr>
        <p:spPr>
          <a:xfrm>
            <a:off x="9600900" y="6217925"/>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
        <p:nvSpPr>
          <p:cNvPr id="232" name="Google Shape;232;p11"/>
          <p:cNvSpPr txBox="1"/>
          <p:nvPr/>
        </p:nvSpPr>
        <p:spPr>
          <a:xfrm>
            <a:off x="5178800" y="2977825"/>
            <a:ext cx="1803900" cy="1726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600"/>
              <a:buFont typeface="Arial"/>
              <a:buNone/>
            </a:pPr>
            <a:r>
              <a:rPr b="1" i="0" lang="en-US" sz="1600" u="none" cap="none" strike="noStrike">
                <a:solidFill>
                  <a:srgbClr val="14B8A6"/>
                </a:solidFill>
                <a:latin typeface="Georgia"/>
                <a:ea typeface="Georgia"/>
                <a:cs typeface="Georgia"/>
                <a:sym typeface="Georgia"/>
              </a:rPr>
              <a:t>SCRUM</a:t>
            </a:r>
            <a:br>
              <a:rPr b="1" i="0" lang="en-US" sz="1600" u="none" cap="none" strike="noStrike">
                <a:solidFill>
                  <a:srgbClr val="14B8A6"/>
                </a:solidFill>
                <a:latin typeface="Georgia"/>
                <a:ea typeface="Georgia"/>
                <a:cs typeface="Georgia"/>
                <a:sym typeface="Georgia"/>
              </a:rPr>
            </a:br>
            <a:r>
              <a:rPr b="1" i="0" lang="en-US" sz="1600" u="none" cap="none" strike="noStrike">
                <a:solidFill>
                  <a:srgbClr val="14B8A6"/>
                </a:solidFill>
                <a:latin typeface="Georgia"/>
                <a:ea typeface="Georgia"/>
                <a:cs typeface="Georgia"/>
                <a:sym typeface="Georgia"/>
              </a:rPr>
              <a:t>Mediante Sprints</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200"/>
              <a:buFont typeface="Arial"/>
              <a:buNone/>
            </a:pPr>
            <a:r>
              <a:t/>
            </a:r>
            <a:endParaRPr b="0" i="0" sz="32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237" name="Shape 237"/>
        <p:cNvGrpSpPr/>
        <p:nvPr/>
      </p:nvGrpSpPr>
      <p:grpSpPr>
        <a:xfrm>
          <a:off x="0" y="0"/>
          <a:ext cx="0" cy="0"/>
          <a:chOff x="0" y="0"/>
          <a:chExt cx="0" cy="0"/>
        </a:xfrm>
      </p:grpSpPr>
      <p:sp>
        <p:nvSpPr>
          <p:cNvPr id="238" name="Google Shape;238;p12"/>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Equipo de Trabajo: Roles Metodológicos y Responsabilidades</a:t>
            </a:r>
            <a:endParaRPr b="0" i="0" sz="1400" u="none" cap="none" strike="noStrike">
              <a:solidFill>
                <a:srgbClr val="000000"/>
              </a:solidFill>
              <a:latin typeface="Arial"/>
              <a:ea typeface="Arial"/>
              <a:cs typeface="Arial"/>
              <a:sym typeface="Arial"/>
            </a:endParaRPr>
          </a:p>
        </p:txBody>
      </p:sp>
      <p:sp>
        <p:nvSpPr>
          <p:cNvPr id="239" name="Google Shape;239;p12"/>
          <p:cNvSpPr/>
          <p:nvPr/>
        </p:nvSpPr>
        <p:spPr>
          <a:xfrm>
            <a:off x="457200" y="1371600"/>
            <a:ext cx="2560320" cy="4663440"/>
          </a:xfrm>
          <a:prstGeom prst="roundRect">
            <a:avLst>
              <a:gd fmla="val 16667" name="adj"/>
            </a:avLst>
          </a:prstGeom>
          <a:solidFill>
            <a:srgbClr val="FFFFFF"/>
          </a:solidFill>
          <a:ln cap="flat" cmpd="sng" w="1905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64575" lIns="164575" spcFirstLastPara="1" rIns="164575" wrap="square" tIns="1645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a:p>
            <a:pPr indent="0" lvl="0" marL="0" marR="0" rtl="0" algn="ctr">
              <a:lnSpc>
                <a:spcPct val="100000"/>
              </a:lnSpc>
              <a:spcBef>
                <a:spcPts val="5600"/>
              </a:spcBef>
              <a:spcAft>
                <a:spcPts val="0"/>
              </a:spcAft>
              <a:buClr>
                <a:srgbClr val="000000"/>
              </a:buClr>
              <a:buSzPts val="1300"/>
              <a:buFont typeface="Arial"/>
              <a:buNone/>
            </a:pPr>
            <a:r>
              <a:rPr b="1" i="0" lang="en-US" sz="1300" u="none" cap="none" strike="noStrike">
                <a:solidFill>
                  <a:srgbClr val="1E293B"/>
                </a:solidFill>
                <a:latin typeface="Georgia"/>
                <a:ea typeface="Georgia"/>
                <a:cs typeface="Georgia"/>
                <a:sym typeface="Georgia"/>
              </a:rPr>
              <a:t>Benjamín Stavrakopulos</a:t>
            </a:r>
            <a:endParaRPr b="1" i="0" sz="1300" u="none" cap="none" strike="noStrike">
              <a:solidFill>
                <a:srgbClr val="1E293B"/>
              </a:solidFill>
              <a:latin typeface="Georgia"/>
              <a:ea typeface="Georgia"/>
              <a:cs typeface="Georgia"/>
              <a:sym typeface="Georgia"/>
            </a:endParaRPr>
          </a:p>
          <a:p>
            <a:pPr indent="0" lvl="0" marL="0" marR="0" rtl="0" algn="ctr">
              <a:lnSpc>
                <a:spcPct val="100000"/>
              </a:lnSpc>
              <a:spcBef>
                <a:spcPts val="200"/>
              </a:spcBef>
              <a:spcAft>
                <a:spcPts val="0"/>
              </a:spcAft>
              <a:buClr>
                <a:srgbClr val="000000"/>
              </a:buClr>
              <a:buSzPts val="900"/>
              <a:buFont typeface="Arial"/>
              <a:buNone/>
            </a:pPr>
            <a:r>
              <a:rPr b="1" i="0" lang="en-US" sz="900" u="none" cap="none" strike="noStrike">
                <a:solidFill>
                  <a:srgbClr val="14B8A6"/>
                </a:solidFill>
                <a:latin typeface="Arial"/>
                <a:ea typeface="Arial"/>
                <a:cs typeface="Arial"/>
                <a:sym typeface="Arial"/>
              </a:rPr>
              <a:t>TEAM DEVELOPER</a:t>
            </a:r>
            <a:br>
              <a:rPr b="1" i="0" lang="en-US" sz="900" u="none" cap="none" strike="noStrike">
                <a:solidFill>
                  <a:srgbClr val="14B8A6"/>
                </a:solidFill>
                <a:latin typeface="Arial"/>
                <a:ea typeface="Arial"/>
                <a:cs typeface="Arial"/>
                <a:sym typeface="Arial"/>
              </a:rPr>
            </a:br>
            <a:r>
              <a:rPr b="1" i="0" lang="en-US" sz="900" u="none" cap="none" strike="noStrike">
                <a:solidFill>
                  <a:srgbClr val="14B8A6"/>
                </a:solidFill>
                <a:latin typeface="Arial"/>
                <a:ea typeface="Arial"/>
                <a:cs typeface="Arial"/>
                <a:sym typeface="Arial"/>
              </a:rPr>
              <a:t>Organización, Backend e Integración</a:t>
            </a:r>
            <a:endParaRPr b="1" i="0" sz="900" u="none" cap="none" strike="noStrike">
              <a:solidFill>
                <a:srgbClr val="14B8A6"/>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 Priorización del backlog del negocio.</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Codificación del backend en Express.</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Diseño del esquema Firestore y almacenamiento de datos.</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Integración de webhooks y Checkout Pro de Mercado Pago.</a:t>
            </a:r>
            <a:endParaRPr b="0" i="0" sz="1400" u="none" cap="none" strike="noStrike">
              <a:solidFill>
                <a:srgbClr val="000000"/>
              </a:solidFill>
              <a:latin typeface="Arial"/>
              <a:ea typeface="Arial"/>
              <a:cs typeface="Arial"/>
              <a:sym typeface="Arial"/>
            </a:endParaRPr>
          </a:p>
        </p:txBody>
      </p:sp>
      <p:sp>
        <p:nvSpPr>
          <p:cNvPr id="240" name="Google Shape;240;p12"/>
          <p:cNvSpPr/>
          <p:nvPr/>
        </p:nvSpPr>
        <p:spPr>
          <a:xfrm>
            <a:off x="1417320" y="1554480"/>
            <a:ext cx="640080" cy="640080"/>
          </a:xfrm>
          <a:prstGeom prst="ellipse">
            <a:avLst/>
          </a:prstGeom>
          <a:solidFill>
            <a:srgbClr val="0F172A"/>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Arial"/>
                <a:ea typeface="Arial"/>
                <a:cs typeface="Arial"/>
                <a:sym typeface="Arial"/>
              </a:rPr>
              <a:t>BS</a:t>
            </a:r>
            <a:endParaRPr b="0" i="0" sz="1400" u="none" cap="none" strike="noStrike">
              <a:solidFill>
                <a:srgbClr val="000000"/>
              </a:solidFill>
              <a:latin typeface="Arial"/>
              <a:ea typeface="Arial"/>
              <a:cs typeface="Arial"/>
              <a:sym typeface="Arial"/>
            </a:endParaRPr>
          </a:p>
        </p:txBody>
      </p:sp>
      <p:sp>
        <p:nvSpPr>
          <p:cNvPr id="241" name="Google Shape;241;p12"/>
          <p:cNvSpPr/>
          <p:nvPr/>
        </p:nvSpPr>
        <p:spPr>
          <a:xfrm>
            <a:off x="3291840" y="1371600"/>
            <a:ext cx="2560320" cy="4663440"/>
          </a:xfrm>
          <a:prstGeom prst="roundRect">
            <a:avLst>
              <a:gd fmla="val 16667" name="adj"/>
            </a:avLst>
          </a:prstGeom>
          <a:solidFill>
            <a:srgbClr val="FFFFFF"/>
          </a:solidFill>
          <a:ln cap="flat" cmpd="sng" w="1905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64575" lIns="164575" spcFirstLastPara="1" rIns="164575" wrap="square" tIns="1645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a:p>
            <a:pPr indent="0" lvl="0" marL="0" marR="0" rtl="0" algn="ctr">
              <a:lnSpc>
                <a:spcPct val="100000"/>
              </a:lnSpc>
              <a:spcBef>
                <a:spcPts val="5600"/>
              </a:spcBef>
              <a:spcAft>
                <a:spcPts val="0"/>
              </a:spcAft>
              <a:buClr>
                <a:srgbClr val="000000"/>
              </a:buClr>
              <a:buSzPts val="1300"/>
              <a:buFont typeface="Arial"/>
              <a:buNone/>
            </a:pPr>
            <a:r>
              <a:rPr b="1" i="0" lang="en-US" sz="1300" u="none" cap="none" strike="noStrike">
                <a:solidFill>
                  <a:srgbClr val="1E293B"/>
                </a:solidFill>
                <a:latin typeface="Georgia"/>
                <a:ea typeface="Georgia"/>
                <a:cs typeface="Georgia"/>
                <a:sym typeface="Georgia"/>
              </a:rPr>
              <a:t>Bastián Lazo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00"/>
              <a:buFont typeface="Arial"/>
              <a:buNone/>
            </a:pPr>
            <a:r>
              <a:rPr b="1" i="0" lang="en-US" sz="900" u="none" cap="none" strike="noStrike">
                <a:solidFill>
                  <a:srgbClr val="14B8A6"/>
                </a:solidFill>
                <a:latin typeface="Arial"/>
                <a:ea typeface="Arial"/>
                <a:cs typeface="Arial"/>
                <a:sym typeface="Arial"/>
              </a:rPr>
              <a:t>TEAM DEVELOPER</a:t>
            </a:r>
            <a:br>
              <a:rPr b="1" i="0" lang="en-US" sz="900" u="none" cap="none" strike="noStrike">
                <a:solidFill>
                  <a:srgbClr val="14B8A6"/>
                </a:solidFill>
                <a:latin typeface="Arial"/>
                <a:ea typeface="Arial"/>
                <a:cs typeface="Arial"/>
                <a:sym typeface="Arial"/>
              </a:rPr>
            </a:br>
            <a:r>
              <a:rPr b="1" i="0" lang="en-US" sz="900" u="none" cap="none" strike="noStrike">
                <a:solidFill>
                  <a:srgbClr val="14B8A6"/>
                </a:solidFill>
                <a:latin typeface="Arial"/>
                <a:ea typeface="Arial"/>
                <a:cs typeface="Arial"/>
                <a:sym typeface="Arial"/>
              </a:rPr>
              <a:t>Desarrollo e Inteligencia Artificial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 Preparación y preprocesamiento de imágenes capilares.</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Entrenamiento y ajuste de curvas del modelo ResNet50.</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Programación de la API de inferencia en FastAPI.</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Apoyo en código general.</a:t>
            </a:r>
            <a:endParaRPr b="0" i="0" sz="1400" u="none" cap="none" strike="noStrike">
              <a:solidFill>
                <a:srgbClr val="000000"/>
              </a:solidFill>
              <a:latin typeface="Arial"/>
              <a:ea typeface="Arial"/>
              <a:cs typeface="Arial"/>
              <a:sym typeface="Arial"/>
            </a:endParaRPr>
          </a:p>
        </p:txBody>
      </p:sp>
      <p:sp>
        <p:nvSpPr>
          <p:cNvPr id="242" name="Google Shape;242;p12"/>
          <p:cNvSpPr/>
          <p:nvPr/>
        </p:nvSpPr>
        <p:spPr>
          <a:xfrm>
            <a:off x="4251960" y="1554480"/>
            <a:ext cx="640080" cy="640080"/>
          </a:xfrm>
          <a:prstGeom prst="ellipse">
            <a:avLst/>
          </a:prstGeom>
          <a:solidFill>
            <a:srgbClr val="0F172A"/>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Arial"/>
                <a:ea typeface="Arial"/>
                <a:cs typeface="Arial"/>
                <a:sym typeface="Arial"/>
              </a:rPr>
              <a:t>BL</a:t>
            </a:r>
            <a:endParaRPr b="0" i="0" sz="1400" u="none" cap="none" strike="noStrike">
              <a:solidFill>
                <a:srgbClr val="000000"/>
              </a:solidFill>
              <a:latin typeface="Arial"/>
              <a:ea typeface="Arial"/>
              <a:cs typeface="Arial"/>
              <a:sym typeface="Arial"/>
            </a:endParaRPr>
          </a:p>
        </p:txBody>
      </p:sp>
      <p:sp>
        <p:nvSpPr>
          <p:cNvPr id="243" name="Google Shape;243;p12"/>
          <p:cNvSpPr/>
          <p:nvPr/>
        </p:nvSpPr>
        <p:spPr>
          <a:xfrm>
            <a:off x="6126480" y="1371600"/>
            <a:ext cx="2560320" cy="4663440"/>
          </a:xfrm>
          <a:prstGeom prst="roundRect">
            <a:avLst>
              <a:gd fmla="val 16667" name="adj"/>
            </a:avLst>
          </a:prstGeom>
          <a:solidFill>
            <a:srgbClr val="FFFFFF"/>
          </a:solidFill>
          <a:ln cap="flat" cmpd="sng" w="19050">
            <a:solidFill>
              <a:srgbClr val="64748B"/>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64575" lIns="164575" spcFirstLastPara="1" rIns="164575" wrap="square" tIns="1645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a:p>
            <a:pPr indent="0" lvl="0" marL="0" marR="0" rtl="0" algn="ctr">
              <a:lnSpc>
                <a:spcPct val="100000"/>
              </a:lnSpc>
              <a:spcBef>
                <a:spcPts val="5600"/>
              </a:spcBef>
              <a:spcAft>
                <a:spcPts val="0"/>
              </a:spcAft>
              <a:buClr>
                <a:srgbClr val="000000"/>
              </a:buClr>
              <a:buSzPts val="1300"/>
              <a:buFont typeface="Arial"/>
              <a:buNone/>
            </a:pPr>
            <a:r>
              <a:rPr b="1" i="0" lang="en-US" sz="1300" u="none" cap="none" strike="noStrike">
                <a:solidFill>
                  <a:srgbClr val="1E293B"/>
                </a:solidFill>
                <a:latin typeface="Georgia"/>
                <a:ea typeface="Georgia"/>
                <a:cs typeface="Georgia"/>
                <a:sym typeface="Georgia"/>
              </a:rPr>
              <a:t>Francisca Guzmán</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00"/>
              <a:buFont typeface="Arial"/>
              <a:buNone/>
            </a:pPr>
            <a:r>
              <a:rPr b="1" i="0" lang="en-US" sz="900" u="none" cap="none" strike="noStrike">
                <a:solidFill>
                  <a:srgbClr val="14B8A6"/>
                </a:solidFill>
                <a:latin typeface="Arial"/>
                <a:ea typeface="Arial"/>
                <a:cs typeface="Arial"/>
                <a:sym typeface="Arial"/>
              </a:rPr>
              <a:t>SCRUM MASTER / TEAM DEVELOPER</a:t>
            </a:r>
            <a:br>
              <a:rPr b="1" i="0" lang="en-US" sz="900" u="none" cap="none" strike="noStrike">
                <a:solidFill>
                  <a:srgbClr val="14B8A6"/>
                </a:solidFill>
                <a:latin typeface="Arial"/>
                <a:ea typeface="Arial"/>
                <a:cs typeface="Arial"/>
                <a:sym typeface="Arial"/>
              </a:rPr>
            </a:br>
            <a:r>
              <a:rPr b="1" i="0" lang="en-US" sz="900" u="none" cap="none" strike="noStrike">
                <a:solidFill>
                  <a:srgbClr val="14B8A6"/>
                </a:solidFill>
                <a:latin typeface="Arial"/>
                <a:ea typeface="Arial"/>
                <a:cs typeface="Arial"/>
                <a:sym typeface="Arial"/>
              </a:rPr>
              <a:t>Diseño, UX/UI y Documentación</a:t>
            </a:r>
            <a:endParaRPr b="1" i="0" sz="900" u="none" cap="none" strike="noStrike">
              <a:solidFill>
                <a:srgbClr val="14B8A6"/>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 Facilitadora de rituales y control ágil.</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Creación de prototipos del MVP en Figma.</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Desarrollo de maquetación responsiva en Frontend.</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Control documental y registro de evidencias de avance.</a:t>
            </a:r>
            <a:endParaRPr b="0" i="0" sz="1400" u="none" cap="none" strike="noStrike">
              <a:solidFill>
                <a:srgbClr val="000000"/>
              </a:solidFill>
              <a:latin typeface="Arial"/>
              <a:ea typeface="Arial"/>
              <a:cs typeface="Arial"/>
              <a:sym typeface="Arial"/>
            </a:endParaRPr>
          </a:p>
        </p:txBody>
      </p:sp>
      <p:sp>
        <p:nvSpPr>
          <p:cNvPr id="244" name="Google Shape;244;p12"/>
          <p:cNvSpPr/>
          <p:nvPr/>
        </p:nvSpPr>
        <p:spPr>
          <a:xfrm>
            <a:off x="7086600" y="1554480"/>
            <a:ext cx="640080" cy="640080"/>
          </a:xfrm>
          <a:prstGeom prst="ellipse">
            <a:avLst/>
          </a:prstGeom>
          <a:solidFill>
            <a:srgbClr val="0F172A"/>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Arial"/>
                <a:ea typeface="Arial"/>
                <a:cs typeface="Arial"/>
                <a:sym typeface="Arial"/>
              </a:rPr>
              <a:t>FG</a:t>
            </a:r>
            <a:endParaRPr b="0" i="0" sz="1400" u="none" cap="none" strike="noStrike">
              <a:solidFill>
                <a:srgbClr val="000000"/>
              </a:solidFill>
              <a:latin typeface="Arial"/>
              <a:ea typeface="Arial"/>
              <a:cs typeface="Arial"/>
              <a:sym typeface="Arial"/>
            </a:endParaRPr>
          </a:p>
        </p:txBody>
      </p:sp>
      <p:sp>
        <p:nvSpPr>
          <p:cNvPr id="245" name="Google Shape;245;p12"/>
          <p:cNvSpPr/>
          <p:nvPr/>
        </p:nvSpPr>
        <p:spPr>
          <a:xfrm>
            <a:off x="8961120" y="1371600"/>
            <a:ext cx="2560320" cy="4663440"/>
          </a:xfrm>
          <a:prstGeom prst="roundRect">
            <a:avLst>
              <a:gd fmla="val 16667" name="adj"/>
            </a:avLst>
          </a:prstGeom>
          <a:solidFill>
            <a:srgbClr val="FFFFFF"/>
          </a:solidFill>
          <a:ln cap="flat" cmpd="sng" w="19050">
            <a:solidFill>
              <a:srgbClr val="C241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64575" lIns="164575" spcFirstLastPara="1" rIns="164575" wrap="square" tIns="1645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a:p>
            <a:pPr indent="0" lvl="0" marL="0" marR="0" rtl="0" algn="ctr">
              <a:lnSpc>
                <a:spcPct val="100000"/>
              </a:lnSpc>
              <a:spcBef>
                <a:spcPts val="5600"/>
              </a:spcBef>
              <a:spcAft>
                <a:spcPts val="0"/>
              </a:spcAft>
              <a:buClr>
                <a:srgbClr val="000000"/>
              </a:buClr>
              <a:buSzPts val="1300"/>
              <a:buFont typeface="Arial"/>
              <a:buNone/>
            </a:pPr>
            <a:r>
              <a:rPr b="1" i="0" lang="en-US" sz="1300" u="none" cap="none" strike="noStrike">
                <a:solidFill>
                  <a:srgbClr val="1E293B"/>
                </a:solidFill>
                <a:latin typeface="Georgia"/>
                <a:ea typeface="Georgia"/>
                <a:cs typeface="Georgia"/>
                <a:sym typeface="Georgia"/>
              </a:rPr>
              <a:t>Pablo Briones</a:t>
            </a:r>
            <a:endParaRPr b="1" i="0" sz="1300" u="none" cap="none" strike="noStrike">
              <a:solidFill>
                <a:srgbClr val="1E293B"/>
              </a:solidFill>
              <a:latin typeface="Georgia"/>
              <a:ea typeface="Georgia"/>
              <a:cs typeface="Georgia"/>
              <a:sym typeface="Georgia"/>
            </a:endParaRPr>
          </a:p>
          <a:p>
            <a:pPr indent="0" lvl="0" marL="0" marR="0" rtl="0" algn="ctr">
              <a:lnSpc>
                <a:spcPct val="100000"/>
              </a:lnSpc>
              <a:spcBef>
                <a:spcPts val="200"/>
              </a:spcBef>
              <a:spcAft>
                <a:spcPts val="0"/>
              </a:spcAft>
              <a:buClr>
                <a:srgbClr val="000000"/>
              </a:buClr>
              <a:buSzPts val="900"/>
              <a:buFont typeface="Arial"/>
              <a:buNone/>
            </a:pPr>
            <a:r>
              <a:rPr b="1" i="0" lang="en-US" sz="900" u="none" cap="none" strike="noStrike">
                <a:solidFill>
                  <a:srgbClr val="C2410C"/>
                </a:solidFill>
                <a:latin typeface="Arial"/>
                <a:ea typeface="Arial"/>
                <a:cs typeface="Arial"/>
                <a:sym typeface="Arial"/>
              </a:rPr>
              <a:t>PRODUCT OWNER</a:t>
            </a:r>
            <a:br>
              <a:rPr b="1" i="0" lang="en-US" sz="900" u="none" cap="none" strike="noStrike">
                <a:solidFill>
                  <a:srgbClr val="C2410C"/>
                </a:solidFill>
                <a:latin typeface="Arial"/>
                <a:ea typeface="Arial"/>
                <a:cs typeface="Arial"/>
                <a:sym typeface="Arial"/>
              </a:rPr>
            </a:br>
            <a:r>
              <a:rPr b="1" i="0" lang="en-US" sz="900" u="none" cap="none" strike="noStrike">
                <a:solidFill>
                  <a:srgbClr val="C2410C"/>
                </a:solidFill>
                <a:latin typeface="Arial"/>
                <a:ea typeface="Arial"/>
                <a:cs typeface="Arial"/>
                <a:sym typeface="Arial"/>
              </a:rPr>
              <a:t>Contraparte Comercial del Salón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000"/>
              <a:buFont typeface="Arial"/>
              <a:buNone/>
            </a:pPr>
            <a:r>
              <a:rPr b="0" i="0" lang="en-US" sz="1000" u="none" cap="none" strike="noStrike">
                <a:solidFill>
                  <a:srgbClr val="1E293B"/>
                </a:solidFill>
                <a:latin typeface="Arial"/>
                <a:ea typeface="Arial"/>
                <a:cs typeface="Arial"/>
                <a:sym typeface="Arial"/>
              </a:rPr>
              <a:t>• Detalle de reglas operativas comerciales.</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Validación de wireframes y prototipos.</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Provisión de catálogo de marcas y datos de stock.</a:t>
            </a:r>
            <a:br>
              <a:rPr b="0" i="0" lang="en-US" sz="1000" u="none" cap="none" strike="noStrike">
                <a:solidFill>
                  <a:srgbClr val="1E293B"/>
                </a:solidFill>
                <a:latin typeface="Arial"/>
                <a:ea typeface="Arial"/>
                <a:cs typeface="Arial"/>
                <a:sym typeface="Arial"/>
              </a:rPr>
            </a:br>
            <a:r>
              <a:rPr b="0" i="0" lang="en-US" sz="1000" u="none" cap="none" strike="noStrike">
                <a:solidFill>
                  <a:srgbClr val="1E293B"/>
                </a:solidFill>
                <a:latin typeface="Arial"/>
                <a:ea typeface="Arial"/>
                <a:cs typeface="Arial"/>
                <a:sym typeface="Arial"/>
              </a:rPr>
              <a:t>• Recepción y feedback en Sprint Reviews.</a:t>
            </a:r>
            <a:endParaRPr b="0" i="0" sz="1400" u="none" cap="none" strike="noStrike">
              <a:solidFill>
                <a:srgbClr val="000000"/>
              </a:solidFill>
              <a:latin typeface="Arial"/>
              <a:ea typeface="Arial"/>
              <a:cs typeface="Arial"/>
              <a:sym typeface="Arial"/>
            </a:endParaRPr>
          </a:p>
        </p:txBody>
      </p:sp>
      <p:sp>
        <p:nvSpPr>
          <p:cNvPr id="246" name="Google Shape;246;p12"/>
          <p:cNvSpPr/>
          <p:nvPr/>
        </p:nvSpPr>
        <p:spPr>
          <a:xfrm>
            <a:off x="9921240" y="1554480"/>
            <a:ext cx="640080" cy="640080"/>
          </a:xfrm>
          <a:prstGeom prst="ellipse">
            <a:avLst/>
          </a:prstGeom>
          <a:solidFill>
            <a:srgbClr val="C2410C"/>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Arial"/>
                <a:ea typeface="Arial"/>
                <a:cs typeface="Arial"/>
                <a:sym typeface="Arial"/>
              </a:rPr>
              <a:t>CM</a:t>
            </a:r>
            <a:endParaRPr b="0" i="0" sz="1400" u="none" cap="none" strike="noStrike">
              <a:solidFill>
                <a:srgbClr val="000000"/>
              </a:solidFill>
              <a:latin typeface="Arial"/>
              <a:ea typeface="Arial"/>
              <a:cs typeface="Arial"/>
              <a:sym typeface="Arial"/>
            </a:endParaRPr>
          </a:p>
        </p:txBody>
      </p:sp>
      <p:sp>
        <p:nvSpPr>
          <p:cNvPr id="247" name="Google Shape;247;p12"/>
          <p:cNvSpPr txBox="1"/>
          <p:nvPr>
            <p:ph idx="12" type="sldNum"/>
          </p:nvPr>
        </p:nvSpPr>
        <p:spPr>
          <a:xfrm>
            <a:off x="9600900" y="6294125"/>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251" name="Shape 251"/>
        <p:cNvGrpSpPr/>
        <p:nvPr/>
      </p:nvGrpSpPr>
      <p:grpSpPr>
        <a:xfrm>
          <a:off x="0" y="0"/>
          <a:ext cx="0" cy="0"/>
          <a:chOff x="0" y="0"/>
          <a:chExt cx="0" cy="0"/>
        </a:xfrm>
      </p:grpSpPr>
      <p:sp>
        <p:nvSpPr>
          <p:cNvPr id="252" name="Google Shape;252;h2a029743ffb0fa9e_1_0"/>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253" name="Google Shape;253;h2a029743ffb0fa9e_1_0"/>
          <p:cNvSpPr txBox="1"/>
          <p:nvPr/>
        </p:nvSpPr>
        <p:spPr>
          <a:xfrm>
            <a:off x="219888" y="0"/>
            <a:ext cx="11595000" cy="1092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700">
                <a:solidFill>
                  <a:srgbClr val="1E293B"/>
                </a:solidFill>
                <a:latin typeface="Georgia"/>
                <a:ea typeface="Georgia"/>
                <a:cs typeface="Georgia"/>
                <a:sym typeface="Georgia"/>
              </a:rPr>
              <a:t>Product Backlog</a:t>
            </a:r>
            <a:endParaRPr b="1" sz="31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graphicFrame>
        <p:nvGraphicFramePr>
          <p:cNvPr id="254" name="Google Shape;254;h2a029743ffb0fa9e_1_0"/>
          <p:cNvGraphicFramePr/>
          <p:nvPr/>
        </p:nvGraphicFramePr>
        <p:xfrm>
          <a:off x="298500" y="518825"/>
          <a:ext cx="3000000" cy="3000000"/>
        </p:xfrm>
        <a:graphic>
          <a:graphicData uri="http://schemas.openxmlformats.org/drawingml/2006/table">
            <a:tbl>
              <a:tblPr>
                <a:noFill/>
                <a:tableStyleId>{ED052C57-221C-4132-B2C9-E8A35B6E6ACB}</a:tableStyleId>
              </a:tblPr>
              <a:tblGrid>
                <a:gridCol w="599800"/>
                <a:gridCol w="3515350"/>
                <a:gridCol w="875650"/>
                <a:gridCol w="774425"/>
                <a:gridCol w="852250"/>
                <a:gridCol w="752150"/>
                <a:gridCol w="4068150"/>
              </a:tblGrid>
              <a:tr h="199900">
                <a:tc gridSpan="7">
                  <a:txBody>
                    <a:bodyPr/>
                    <a:lstStyle/>
                    <a:p>
                      <a:pPr indent="0" lvl="0" marL="0" rtl="0" algn="l">
                        <a:lnSpc>
                          <a:spcPct val="115000"/>
                        </a:lnSpc>
                        <a:spcBef>
                          <a:spcPts val="0"/>
                        </a:spcBef>
                        <a:spcAft>
                          <a:spcPts val="0"/>
                        </a:spcAft>
                        <a:buNone/>
                      </a:pPr>
                      <a:r>
                        <a:rPr b="1" lang="en-US" sz="1100">
                          <a:latin typeface="Calibri"/>
                          <a:ea typeface="Calibri"/>
                          <a:cs typeface="Calibri"/>
                          <a:sym typeface="Calibri"/>
                        </a:rPr>
                        <a:t>Sprint 1</a:t>
                      </a:r>
                      <a:endParaRPr b="1"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hMerge="1"/>
                <a:tc hMerge="1"/>
                <a:tc hMerge="1"/>
                <a:tc hMerge="1"/>
                <a:tc hMerge="1"/>
                <a:tc hMerge="1"/>
              </a:tr>
              <a:tr h="676150">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E02-H06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Quiero ver el catálogo de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chemeClr val="dk1"/>
                          </a:solidFill>
                          <a:latin typeface="Calibri"/>
                          <a:ea typeface="Calibri"/>
                          <a:cs typeface="Calibri"/>
                          <a:sym typeface="Calibri"/>
                        </a:rPr>
                        <a:t>Completada</a:t>
                      </a:r>
                      <a:endParaRPr sz="11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Alta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Sprint 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latin typeface="Calibri"/>
                          <a:ea typeface="Calibri"/>
                          <a:cs typeface="Calibri"/>
                          <a:sym typeface="Calibri"/>
                        </a:rPr>
                        <a:t>Debe existir una vista de catálogo.</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Los productos deben mostrarse con nombre, imagen y precio.</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El catálogo debe cargar productos de forma dinámica.</a:t>
                      </a:r>
                      <a:endParaRPr sz="10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442600">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E02-H09</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Quiero ver el detalle completo de un producto.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chemeClr val="dk1"/>
                          </a:solidFill>
                          <a:latin typeface="Calibri"/>
                          <a:ea typeface="Calibri"/>
                          <a:cs typeface="Calibri"/>
                          <a:sym typeface="Calibri"/>
                        </a:rPr>
                        <a:t>Completada</a:t>
                      </a:r>
                      <a:endParaRPr sz="11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Alta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Sprint 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latin typeface="Calibri"/>
                          <a:ea typeface="Calibri"/>
                          <a:cs typeface="Calibri"/>
                          <a:sym typeface="Calibri"/>
                        </a:rPr>
                        <a:t>Debe abrirse un modal o vista de detalle.</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Debe mostrarse nombre, precio, categoría y descripción.</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Si existen, deben mostrarse ingredientes y modo de uso.</a:t>
                      </a:r>
                      <a:endParaRPr sz="10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498275">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E02-H07</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Quiero buscar productos por nombre o categoría.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chemeClr val="dk1"/>
                          </a:solidFill>
                          <a:latin typeface="Calibri"/>
                          <a:ea typeface="Calibri"/>
                          <a:cs typeface="Calibri"/>
                          <a:sym typeface="Calibri"/>
                        </a:rPr>
                        <a:t>Completada</a:t>
                      </a:r>
                      <a:endParaRPr sz="11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Alta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Sprint 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latin typeface="Calibri"/>
                          <a:ea typeface="Calibri"/>
                          <a:cs typeface="Calibri"/>
                          <a:sym typeface="Calibri"/>
                        </a:rPr>
                        <a:t>Debe existir un buscador visible.</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La búsqueda debe filtrar resultados en pantalla.</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El sistema debe mostrar coincidencias relevantes.</a:t>
                      </a:r>
                      <a:endParaRPr sz="10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66700">
                <a:tc gridSpan="7">
                  <a:txBody>
                    <a:bodyPr/>
                    <a:lstStyle/>
                    <a:p>
                      <a:pPr indent="0" lvl="0" marL="0" rtl="0" algn="l">
                        <a:lnSpc>
                          <a:spcPct val="115000"/>
                        </a:lnSpc>
                        <a:spcBef>
                          <a:spcPts val="0"/>
                        </a:spcBef>
                        <a:spcAft>
                          <a:spcPts val="0"/>
                        </a:spcAft>
                        <a:buNone/>
                      </a:pPr>
                      <a:r>
                        <a:rPr b="1" lang="en-US" sz="1000">
                          <a:solidFill>
                            <a:schemeClr val="dk1"/>
                          </a:solidFill>
                          <a:latin typeface="Calibri"/>
                          <a:ea typeface="Calibri"/>
                          <a:cs typeface="Calibri"/>
                          <a:sym typeface="Calibri"/>
                        </a:rPr>
                        <a:t>Sprint 2</a:t>
                      </a:r>
                      <a:endParaRPr b="1" sz="10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hMerge="1"/>
                <a:tc hMerge="1"/>
                <a:tc hMerge="1"/>
                <a:tc hMerge="1"/>
                <a:tc hMerge="1"/>
                <a:tc hMerge="1"/>
              </a:tr>
              <a:tr h="571500">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E01-H03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administrador quiero acceder a un panel exclusivo.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chemeClr val="dk1"/>
                          </a:solidFill>
                          <a:latin typeface="Calibri"/>
                          <a:ea typeface="Calibri"/>
                          <a:cs typeface="Calibri"/>
                          <a:sym typeface="Calibri"/>
                        </a:rPr>
                        <a:t>Completada</a:t>
                      </a:r>
                      <a:endParaRPr sz="11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Alta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Sprint 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latin typeface="Calibri"/>
                          <a:ea typeface="Calibri"/>
                          <a:cs typeface="Calibri"/>
                          <a:sym typeface="Calibri"/>
                        </a:rPr>
                        <a:t>Debe existir un acceso diferenciado para administradores.</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El sistema debe redirigir al panel administrativo.</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Un usuario normal no debe ver funciones administrativas.</a:t>
                      </a:r>
                      <a:endParaRPr sz="10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598225">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E01-H04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bodeguero quiero acceder a un panel limitado.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chemeClr val="dk1"/>
                          </a:solidFill>
                          <a:latin typeface="Calibri"/>
                          <a:ea typeface="Calibri"/>
                          <a:cs typeface="Calibri"/>
                          <a:sym typeface="Calibri"/>
                        </a:rPr>
                        <a:t>Completada</a:t>
                      </a:r>
                      <a:endParaRPr sz="11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Alta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Sprint 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latin typeface="Calibri"/>
                          <a:ea typeface="Calibri"/>
                          <a:cs typeface="Calibri"/>
                          <a:sym typeface="Calibri"/>
                        </a:rPr>
                        <a:t>Debe existir un acceso diferenciado para bodegueros.</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El sistema debe redirigir al panel de bodeguero.</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El bodeguero no debe ver funciones de administración completa.</a:t>
                      </a:r>
                      <a:endParaRPr sz="10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571500">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E03-H10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usuario quiero visualizar mi carrito en un panel lateral.</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chemeClr val="dk1"/>
                          </a:solidFill>
                          <a:latin typeface="Calibri"/>
                          <a:ea typeface="Calibri"/>
                          <a:cs typeface="Calibri"/>
                          <a:sym typeface="Calibri"/>
                        </a:rPr>
                        <a:t>Completada</a:t>
                      </a:r>
                      <a:endParaRPr sz="11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Alta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Sprint 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latin typeface="Calibri"/>
                          <a:ea typeface="Calibri"/>
                          <a:cs typeface="Calibri"/>
                          <a:sym typeface="Calibri"/>
                        </a:rPr>
                        <a:t>El carrito debe abrirse y cerrarse desde la interfaz.</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Debe mostrar productos, cantidades y total.</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Debe tener un fondo superpuesto para enfocarlo.</a:t>
                      </a:r>
                      <a:endParaRPr sz="10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66700">
                <a:tc gridSpan="7">
                  <a:txBody>
                    <a:bodyPr/>
                    <a:lstStyle/>
                    <a:p>
                      <a:pPr indent="0" lvl="0" marL="0" rtl="0" algn="l">
                        <a:lnSpc>
                          <a:spcPct val="115000"/>
                        </a:lnSpc>
                        <a:spcBef>
                          <a:spcPts val="0"/>
                        </a:spcBef>
                        <a:spcAft>
                          <a:spcPts val="0"/>
                        </a:spcAft>
                        <a:buNone/>
                      </a:pPr>
                      <a:r>
                        <a:rPr b="1" lang="en-US" sz="1000">
                          <a:solidFill>
                            <a:schemeClr val="dk1"/>
                          </a:solidFill>
                          <a:latin typeface="Calibri"/>
                          <a:ea typeface="Calibri"/>
                          <a:cs typeface="Calibri"/>
                          <a:sym typeface="Calibri"/>
                        </a:rPr>
                        <a:t>Sprint 3</a:t>
                      </a:r>
                      <a:endParaRPr b="1" sz="10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hMerge="1"/>
                <a:tc hMerge="1"/>
                <a:tc hMerge="1"/>
                <a:tc hMerge="1"/>
                <a:tc hMerge="1"/>
                <a:tc hMerge="1"/>
              </a:tr>
              <a:tr h="765825">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E08-H26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Quiero gestionar los productos del catálogo.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chemeClr val="dk1"/>
                          </a:solidFill>
                          <a:latin typeface="Calibri"/>
                          <a:ea typeface="Calibri"/>
                          <a:cs typeface="Calibri"/>
                          <a:sym typeface="Calibri"/>
                        </a:rPr>
                        <a:t>Completada</a:t>
                      </a:r>
                      <a:endParaRPr sz="11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Alta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Sprint 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latin typeface="Calibri"/>
                          <a:ea typeface="Calibri"/>
                          <a:cs typeface="Calibri"/>
                          <a:sym typeface="Calibri"/>
                        </a:rPr>
                        <a:t>Debe existir una opción para crear nuevos productos en el catálogo.</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Debe ser posible editar la información de los productos existentes.</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Debe existir una opción para eliminar productos del catálogo.</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La tabla de productos debe reflejar la actualización.</a:t>
                      </a:r>
                      <a:endParaRPr sz="10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536125">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E08-H28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Quiero gestionar categorías de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chemeClr val="dk1"/>
                          </a:solidFill>
                          <a:latin typeface="Calibri"/>
                          <a:ea typeface="Calibri"/>
                          <a:cs typeface="Calibri"/>
                          <a:sym typeface="Calibri"/>
                        </a:rPr>
                        <a:t>Completada</a:t>
                      </a:r>
                      <a:endParaRPr sz="11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Alta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Sprint 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latin typeface="Calibri"/>
                          <a:ea typeface="Calibri"/>
                          <a:cs typeface="Calibri"/>
                          <a:sym typeface="Calibri"/>
                        </a:rPr>
                        <a:t>Debe permitirse agregar y eliminar categorías personalizadas.</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Las categorías nuevas deben poder usarse en productos.</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El sistema debe reflejar los cambios en filtros.</a:t>
                      </a:r>
                      <a:endParaRPr sz="10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520525">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E08-H27</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Quiero gestionar marcas personalizadas.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solidFill>
                            <a:schemeClr val="dk1"/>
                          </a:solidFill>
                          <a:latin typeface="Calibri"/>
                          <a:ea typeface="Calibri"/>
                          <a:cs typeface="Calibri"/>
                          <a:sym typeface="Calibri"/>
                        </a:rPr>
                        <a:t>Completada</a:t>
                      </a:r>
                      <a:endParaRPr sz="1100">
                        <a:solidFill>
                          <a:schemeClr val="dk1"/>
                        </a:solidFill>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Alta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Sprint 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latin typeface="Calibri"/>
                          <a:ea typeface="Calibri"/>
                          <a:cs typeface="Calibri"/>
                          <a:sym typeface="Calibri"/>
                        </a:rPr>
                        <a:t>Debe existir un módulo para agregar y eliminar marcas.</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Debe permitirse subir logo de marca.</a:t>
                      </a:r>
                      <a:endParaRPr sz="1000">
                        <a:latin typeface="Calibri"/>
                        <a:ea typeface="Calibri"/>
                        <a:cs typeface="Calibri"/>
                        <a:sym typeface="Calibri"/>
                      </a:endParaRPr>
                    </a:p>
                    <a:p>
                      <a:pPr indent="0" lvl="0" marL="0" rtl="0" algn="l">
                        <a:lnSpc>
                          <a:spcPct val="115000"/>
                        </a:lnSpc>
                        <a:spcBef>
                          <a:spcPts val="0"/>
                        </a:spcBef>
                        <a:spcAft>
                          <a:spcPts val="0"/>
                        </a:spcAft>
                        <a:buNone/>
                      </a:pPr>
                      <a:r>
                        <a:rPr lang="en-US" sz="1000">
                          <a:latin typeface="Calibri"/>
                          <a:ea typeface="Calibri"/>
                          <a:cs typeface="Calibri"/>
                          <a:sym typeface="Calibri"/>
                        </a:rPr>
                        <a:t>Las marcas deben quedar disponibles en filtros y listas.</a:t>
                      </a:r>
                      <a:endParaRPr sz="10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h4f042c98fa66798a_1_7"/>
          <p:cNvSpPr txBox="1"/>
          <p:nvPr>
            <p:ph idx="12" type="sldNum"/>
          </p:nvPr>
        </p:nvSpPr>
        <p:spPr>
          <a:xfrm>
            <a:off x="9970300" y="63920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260" name="Google Shape;260;h4f042c98fa66798a_1_7"/>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1: Sprint Backlog</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graphicFrame>
        <p:nvGraphicFramePr>
          <p:cNvPr id="261" name="Google Shape;261;h4f042c98fa66798a_1_7"/>
          <p:cNvGraphicFramePr/>
          <p:nvPr/>
        </p:nvGraphicFramePr>
        <p:xfrm>
          <a:off x="592900" y="961950"/>
          <a:ext cx="3000000" cy="3000000"/>
        </p:xfrm>
        <a:graphic>
          <a:graphicData uri="http://schemas.openxmlformats.org/drawingml/2006/table">
            <a:tbl>
              <a:tblPr>
                <a:noFill/>
                <a:tableStyleId>{ED052C57-221C-4132-B2C9-E8A35B6E6ACB}</a:tableStyleId>
              </a:tblPr>
              <a:tblGrid>
                <a:gridCol w="2523275"/>
                <a:gridCol w="889325"/>
                <a:gridCol w="2426675"/>
                <a:gridCol w="1863700"/>
                <a:gridCol w="1062650"/>
                <a:gridCol w="1079800"/>
                <a:gridCol w="1020275"/>
              </a:tblGrid>
              <a:tr h="164500">
                <a:tc gridSpan="7">
                  <a:txBody>
                    <a:bodyPr/>
                    <a:lstStyle/>
                    <a:p>
                      <a:pPr indent="0" lvl="0" marL="0" rtl="0" algn="l">
                        <a:lnSpc>
                          <a:spcPct val="115000"/>
                        </a:lnSpc>
                        <a:spcBef>
                          <a:spcPts val="0"/>
                        </a:spcBef>
                        <a:spcAft>
                          <a:spcPts val="0"/>
                        </a:spcAft>
                        <a:buNone/>
                      </a:pPr>
                      <a:r>
                        <a:rPr b="1" lang="en-US" sz="1200">
                          <a:latin typeface="Calibri"/>
                          <a:ea typeface="Calibri"/>
                          <a:cs typeface="Calibri"/>
                          <a:sym typeface="Calibri"/>
                        </a:rPr>
                        <a:t>Sprint 1</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hMerge="1"/>
                <a:tc hMerge="1"/>
                <a:tc hMerge="1"/>
                <a:tc hMerge="1"/>
                <a:tc hMerge="1"/>
                <a:tc hMerge="1"/>
              </a:tr>
              <a:tr h="164500">
                <a:tc>
                  <a:txBody>
                    <a:bodyPr/>
                    <a:lstStyle/>
                    <a:p>
                      <a:pPr indent="0" lvl="0" marL="0" rtl="0" algn="l">
                        <a:lnSpc>
                          <a:spcPct val="115000"/>
                        </a:lnSpc>
                        <a:spcBef>
                          <a:spcPts val="0"/>
                        </a:spcBef>
                        <a:spcAft>
                          <a:spcPts val="0"/>
                        </a:spcAft>
                        <a:buNone/>
                      </a:pPr>
                      <a:r>
                        <a:rPr b="1" lang="en-US" sz="1200">
                          <a:latin typeface="Calibri"/>
                          <a:ea typeface="Calibri"/>
                          <a:cs typeface="Calibri"/>
                          <a:sym typeface="Calibri"/>
                        </a:rPr>
                        <a:t>Historia de Usuario(7)</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Tarea</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Tarea técnica</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Responsable</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Estimación en Horas</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Puntaje</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Estado</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r>
              <a:tr h="278400">
                <a:tc rowSpan="4">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usuario quiero ver el catálogo de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H06-T1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base de datos de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1512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H06-T2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vista del catálogo.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12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H06-T3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productos con el Front-End.</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10</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H06-T4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visualización.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rowSpan="4">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usuario quiero ver el detalle completo de un producto.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H09-T1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vista de detalle del producto.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H09-T2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consulta de información del producto.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H09-T3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datos e imágenes del producto.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H09-T4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visualización.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rowSpan="4">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usuario quiero buscar productos por nombre o categoría.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H07-T1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buscador de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H07-T2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búsqueda por nombre y categoría.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H07-T3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búsqueda con la base de datos.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H07-T4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búsqueda.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15125">
                <a:tc rowSpan="4">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usuario quiero filtrar productos por marca y categoría.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H08-T1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filtros de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H08-T2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filtros por marca y categoría.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84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H08-T3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filtros con la base de datos.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1512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H08-T4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filtrado.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Completado</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265" name="Shape 265"/>
        <p:cNvGrpSpPr/>
        <p:nvPr/>
      </p:nvGrpSpPr>
      <p:grpSpPr>
        <a:xfrm>
          <a:off x="0" y="0"/>
          <a:ext cx="0" cy="0"/>
          <a:chOff x="0" y="0"/>
          <a:chExt cx="0" cy="0"/>
        </a:xfrm>
      </p:grpSpPr>
      <p:sp>
        <p:nvSpPr>
          <p:cNvPr id="266" name="Google Shape;266;h4f042c98fa66798a_1_18"/>
          <p:cNvSpPr txBox="1"/>
          <p:nvPr>
            <p:ph idx="12" type="sldNum"/>
          </p:nvPr>
        </p:nvSpPr>
        <p:spPr>
          <a:xfrm>
            <a:off x="9691675" y="62611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267" name="Google Shape;267;h4f042c98fa66798a_1_18"/>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1: Burndown Chart</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pic>
        <p:nvPicPr>
          <p:cNvPr id="268" name="Google Shape;268;h4f042c98fa66798a_1_18" title="Gráfico"/>
          <p:cNvPicPr preferRelativeResize="0"/>
          <p:nvPr/>
        </p:nvPicPr>
        <p:blipFill>
          <a:blip r:embed="rId3">
            <a:alphaModFix/>
          </a:blip>
          <a:stretch>
            <a:fillRect/>
          </a:stretch>
        </p:blipFill>
        <p:spPr>
          <a:xfrm>
            <a:off x="230275" y="1285275"/>
            <a:ext cx="6928253" cy="4287439"/>
          </a:xfrm>
          <a:prstGeom prst="rect">
            <a:avLst/>
          </a:prstGeom>
          <a:noFill/>
          <a:ln>
            <a:noFill/>
          </a:ln>
        </p:spPr>
      </p:pic>
      <p:graphicFrame>
        <p:nvGraphicFramePr>
          <p:cNvPr id="269" name="Google Shape;269;h4f042c98fa66798a_1_18"/>
          <p:cNvGraphicFramePr/>
          <p:nvPr/>
        </p:nvGraphicFramePr>
        <p:xfrm>
          <a:off x="8046900" y="1370275"/>
          <a:ext cx="3000000" cy="3000000"/>
        </p:xfrm>
        <a:graphic>
          <a:graphicData uri="http://schemas.openxmlformats.org/drawingml/2006/table">
            <a:tbl>
              <a:tblPr>
                <a:noFill/>
                <a:tableStyleId>{ED052C57-221C-4132-B2C9-E8A35B6E6ACB}</a:tableStyleId>
              </a:tblPr>
              <a:tblGrid>
                <a:gridCol w="1208075"/>
                <a:gridCol w="1208075"/>
                <a:gridCol w="1208075"/>
              </a:tblGrid>
              <a:tr h="243475">
                <a:tc>
                  <a:txBody>
                    <a:bodyPr/>
                    <a:lstStyle/>
                    <a:p>
                      <a:pPr indent="0" lvl="0" marL="0" rtl="0" algn="ctr">
                        <a:lnSpc>
                          <a:spcPct val="115000"/>
                        </a:lnSpc>
                        <a:spcBef>
                          <a:spcPts val="0"/>
                        </a:spcBef>
                        <a:spcAft>
                          <a:spcPts val="0"/>
                        </a:spcAft>
                        <a:buNone/>
                      </a:pPr>
                      <a:r>
                        <a:rPr b="1" lang="en-US" sz="1000"/>
                        <a:t>Fecha</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000"/>
                        <a:t>Estimado</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000"/>
                        <a:t>Realizado</a:t>
                      </a:r>
                      <a:endParaRPr b="1"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r>
              <a:tr h="243475">
                <a:tc>
                  <a:txBody>
                    <a:bodyPr/>
                    <a:lstStyle/>
                    <a:p>
                      <a:pPr indent="0" lvl="0" marL="0" rtl="0" algn="ctr">
                        <a:lnSpc>
                          <a:spcPct val="115000"/>
                        </a:lnSpc>
                        <a:spcBef>
                          <a:spcPts val="0"/>
                        </a:spcBef>
                        <a:spcAft>
                          <a:spcPts val="0"/>
                        </a:spcAft>
                        <a:buNone/>
                      </a:pPr>
                      <a:r>
                        <a:rPr lang="en-US" sz="1000"/>
                        <a:t>24/08/2026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140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140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25/08/2026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130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133</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26/08/2026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120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124</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27/08/2026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110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105</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28/08/2026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100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86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31/08/2026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90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74</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01/09/2026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80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68</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02/09/2026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70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57</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03/09/2026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60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45</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04/09/2026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50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38</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07/09/2026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40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34</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08/09/2026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30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21</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09/09/2026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10/09/2026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8</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243475">
                <a:tc>
                  <a:txBody>
                    <a:bodyPr/>
                    <a:lstStyle/>
                    <a:p>
                      <a:pPr indent="0" lvl="0" marL="0" rtl="0" algn="ctr">
                        <a:lnSpc>
                          <a:spcPct val="115000"/>
                        </a:lnSpc>
                        <a:spcBef>
                          <a:spcPts val="0"/>
                        </a:spcBef>
                        <a:spcAft>
                          <a:spcPts val="0"/>
                        </a:spcAft>
                        <a:buNone/>
                      </a:pPr>
                      <a:r>
                        <a:rPr lang="en-US" sz="1000"/>
                        <a:t>11/09/2026</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0</a:t>
                      </a:r>
                      <a:endParaRPr sz="10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273" name="Shape 273"/>
        <p:cNvGrpSpPr/>
        <p:nvPr/>
      </p:nvGrpSpPr>
      <p:grpSpPr>
        <a:xfrm>
          <a:off x="0" y="0"/>
          <a:ext cx="0" cy="0"/>
          <a:chOff x="0" y="0"/>
          <a:chExt cx="0" cy="0"/>
        </a:xfrm>
      </p:grpSpPr>
      <p:sp>
        <p:nvSpPr>
          <p:cNvPr id="274" name="Google Shape;274;h1fd0423cc0bc1287_0_0"/>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275" name="Google Shape;275;h1fd0423cc0bc1287_0_0"/>
          <p:cNvSpPr txBox="1"/>
          <p:nvPr/>
        </p:nvSpPr>
        <p:spPr>
          <a:xfrm>
            <a:off x="201875" y="278800"/>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1: Impediment Log</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graphicFrame>
        <p:nvGraphicFramePr>
          <p:cNvPr id="276" name="Google Shape;276;h1fd0423cc0bc1287_0_0"/>
          <p:cNvGraphicFramePr/>
          <p:nvPr/>
        </p:nvGraphicFramePr>
        <p:xfrm>
          <a:off x="1748475" y="1659400"/>
          <a:ext cx="3000000" cy="3000000"/>
        </p:xfrm>
        <a:graphic>
          <a:graphicData uri="http://schemas.openxmlformats.org/drawingml/2006/table">
            <a:tbl>
              <a:tblPr>
                <a:noFill/>
                <a:tableStyleId>{ED052C57-221C-4132-B2C9-E8A35B6E6ACB}</a:tableStyleId>
              </a:tblPr>
              <a:tblGrid>
                <a:gridCol w="832625"/>
                <a:gridCol w="1427375"/>
                <a:gridCol w="1189475"/>
                <a:gridCol w="1189475"/>
                <a:gridCol w="1189475"/>
                <a:gridCol w="1522525"/>
                <a:gridCol w="1344100"/>
              </a:tblGrid>
              <a:tr h="555300">
                <a:tc gridSpan="7">
                  <a:txBody>
                    <a:bodyPr/>
                    <a:lstStyle/>
                    <a:p>
                      <a:pPr indent="0" lvl="0" marL="0" rtl="0" algn="l">
                        <a:lnSpc>
                          <a:spcPct val="115000"/>
                        </a:lnSpc>
                        <a:spcBef>
                          <a:spcPts val="0"/>
                        </a:spcBef>
                        <a:spcAft>
                          <a:spcPts val="0"/>
                        </a:spcAft>
                        <a:buNone/>
                      </a:pPr>
                      <a:r>
                        <a:rPr b="1" lang="en-US" sz="1700"/>
                        <a:t>Impediment Log</a:t>
                      </a:r>
                      <a:endParaRPr b="1"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hMerge="1"/>
                <a:tc hMerge="1"/>
                <a:tc hMerge="1"/>
                <a:tc hMerge="1"/>
                <a:tc hMerge="1"/>
                <a:tc hMerge="1"/>
              </a:tr>
              <a:tr h="444250">
                <a:tc>
                  <a:txBody>
                    <a:bodyPr/>
                    <a:lstStyle/>
                    <a:p>
                      <a:pPr indent="0" lvl="0" marL="0" rtl="0" algn="ctr">
                        <a:lnSpc>
                          <a:spcPct val="115000"/>
                        </a:lnSpc>
                        <a:spcBef>
                          <a:spcPts val="0"/>
                        </a:spcBef>
                        <a:spcAft>
                          <a:spcPts val="0"/>
                        </a:spcAft>
                        <a:buNone/>
                      </a:pPr>
                      <a:r>
                        <a:rPr b="1" lang="en-US"/>
                        <a:t>ID</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Impedimento</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Impacto</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Prioridad</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Responsable</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Acción/Solución</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Estado</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r>
              <a:tr h="1073625">
                <a:tc>
                  <a:txBody>
                    <a:bodyPr/>
                    <a:lstStyle/>
                    <a:p>
                      <a:pPr indent="0" lvl="0" marL="0" rtl="0" algn="ctr">
                        <a:lnSpc>
                          <a:spcPct val="115000"/>
                        </a:lnSpc>
                        <a:spcBef>
                          <a:spcPts val="0"/>
                        </a:spcBef>
                        <a:spcAft>
                          <a:spcPts val="0"/>
                        </a:spcAft>
                        <a:buNone/>
                      </a:pPr>
                      <a:r>
                        <a:rPr lang="en-US" sz="1300"/>
                        <a:t>-</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300"/>
                        <a:t>No se presentaron impedimentos durante el Sprint.</a:t>
                      </a:r>
                      <a:endParaRPr sz="13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300"/>
                        <a:t>No aplica</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300"/>
                        <a:t>-</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300"/>
                        <a:t>-</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300"/>
                        <a:t>No aplica</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300"/>
                        <a:t>Sin impedimentos</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488675">
                <a:tc>
                  <a:txBody>
                    <a:bodyPr/>
                    <a:lstStyle/>
                    <a:p>
                      <a:pPr indent="0" lvl="0" marL="0" rtl="0" algn="l">
                        <a:spcBef>
                          <a:spcPts val="0"/>
                        </a:spcBef>
                        <a:spcAft>
                          <a:spcPts val="0"/>
                        </a:spcAft>
                        <a:buNone/>
                      </a:pPr>
                      <a:r>
                        <a:t/>
                      </a:r>
                      <a:endParaRPr sz="17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488675">
                <a:tc>
                  <a:txBody>
                    <a:bodyPr/>
                    <a:lstStyle/>
                    <a:p>
                      <a:pPr indent="0" lvl="0" marL="0" rtl="0" algn="l">
                        <a:spcBef>
                          <a:spcPts val="0"/>
                        </a:spcBef>
                        <a:spcAft>
                          <a:spcPts val="0"/>
                        </a:spcAft>
                        <a:buNone/>
                      </a:pPr>
                      <a:r>
                        <a:t/>
                      </a:r>
                      <a:endParaRPr sz="17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488675">
                <a:tc>
                  <a:txBody>
                    <a:bodyPr/>
                    <a:lstStyle/>
                    <a:p>
                      <a:pPr indent="0" lvl="0" marL="0" rtl="0" algn="l">
                        <a:spcBef>
                          <a:spcPts val="0"/>
                        </a:spcBef>
                        <a:spcAft>
                          <a:spcPts val="0"/>
                        </a:spcAft>
                        <a:buNone/>
                      </a:pPr>
                      <a:r>
                        <a:t/>
                      </a:r>
                      <a:endParaRPr sz="17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280" name="Shape 280"/>
        <p:cNvGrpSpPr/>
        <p:nvPr/>
      </p:nvGrpSpPr>
      <p:grpSpPr>
        <a:xfrm>
          <a:off x="0" y="0"/>
          <a:ext cx="0" cy="0"/>
          <a:chOff x="0" y="0"/>
          <a:chExt cx="0" cy="0"/>
        </a:xfrm>
      </p:grpSpPr>
      <p:sp>
        <p:nvSpPr>
          <p:cNvPr id="281" name="Google Shape;281;h2a029743ffb0fa9e_1_60"/>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282" name="Google Shape;282;h2a029743ffb0fa9e_1_60"/>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Review 1</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
        <p:nvSpPr>
          <p:cNvPr id="283" name="Google Shape;283;h2a029743ffb0fa9e_1_60"/>
          <p:cNvSpPr txBox="1"/>
          <p:nvPr/>
        </p:nvSpPr>
        <p:spPr>
          <a:xfrm>
            <a:off x="486350" y="840600"/>
            <a:ext cx="6027000" cy="5176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1200"/>
              </a:spcBef>
              <a:spcAft>
                <a:spcPts val="0"/>
              </a:spcAft>
              <a:buClr>
                <a:schemeClr val="dk1"/>
              </a:buClr>
              <a:buSzPts val="1100"/>
              <a:buFont typeface="Arial"/>
              <a:buNone/>
            </a:pPr>
            <a:r>
              <a:rPr b="1" lang="en-US">
                <a:solidFill>
                  <a:schemeClr val="dk1"/>
                </a:solidFill>
              </a:rPr>
              <a:t>Objetivo:</a:t>
            </a:r>
            <a:r>
              <a:rPr lang="en-US">
                <a:solidFill>
                  <a:schemeClr val="dk1"/>
                </a:solidFill>
              </a:rPr>
              <a:t> Desarrollar las funcionalidades iniciales del catálogo de productos y la autenticación de usuarios.</a:t>
            </a:r>
            <a:endParaRPr>
              <a:solidFill>
                <a:schemeClr val="dk1"/>
              </a:solidFill>
            </a:endParaRPr>
          </a:p>
          <a:p>
            <a:pPr indent="0" lvl="0" marL="0" rtl="0" algn="just">
              <a:lnSpc>
                <a:spcPct val="115000"/>
              </a:lnSpc>
              <a:spcBef>
                <a:spcPts val="1200"/>
              </a:spcBef>
              <a:spcAft>
                <a:spcPts val="0"/>
              </a:spcAft>
              <a:buClr>
                <a:schemeClr val="dk1"/>
              </a:buClr>
              <a:buSzPts val="1100"/>
              <a:buFont typeface="Arial"/>
              <a:buNone/>
            </a:pPr>
            <a:r>
              <a:rPr b="1" lang="en-US">
                <a:solidFill>
                  <a:schemeClr val="dk1"/>
                </a:solidFill>
              </a:rPr>
              <a:t>Funcionalidades completadas</a:t>
            </a:r>
            <a:endParaRPr b="1">
              <a:solidFill>
                <a:schemeClr val="dk1"/>
              </a:solidFill>
            </a:endParaRPr>
          </a:p>
          <a:p>
            <a:pPr indent="-317500" lvl="0" marL="457200" rtl="0" algn="just">
              <a:lnSpc>
                <a:spcPct val="115000"/>
              </a:lnSpc>
              <a:spcBef>
                <a:spcPts val="1200"/>
              </a:spcBef>
              <a:spcAft>
                <a:spcPts val="0"/>
              </a:spcAft>
              <a:buClr>
                <a:schemeClr val="dk1"/>
              </a:buClr>
              <a:buSzPts val="1400"/>
              <a:buChar char="●"/>
            </a:pPr>
            <a:r>
              <a:rPr b="1" lang="en-US">
                <a:solidFill>
                  <a:schemeClr val="dk1"/>
                </a:solidFill>
              </a:rPr>
              <a:t>Catálogo:</a:t>
            </a:r>
            <a:r>
              <a:rPr lang="en-US">
                <a:solidFill>
                  <a:schemeClr val="dk1"/>
                </a:solidFill>
              </a:rPr>
              <a:t> visualización y detalle de productos.</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b="1" lang="en-US">
                <a:solidFill>
                  <a:schemeClr val="dk1"/>
                </a:solidFill>
              </a:rPr>
              <a:t>Búsqueda y filtros:</a:t>
            </a:r>
            <a:r>
              <a:rPr lang="en-US">
                <a:solidFill>
                  <a:schemeClr val="dk1"/>
                </a:solidFill>
              </a:rPr>
              <a:t> búsqueda por nombre o categoría y filtros por marca y categoría.</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b="1" lang="en-US">
                <a:solidFill>
                  <a:schemeClr val="dk1"/>
                </a:solidFill>
              </a:rPr>
              <a:t>Autenticación:</a:t>
            </a:r>
            <a:r>
              <a:rPr lang="en-US">
                <a:solidFill>
                  <a:schemeClr val="dk1"/>
                </a:solidFill>
              </a:rPr>
              <a:t> registro, inicio de sesión y control de acceso según el rol del usuario.</a:t>
            </a:r>
            <a:endParaRPr>
              <a:solidFill>
                <a:schemeClr val="dk1"/>
              </a:solidFill>
            </a:endParaRPr>
          </a:p>
          <a:p>
            <a:pPr indent="0" lvl="0" marL="0" rtl="0" algn="just">
              <a:lnSpc>
                <a:spcPct val="115000"/>
              </a:lnSpc>
              <a:spcBef>
                <a:spcPts val="1200"/>
              </a:spcBef>
              <a:spcAft>
                <a:spcPts val="0"/>
              </a:spcAft>
              <a:buClr>
                <a:schemeClr val="dk1"/>
              </a:buClr>
              <a:buSzPts val="1100"/>
              <a:buFont typeface="Arial"/>
              <a:buNone/>
            </a:pPr>
            <a:r>
              <a:rPr b="1" lang="en-US">
                <a:solidFill>
                  <a:schemeClr val="dk1"/>
                </a:solidFill>
              </a:rPr>
              <a:t>Resultado del Sprint Review</a:t>
            </a:r>
            <a:br>
              <a:rPr b="1" lang="en-US">
                <a:solidFill>
                  <a:schemeClr val="dk1"/>
                </a:solidFill>
              </a:rPr>
            </a:br>
            <a:r>
              <a:rPr lang="en-US">
                <a:solidFill>
                  <a:schemeClr val="dk1"/>
                </a:solidFill>
              </a:rPr>
              <a:t>Se presentó y revisó el funcionamiento de las siete historias de usuario planificadas. No se recibió feedback externo durante la revisión.</a:t>
            </a:r>
            <a:endParaRPr>
              <a:solidFill>
                <a:schemeClr val="dk1"/>
              </a:solidFill>
            </a:endParaRPr>
          </a:p>
          <a:p>
            <a:pPr indent="0" lvl="0" marL="0" rtl="0" algn="just">
              <a:lnSpc>
                <a:spcPct val="115000"/>
              </a:lnSpc>
              <a:spcBef>
                <a:spcPts val="1200"/>
              </a:spcBef>
              <a:spcAft>
                <a:spcPts val="0"/>
              </a:spcAft>
              <a:buClr>
                <a:schemeClr val="dk1"/>
              </a:buClr>
              <a:buSzPts val="1100"/>
              <a:buFont typeface="Arial"/>
              <a:buNone/>
            </a:pPr>
            <a:r>
              <a:rPr b="1" lang="en-US">
                <a:solidFill>
                  <a:schemeClr val="dk1"/>
                </a:solidFill>
              </a:rPr>
              <a:t>Acuerdos y próximos pasos</a:t>
            </a:r>
            <a:endParaRPr b="1">
              <a:solidFill>
                <a:schemeClr val="dk1"/>
              </a:solidFill>
            </a:endParaRPr>
          </a:p>
          <a:p>
            <a:pPr indent="-317500" lvl="0" marL="457200" rtl="0" algn="just">
              <a:lnSpc>
                <a:spcPct val="115000"/>
              </a:lnSpc>
              <a:spcBef>
                <a:spcPts val="1200"/>
              </a:spcBef>
              <a:spcAft>
                <a:spcPts val="0"/>
              </a:spcAft>
              <a:buClr>
                <a:schemeClr val="dk1"/>
              </a:buClr>
              <a:buSzPts val="1400"/>
              <a:buChar char="●"/>
            </a:pPr>
            <a:r>
              <a:rPr lang="en-US">
                <a:solidFill>
                  <a:schemeClr val="dk1"/>
                </a:solidFill>
              </a:rPr>
              <a:t>Continuar con las historias priorizadas del Product Backlog.</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Corregir los problemas detectados en las pruebas.</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Verificar la integración y el correcto funcionamiento de las funcionalidades.</a:t>
            </a:r>
            <a:endParaRPr>
              <a:solidFill>
                <a:schemeClr val="dk1"/>
              </a:solidFill>
            </a:endParaRPr>
          </a:p>
          <a:p>
            <a:pPr indent="0" lvl="0" marL="0" rtl="0" algn="l">
              <a:spcBef>
                <a:spcPts val="1200"/>
              </a:spcBef>
              <a:spcAft>
                <a:spcPts val="0"/>
              </a:spcAft>
              <a:buNone/>
            </a:pPr>
            <a:r>
              <a:t/>
            </a:r>
            <a:endParaRPr sz="3200">
              <a:solidFill>
                <a:schemeClr val="dk1"/>
              </a:solidFill>
              <a:latin typeface="Calibri"/>
              <a:ea typeface="Calibri"/>
              <a:cs typeface="Calibri"/>
              <a:sym typeface="Calibri"/>
            </a:endParaRPr>
          </a:p>
        </p:txBody>
      </p:sp>
      <p:graphicFrame>
        <p:nvGraphicFramePr>
          <p:cNvPr id="284" name="Google Shape;284;h2a029743ffb0fa9e_1_60"/>
          <p:cNvGraphicFramePr/>
          <p:nvPr/>
        </p:nvGraphicFramePr>
        <p:xfrm>
          <a:off x="7077200" y="1437838"/>
          <a:ext cx="3000000" cy="3000000"/>
        </p:xfrm>
        <a:graphic>
          <a:graphicData uri="http://schemas.openxmlformats.org/drawingml/2006/table">
            <a:tbl>
              <a:tblPr>
                <a:noFill/>
                <a:tableStyleId>{F8D9801F-9451-43A7-AB0E-337E7390A149}</a:tableStyleId>
              </a:tblPr>
              <a:tblGrid>
                <a:gridCol w="1441650"/>
                <a:gridCol w="1542075"/>
                <a:gridCol w="1326900"/>
              </a:tblGrid>
              <a:tr h="589850">
                <a:tc>
                  <a:txBody>
                    <a:bodyPr/>
                    <a:lstStyle/>
                    <a:p>
                      <a:pPr indent="0" lvl="0" marL="0" rtl="0" algn="ctr">
                        <a:spcBef>
                          <a:spcPts val="0"/>
                        </a:spcBef>
                        <a:spcAft>
                          <a:spcPts val="0"/>
                        </a:spcAft>
                        <a:buNone/>
                      </a:pPr>
                      <a:r>
                        <a:rPr b="1" lang="en-US" sz="1200"/>
                        <a:t>Aspecto Revisado</a:t>
                      </a:r>
                      <a:endParaRPr b="1" sz="1200"/>
                    </a:p>
                  </a:txBody>
                  <a:tcPr marT="63500" marB="63500" marR="63500" marL="63500">
                    <a:solidFill>
                      <a:srgbClr val="CFE2F3"/>
                    </a:solidFill>
                  </a:tcPr>
                </a:tc>
                <a:tc>
                  <a:txBody>
                    <a:bodyPr/>
                    <a:lstStyle/>
                    <a:p>
                      <a:pPr indent="0" lvl="0" marL="0" rtl="0" algn="ctr">
                        <a:spcBef>
                          <a:spcPts val="0"/>
                        </a:spcBef>
                        <a:spcAft>
                          <a:spcPts val="0"/>
                        </a:spcAft>
                        <a:buNone/>
                      </a:pPr>
                      <a:r>
                        <a:rPr b="1" lang="en-US" sz="1200"/>
                        <a:t>Feedback/Observación</a:t>
                      </a:r>
                      <a:endParaRPr b="1" sz="1200"/>
                    </a:p>
                  </a:txBody>
                  <a:tcPr marT="63500" marB="63500" marR="63500" marL="63500">
                    <a:solidFill>
                      <a:srgbClr val="CFE2F3"/>
                    </a:solidFill>
                  </a:tcPr>
                </a:tc>
                <a:tc>
                  <a:txBody>
                    <a:bodyPr/>
                    <a:lstStyle/>
                    <a:p>
                      <a:pPr indent="0" lvl="0" marL="0" rtl="0" algn="ctr">
                        <a:spcBef>
                          <a:spcPts val="0"/>
                        </a:spcBef>
                        <a:spcAft>
                          <a:spcPts val="0"/>
                        </a:spcAft>
                        <a:buNone/>
                      </a:pPr>
                      <a:r>
                        <a:rPr b="1" lang="en-US" sz="1200"/>
                        <a:t>Acción</a:t>
                      </a:r>
                      <a:endParaRPr b="1" sz="1200"/>
                    </a:p>
                  </a:txBody>
                  <a:tcPr marT="63500" marB="63500" marR="63500" marL="63500">
                    <a:solidFill>
                      <a:srgbClr val="CFE2F3"/>
                    </a:solidFill>
                  </a:tcPr>
                </a:tc>
              </a:tr>
              <a:tr h="571625">
                <a:tc>
                  <a:txBody>
                    <a:bodyPr/>
                    <a:lstStyle/>
                    <a:p>
                      <a:pPr indent="0" lvl="0" marL="0" rtl="0" algn="l">
                        <a:spcBef>
                          <a:spcPts val="0"/>
                        </a:spcBef>
                        <a:spcAft>
                          <a:spcPts val="0"/>
                        </a:spcAft>
                        <a:buNone/>
                      </a:pPr>
                      <a:r>
                        <a:rPr lang="en-US" sz="1100"/>
                        <a:t>Catálogo</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r h="571625">
                <a:tc>
                  <a:txBody>
                    <a:bodyPr/>
                    <a:lstStyle/>
                    <a:p>
                      <a:pPr indent="0" lvl="0" marL="0" rtl="0" algn="l">
                        <a:spcBef>
                          <a:spcPts val="0"/>
                        </a:spcBef>
                        <a:spcAft>
                          <a:spcPts val="0"/>
                        </a:spcAft>
                        <a:buNone/>
                      </a:pPr>
                      <a:r>
                        <a:rPr lang="en-US" sz="1100"/>
                        <a:t>Detalle de Producto</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r h="571625">
                <a:tc>
                  <a:txBody>
                    <a:bodyPr/>
                    <a:lstStyle/>
                    <a:p>
                      <a:pPr indent="0" lvl="0" marL="0" rtl="0" algn="l">
                        <a:spcBef>
                          <a:spcPts val="0"/>
                        </a:spcBef>
                        <a:spcAft>
                          <a:spcPts val="0"/>
                        </a:spcAft>
                        <a:buNone/>
                      </a:pPr>
                      <a:r>
                        <a:rPr lang="en-US" sz="1100"/>
                        <a:t>Búsqueda y Filtros</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r h="571625">
                <a:tc>
                  <a:txBody>
                    <a:bodyPr/>
                    <a:lstStyle/>
                    <a:p>
                      <a:pPr indent="0" lvl="0" marL="0" rtl="0" algn="l">
                        <a:spcBef>
                          <a:spcPts val="0"/>
                        </a:spcBef>
                        <a:spcAft>
                          <a:spcPts val="0"/>
                        </a:spcAft>
                        <a:buNone/>
                      </a:pPr>
                      <a:r>
                        <a:rPr lang="en-US" sz="1100"/>
                        <a:t>Registro e Inicio Sesión</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r h="571625">
                <a:tc>
                  <a:txBody>
                    <a:bodyPr/>
                    <a:lstStyle/>
                    <a:p>
                      <a:pPr indent="0" lvl="0" marL="0" rtl="0" algn="l">
                        <a:spcBef>
                          <a:spcPts val="0"/>
                        </a:spcBef>
                        <a:spcAft>
                          <a:spcPts val="0"/>
                        </a:spcAft>
                        <a:buNone/>
                      </a:pPr>
                      <a:r>
                        <a:rPr lang="en-US" sz="1100"/>
                        <a:t>Roles de Usuario</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288" name="Shape 288"/>
        <p:cNvGrpSpPr/>
        <p:nvPr/>
      </p:nvGrpSpPr>
      <p:grpSpPr>
        <a:xfrm>
          <a:off x="0" y="0"/>
          <a:ext cx="0" cy="0"/>
          <a:chOff x="0" y="0"/>
          <a:chExt cx="0" cy="0"/>
        </a:xfrm>
      </p:grpSpPr>
      <p:sp>
        <p:nvSpPr>
          <p:cNvPr id="289" name="Google Shape;289;h2a029743ffb0fa9e_1_65"/>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290" name="Google Shape;290;h2a029743ffb0fa9e_1_65"/>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Retrospectiva del Sprint 1</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
        <p:nvSpPr>
          <p:cNvPr id="291" name="Google Shape;291;h2a029743ffb0fa9e_1_65"/>
          <p:cNvSpPr txBox="1"/>
          <p:nvPr/>
        </p:nvSpPr>
        <p:spPr>
          <a:xfrm>
            <a:off x="391475" y="812750"/>
            <a:ext cx="9519300" cy="5442600"/>
          </a:xfrm>
          <a:prstGeom prst="rect">
            <a:avLst/>
          </a:prstGeom>
          <a:noFill/>
          <a:ln>
            <a:noFill/>
          </a:ln>
        </p:spPr>
        <p:txBody>
          <a:bodyPr anchorCtr="0" anchor="t" bIns="91425" lIns="91425" spcFirstLastPara="1" rIns="91425" wrap="square" tIns="91425">
            <a:spAutoFit/>
          </a:bodyPr>
          <a:lstStyle/>
          <a:p>
            <a:pPr indent="0" lvl="0" marL="0" rtl="0" algn="just">
              <a:lnSpc>
                <a:spcPct val="115000"/>
              </a:lnSpc>
              <a:spcBef>
                <a:spcPts val="1200"/>
              </a:spcBef>
              <a:spcAft>
                <a:spcPts val="0"/>
              </a:spcAft>
              <a:buNone/>
            </a:pPr>
            <a:r>
              <a:rPr b="1" lang="en-US">
                <a:solidFill>
                  <a:schemeClr val="dk1"/>
                </a:solidFill>
              </a:rPr>
              <a:t>¿Qué salió bien?</a:t>
            </a:r>
            <a:endParaRPr b="1">
              <a:solidFill>
                <a:schemeClr val="dk1"/>
              </a:solidFill>
            </a:endParaRPr>
          </a:p>
          <a:p>
            <a:pPr indent="-317500" lvl="0" marL="457200" rtl="0" algn="just">
              <a:lnSpc>
                <a:spcPct val="115000"/>
              </a:lnSpc>
              <a:spcBef>
                <a:spcPts val="1200"/>
              </a:spcBef>
              <a:spcAft>
                <a:spcPts val="0"/>
              </a:spcAft>
              <a:buClr>
                <a:schemeClr val="dk1"/>
              </a:buClr>
              <a:buSzPts val="1400"/>
              <a:buChar char="●"/>
            </a:pPr>
            <a:r>
              <a:rPr lang="en-US">
                <a:solidFill>
                  <a:schemeClr val="dk1"/>
                </a:solidFill>
              </a:rPr>
              <a:t>Se completaron todas las historias de usuario planificadas.</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El catálogo, la búsqueda, los filtros y la autenticación funcionaron según lo esperado.</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Hubo una buena distribución de tareas y no se registraron impedimentos significativos.</a:t>
            </a:r>
            <a:endParaRPr>
              <a:solidFill>
                <a:schemeClr val="dk1"/>
              </a:solidFill>
            </a:endParaRPr>
          </a:p>
          <a:p>
            <a:pPr indent="0" lvl="0" marL="0" rtl="0" algn="just">
              <a:lnSpc>
                <a:spcPct val="115000"/>
              </a:lnSpc>
              <a:spcBef>
                <a:spcPts val="1200"/>
              </a:spcBef>
              <a:spcAft>
                <a:spcPts val="0"/>
              </a:spcAft>
              <a:buNone/>
            </a:pPr>
            <a:r>
              <a:rPr b="1" lang="en-US">
                <a:solidFill>
                  <a:schemeClr val="dk1"/>
                </a:solidFill>
              </a:rPr>
              <a:t>¿Qué no salió bien?</a:t>
            </a:r>
            <a:endParaRPr b="1">
              <a:solidFill>
                <a:schemeClr val="dk1"/>
              </a:solidFill>
            </a:endParaRPr>
          </a:p>
          <a:p>
            <a:pPr indent="-317500" lvl="0" marL="457200" rtl="0" algn="just">
              <a:lnSpc>
                <a:spcPct val="115000"/>
              </a:lnSpc>
              <a:spcBef>
                <a:spcPts val="1200"/>
              </a:spcBef>
              <a:spcAft>
                <a:spcPts val="0"/>
              </a:spcAft>
              <a:buClr>
                <a:schemeClr val="dk1"/>
              </a:buClr>
              <a:buSzPts val="1400"/>
              <a:buChar char="●"/>
            </a:pPr>
            <a:r>
              <a:rPr lang="en-US">
                <a:solidFill>
                  <a:schemeClr val="dk1"/>
                </a:solidFill>
              </a:rPr>
              <a:t>No se recibió feedback del Product Owner durante el Sprint Review.</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Quedó pendiente validar las funcionalidades desde la perspectiva del cliente.</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Será necesario mantener las pruebas a medida que se integren nuevos módulos.</a:t>
            </a:r>
            <a:endParaRPr>
              <a:solidFill>
                <a:schemeClr val="dk1"/>
              </a:solidFill>
            </a:endParaRPr>
          </a:p>
          <a:p>
            <a:pPr indent="0" lvl="0" marL="0" rtl="0" algn="just">
              <a:lnSpc>
                <a:spcPct val="115000"/>
              </a:lnSpc>
              <a:spcBef>
                <a:spcPts val="1200"/>
              </a:spcBef>
              <a:spcAft>
                <a:spcPts val="0"/>
              </a:spcAft>
              <a:buNone/>
            </a:pPr>
            <a:r>
              <a:rPr b="1" lang="en-US">
                <a:solidFill>
                  <a:schemeClr val="dk1"/>
                </a:solidFill>
              </a:rPr>
              <a:t>¿Qué podemos mejorar?</a:t>
            </a:r>
            <a:endParaRPr b="1">
              <a:solidFill>
                <a:schemeClr val="dk1"/>
              </a:solidFill>
            </a:endParaRPr>
          </a:p>
          <a:p>
            <a:pPr indent="-317500" lvl="0" marL="457200" rtl="0" algn="just">
              <a:lnSpc>
                <a:spcPct val="115000"/>
              </a:lnSpc>
              <a:spcBef>
                <a:spcPts val="1200"/>
              </a:spcBef>
              <a:spcAft>
                <a:spcPts val="0"/>
              </a:spcAft>
              <a:buClr>
                <a:schemeClr val="dk1"/>
              </a:buClr>
              <a:buSzPts val="1400"/>
              <a:buChar char="●"/>
            </a:pPr>
            <a:r>
              <a:rPr lang="en-US">
                <a:solidFill>
                  <a:schemeClr val="dk1"/>
                </a:solidFill>
              </a:rPr>
              <a:t>Promover la participación del Product Owner durante el desarrollo.</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Realizar pruebas de integración continuas.</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Mejorar el seguimiento diario y mantener actualizado el Sprint Backlog.</a:t>
            </a:r>
            <a:endParaRPr>
              <a:solidFill>
                <a:schemeClr val="dk1"/>
              </a:solidFill>
            </a:endParaRPr>
          </a:p>
          <a:p>
            <a:pPr indent="0" lvl="0" marL="0" rtl="0" algn="just">
              <a:lnSpc>
                <a:spcPct val="115000"/>
              </a:lnSpc>
              <a:spcBef>
                <a:spcPts val="1200"/>
              </a:spcBef>
              <a:spcAft>
                <a:spcPts val="0"/>
              </a:spcAft>
              <a:buNone/>
            </a:pPr>
            <a:r>
              <a:rPr b="1" lang="en-US">
                <a:solidFill>
                  <a:schemeClr val="dk1"/>
                </a:solidFill>
              </a:rPr>
              <a:t>Recomendaciones</a:t>
            </a:r>
            <a:endParaRPr b="1">
              <a:solidFill>
                <a:schemeClr val="dk1"/>
              </a:solidFill>
            </a:endParaRPr>
          </a:p>
          <a:p>
            <a:pPr indent="-317500" lvl="0" marL="457200" rtl="0" algn="just">
              <a:lnSpc>
                <a:spcPct val="115000"/>
              </a:lnSpc>
              <a:spcBef>
                <a:spcPts val="1200"/>
              </a:spcBef>
              <a:spcAft>
                <a:spcPts val="0"/>
              </a:spcAft>
              <a:buClr>
                <a:schemeClr val="dk1"/>
              </a:buClr>
              <a:buSzPts val="1400"/>
              <a:buChar char="●"/>
            </a:pPr>
            <a:r>
              <a:rPr lang="en-US">
                <a:solidFill>
                  <a:schemeClr val="dk1"/>
                </a:solidFill>
              </a:rPr>
              <a:t>Mantener la organización y distribución de tareas del equipo.</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Realizar revisiones internas antes de cada Sprint Review.</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Continuar utilizando el Burn Down Chart y registrar los impedimentos oportunamente.</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Verificar las funcionalidades existentes para prevenir errores en futuras integraciones.</a:t>
            </a:r>
            <a:endParaRPr>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295" name="Shape 295"/>
        <p:cNvGrpSpPr/>
        <p:nvPr/>
      </p:nvGrpSpPr>
      <p:grpSpPr>
        <a:xfrm>
          <a:off x="0" y="0"/>
          <a:ext cx="0" cy="0"/>
          <a:chOff x="0" y="0"/>
          <a:chExt cx="0" cy="0"/>
        </a:xfrm>
      </p:grpSpPr>
      <p:sp>
        <p:nvSpPr>
          <p:cNvPr id="296" name="Google Shape;296;g94553e02aefe5e1_8"/>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297" name="Google Shape;297;g94553e02aefe5e1_8"/>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Acta de Valida</a:t>
            </a:r>
            <a:r>
              <a:rPr b="1" lang="en-US" sz="2800">
                <a:solidFill>
                  <a:srgbClr val="1E293B"/>
                </a:solidFill>
                <a:latin typeface="Georgia"/>
                <a:ea typeface="Georgia"/>
                <a:cs typeface="Georgia"/>
                <a:sym typeface="Georgia"/>
              </a:rPr>
              <a:t>ción </a:t>
            </a:r>
            <a:r>
              <a:rPr b="1" lang="en-US" sz="2800">
                <a:solidFill>
                  <a:srgbClr val="1E293B"/>
                </a:solidFill>
                <a:latin typeface="Georgia"/>
                <a:ea typeface="Georgia"/>
                <a:cs typeface="Georgia"/>
                <a:sym typeface="Georgia"/>
              </a:rPr>
              <a:t>Sprint 1</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pic>
        <p:nvPicPr>
          <p:cNvPr id="298" name="Google Shape;298;g94553e02aefe5e1_8"/>
          <p:cNvPicPr preferRelativeResize="0"/>
          <p:nvPr/>
        </p:nvPicPr>
        <p:blipFill rotWithShape="1">
          <a:blip r:embed="rId3">
            <a:alphaModFix/>
          </a:blip>
          <a:srcRect b="26088" l="0" r="6899" t="30804"/>
          <a:stretch/>
        </p:blipFill>
        <p:spPr>
          <a:xfrm>
            <a:off x="2980253" y="895875"/>
            <a:ext cx="5573925" cy="577794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02" name="Shape 302"/>
        <p:cNvGrpSpPr/>
        <p:nvPr/>
      </p:nvGrpSpPr>
      <p:grpSpPr>
        <a:xfrm>
          <a:off x="0" y="0"/>
          <a:ext cx="0" cy="0"/>
          <a:chOff x="0" y="0"/>
          <a:chExt cx="0" cy="0"/>
        </a:xfrm>
      </p:grpSpPr>
      <p:sp>
        <p:nvSpPr>
          <p:cNvPr id="303" name="Google Shape;303;h4f042c98fa66798a_1_32"/>
          <p:cNvSpPr txBox="1"/>
          <p:nvPr>
            <p:ph idx="12" type="sldNum"/>
          </p:nvPr>
        </p:nvSpPr>
        <p:spPr>
          <a:xfrm>
            <a:off x="9970300" y="63920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04" name="Google Shape;304;h4f042c98fa66798a_1_32"/>
          <p:cNvSpPr txBox="1"/>
          <p:nvPr/>
        </p:nvSpPr>
        <p:spPr>
          <a:xfrm>
            <a:off x="230275" y="0"/>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2: Sprint Backlog</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graphicFrame>
        <p:nvGraphicFramePr>
          <p:cNvPr id="305" name="Google Shape;305;h4f042c98fa66798a_1_32"/>
          <p:cNvGraphicFramePr/>
          <p:nvPr/>
        </p:nvGraphicFramePr>
        <p:xfrm>
          <a:off x="473850" y="664375"/>
          <a:ext cx="3000000" cy="3000000"/>
        </p:xfrm>
        <a:graphic>
          <a:graphicData uri="http://schemas.openxmlformats.org/drawingml/2006/table">
            <a:tbl>
              <a:tblPr>
                <a:noFill/>
                <a:tableStyleId>{ED052C57-221C-4132-B2C9-E8A35B6E6ACB}</a:tableStyleId>
              </a:tblPr>
              <a:tblGrid>
                <a:gridCol w="3040625"/>
                <a:gridCol w="854375"/>
                <a:gridCol w="2535075"/>
                <a:gridCol w="1630650"/>
                <a:gridCol w="1096050"/>
                <a:gridCol w="933350"/>
                <a:gridCol w="1075625"/>
              </a:tblGrid>
              <a:tr h="274200">
                <a:tc gridSpan="7">
                  <a:txBody>
                    <a:bodyPr/>
                    <a:lstStyle/>
                    <a:p>
                      <a:pPr indent="0" lvl="0" marL="0" rtl="0" algn="l">
                        <a:lnSpc>
                          <a:spcPct val="115000"/>
                        </a:lnSpc>
                        <a:spcBef>
                          <a:spcPts val="0"/>
                        </a:spcBef>
                        <a:spcAft>
                          <a:spcPts val="0"/>
                        </a:spcAft>
                        <a:buNone/>
                      </a:pPr>
                      <a:r>
                        <a:rPr b="1" lang="en-US">
                          <a:latin typeface="Calibri"/>
                          <a:ea typeface="Calibri"/>
                          <a:cs typeface="Calibri"/>
                          <a:sym typeface="Calibri"/>
                        </a:rPr>
                        <a:t>Sprint 2</a:t>
                      </a:r>
                      <a:endParaRPr b="1">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hMerge="1"/>
                <a:tc hMerge="1"/>
                <a:tc hMerge="1"/>
                <a:tc hMerge="1"/>
                <a:tc hMerge="1"/>
                <a:tc hMerge="1"/>
              </a:tr>
              <a:tr h="438725">
                <a:tc>
                  <a:txBody>
                    <a:bodyPr/>
                    <a:lstStyle/>
                    <a:p>
                      <a:pPr indent="0" lvl="0" marL="0" rtl="0" algn="l">
                        <a:lnSpc>
                          <a:spcPct val="115000"/>
                        </a:lnSpc>
                        <a:spcBef>
                          <a:spcPts val="0"/>
                        </a:spcBef>
                        <a:spcAft>
                          <a:spcPts val="0"/>
                        </a:spcAft>
                        <a:buNone/>
                      </a:pPr>
                      <a:r>
                        <a:rPr b="1" lang="en-US" sz="1200">
                          <a:latin typeface="Calibri"/>
                          <a:ea typeface="Calibri"/>
                          <a:cs typeface="Calibri"/>
                          <a:sym typeface="Calibri"/>
                        </a:rPr>
                        <a:t>Historia de Usuario(15)</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Tarea</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Tarea técnica</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Responsable</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Estimación en Horas</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Puntaje</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Estado</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r>
              <a:tr h="402175">
                <a:tc rowSpan="4">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administrador quiero acceder a un panel exclusivo.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H03-T1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panel exclusivo para administradores.</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35417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H03-T2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acceso al panel según rol.</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9872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H03-T3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permisos de administrador.</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3765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H03-T4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acceso.</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354175">
                <a:tc rowSpan="4">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bodeguero quiero acceder a un panel limitado.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H04-T1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panel limitado para bodeguero.</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35417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H04-T2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acceso según rol.</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3765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H04-T3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Configurar permisos del panel.</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3765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H04-T4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acceso.</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46525">
                <a:tc rowSpan="4">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usuario quiero visualizar mi carrito en un panel lateral.</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H10-T1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panel lateral del carrito.</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35417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H10-T2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visualización de productos.</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40217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H10-T3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carrito con los productos seleccionados.</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8</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3765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H10-T4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del carrito.</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402175">
                <a:tc rowSpan="4">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Como usuario quiero aumentar o disminuir la cantidad de productos en el carrito.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H12-T1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controles para modificar cantidades.</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40217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H12-T2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aumento y disminución de cantidades.</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40217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H12-T3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Actualizar automáticamente el total del carrito.</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4652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H12-T4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cantidades.</a:t>
                      </a:r>
                      <a:endParaRPr sz="11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5</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09" name="Shape 309"/>
        <p:cNvGrpSpPr/>
        <p:nvPr/>
      </p:nvGrpSpPr>
      <p:grpSpPr>
        <a:xfrm>
          <a:off x="0" y="0"/>
          <a:ext cx="0" cy="0"/>
          <a:chOff x="0" y="0"/>
          <a:chExt cx="0" cy="0"/>
        </a:xfrm>
      </p:grpSpPr>
      <p:sp>
        <p:nvSpPr>
          <p:cNvPr id="310" name="Google Shape;310;h4f042c98fa66798a_1_0"/>
          <p:cNvSpPr txBox="1"/>
          <p:nvPr>
            <p:ph idx="12" type="sldNum"/>
          </p:nvPr>
        </p:nvSpPr>
        <p:spPr>
          <a:xfrm>
            <a:off x="10006000" y="64929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11" name="Google Shape;311;h4f042c98fa66798a_1_0"/>
          <p:cNvSpPr txBox="1"/>
          <p:nvPr/>
        </p:nvSpPr>
        <p:spPr>
          <a:xfrm>
            <a:off x="298500" y="52475"/>
            <a:ext cx="57021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2: Burndown Chart</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pic>
        <p:nvPicPr>
          <p:cNvPr id="312" name="Google Shape;312;h4f042c98fa66798a_1_0" title="Gráfico"/>
          <p:cNvPicPr preferRelativeResize="0"/>
          <p:nvPr/>
        </p:nvPicPr>
        <p:blipFill>
          <a:blip r:embed="rId3">
            <a:alphaModFix/>
          </a:blip>
          <a:stretch>
            <a:fillRect/>
          </a:stretch>
        </p:blipFill>
        <p:spPr>
          <a:xfrm>
            <a:off x="211925" y="987300"/>
            <a:ext cx="7225476" cy="4910351"/>
          </a:xfrm>
          <a:prstGeom prst="rect">
            <a:avLst/>
          </a:prstGeom>
          <a:noFill/>
          <a:ln>
            <a:noFill/>
          </a:ln>
        </p:spPr>
      </p:pic>
      <p:graphicFrame>
        <p:nvGraphicFramePr>
          <p:cNvPr id="313" name="Google Shape;313;h4f042c98fa66798a_1_0"/>
          <p:cNvGraphicFramePr/>
          <p:nvPr/>
        </p:nvGraphicFramePr>
        <p:xfrm>
          <a:off x="7631375" y="709750"/>
          <a:ext cx="3000000" cy="3000000"/>
        </p:xfrm>
        <a:graphic>
          <a:graphicData uri="http://schemas.openxmlformats.org/drawingml/2006/table">
            <a:tbl>
              <a:tblPr>
                <a:noFill/>
                <a:tableStyleId>{ED052C57-221C-4132-B2C9-E8A35B6E6ACB}</a:tableStyleId>
              </a:tblPr>
              <a:tblGrid>
                <a:gridCol w="1184425"/>
                <a:gridCol w="1184425"/>
                <a:gridCol w="1184425"/>
              </a:tblGrid>
              <a:tr h="324125">
                <a:tc>
                  <a:txBody>
                    <a:bodyPr/>
                    <a:lstStyle/>
                    <a:p>
                      <a:pPr indent="0" lvl="0" marL="0" rtl="0" algn="ctr">
                        <a:lnSpc>
                          <a:spcPct val="115000"/>
                        </a:lnSpc>
                        <a:spcBef>
                          <a:spcPts val="0"/>
                        </a:spcBef>
                        <a:spcAft>
                          <a:spcPts val="0"/>
                        </a:spcAft>
                        <a:buNone/>
                      </a:pPr>
                      <a:r>
                        <a:rPr b="1" lang="en-US" sz="1000"/>
                        <a:t>Fecha</a:t>
                      </a:r>
                      <a:endParaRPr b="1"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000"/>
                        <a:t>Estimado</a:t>
                      </a:r>
                      <a:endParaRPr b="1"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000"/>
                        <a:t>Realizado</a:t>
                      </a:r>
                      <a:endParaRPr b="1"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r>
              <a:tr h="324125">
                <a:tc>
                  <a:txBody>
                    <a:bodyPr/>
                    <a:lstStyle/>
                    <a:p>
                      <a:pPr indent="0" lvl="0" marL="0" rtl="0" algn="ctr">
                        <a:lnSpc>
                          <a:spcPct val="115000"/>
                        </a:lnSpc>
                        <a:spcBef>
                          <a:spcPts val="0"/>
                        </a:spcBef>
                        <a:spcAft>
                          <a:spcPts val="0"/>
                        </a:spcAft>
                        <a:buNone/>
                      </a:pPr>
                      <a:r>
                        <a:rPr lang="en-US" sz="1000"/>
                        <a:t>14/09/2026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300</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300</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15/09/2026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279</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280</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16/09/2026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257</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260</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17/09/2026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236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237</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18/09/2026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214</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229</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21/09/2026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193</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205</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22/09/2026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171</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180</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23/09/2026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150</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155</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24/09/2026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129</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130</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25/09/2026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107</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105</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28/09/2026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86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78</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29/09/2026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64</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55</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30/09/2026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43</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34</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01/10/2026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21</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12</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324125">
                <a:tc>
                  <a:txBody>
                    <a:bodyPr/>
                    <a:lstStyle/>
                    <a:p>
                      <a:pPr indent="0" lvl="0" marL="0" rtl="0" algn="ctr">
                        <a:lnSpc>
                          <a:spcPct val="115000"/>
                        </a:lnSpc>
                        <a:spcBef>
                          <a:spcPts val="0"/>
                        </a:spcBef>
                        <a:spcAft>
                          <a:spcPts val="0"/>
                        </a:spcAft>
                        <a:buNone/>
                      </a:pPr>
                      <a:r>
                        <a:rPr lang="en-US" sz="1000"/>
                        <a:t>02/10/2026</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0</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0</a:t>
                      </a:r>
                      <a:endParaRPr sz="1000"/>
                    </a:p>
                  </a:txBody>
                  <a:tcPr marT="91425" marB="91425"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17" name="Shape 317"/>
        <p:cNvGrpSpPr/>
        <p:nvPr/>
      </p:nvGrpSpPr>
      <p:grpSpPr>
        <a:xfrm>
          <a:off x="0" y="0"/>
          <a:ext cx="0" cy="0"/>
          <a:chOff x="0" y="0"/>
          <a:chExt cx="0" cy="0"/>
        </a:xfrm>
      </p:grpSpPr>
      <p:sp>
        <p:nvSpPr>
          <p:cNvPr id="318" name="Google Shape;318;h4f042c98fa66798a_1_59"/>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19" name="Google Shape;319;h4f042c98fa66798a_1_59"/>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2: Impediment Log</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graphicFrame>
        <p:nvGraphicFramePr>
          <p:cNvPr id="320" name="Google Shape;320;h4f042c98fa66798a_1_59"/>
          <p:cNvGraphicFramePr/>
          <p:nvPr/>
        </p:nvGraphicFramePr>
        <p:xfrm>
          <a:off x="834263" y="845775"/>
          <a:ext cx="3000000" cy="3000000"/>
        </p:xfrm>
        <a:graphic>
          <a:graphicData uri="http://schemas.openxmlformats.org/drawingml/2006/table">
            <a:tbl>
              <a:tblPr>
                <a:noFill/>
                <a:tableStyleId>{ED052C57-221C-4132-B2C9-E8A35B6E6ACB}</a:tableStyleId>
              </a:tblPr>
              <a:tblGrid>
                <a:gridCol w="717900"/>
                <a:gridCol w="2553650"/>
                <a:gridCol w="1640900"/>
                <a:gridCol w="1025550"/>
                <a:gridCol w="1702425"/>
                <a:gridCol w="2030600"/>
                <a:gridCol w="1025550"/>
              </a:tblGrid>
              <a:tr h="424900">
                <a:tc gridSpan="7">
                  <a:txBody>
                    <a:bodyPr/>
                    <a:lstStyle/>
                    <a:p>
                      <a:pPr indent="0" lvl="0" marL="0" rtl="0" algn="l">
                        <a:lnSpc>
                          <a:spcPct val="115000"/>
                        </a:lnSpc>
                        <a:spcBef>
                          <a:spcPts val="0"/>
                        </a:spcBef>
                        <a:spcAft>
                          <a:spcPts val="0"/>
                        </a:spcAft>
                        <a:buNone/>
                      </a:pPr>
                      <a:r>
                        <a:rPr b="1" lang="en-US"/>
                        <a:t>Impediment Log</a:t>
                      </a:r>
                      <a:endParaRPr b="1"/>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hMerge="1"/>
                <a:tc hMerge="1"/>
                <a:tc hMerge="1"/>
                <a:tc hMerge="1"/>
                <a:tc hMerge="1"/>
                <a:tc hMerge="1"/>
              </a:tr>
              <a:tr h="368500">
                <a:tc>
                  <a:txBody>
                    <a:bodyPr/>
                    <a:lstStyle/>
                    <a:p>
                      <a:pPr indent="0" lvl="0" marL="0" rtl="0" algn="ctr">
                        <a:lnSpc>
                          <a:spcPct val="115000"/>
                        </a:lnSpc>
                        <a:spcBef>
                          <a:spcPts val="0"/>
                        </a:spcBef>
                        <a:spcAft>
                          <a:spcPts val="0"/>
                        </a:spcAft>
                        <a:buNone/>
                      </a:pPr>
                      <a:r>
                        <a:rPr b="1" lang="en-US" sz="1100"/>
                        <a:t>ID</a:t>
                      </a:r>
                      <a:endParaRPr b="1" sz="11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100"/>
                        <a:t>Impedimento</a:t>
                      </a:r>
                      <a:endParaRPr b="1" sz="11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100"/>
                        <a:t>Impacto</a:t>
                      </a:r>
                      <a:endParaRPr b="1" sz="11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100"/>
                        <a:t>Prioridad</a:t>
                      </a:r>
                      <a:endParaRPr b="1" sz="11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100"/>
                        <a:t>Responsable</a:t>
                      </a:r>
                      <a:endParaRPr b="1" sz="11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100"/>
                        <a:t>Acción/Solución</a:t>
                      </a:r>
                      <a:endParaRPr b="1" sz="11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100"/>
                        <a:t>Estado</a:t>
                      </a:r>
                      <a:endParaRPr b="1" sz="11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r>
              <a:tr h="1026575">
                <a:tc>
                  <a:txBody>
                    <a:bodyPr/>
                    <a:lstStyle/>
                    <a:p>
                      <a:pPr indent="0" lvl="0" marL="0" rtl="0" algn="ctr">
                        <a:lnSpc>
                          <a:spcPct val="115000"/>
                        </a:lnSpc>
                        <a:spcBef>
                          <a:spcPts val="0"/>
                        </a:spcBef>
                        <a:spcAft>
                          <a:spcPts val="0"/>
                        </a:spcAft>
                        <a:buNone/>
                      </a:pPr>
                      <a:r>
                        <a:rPr lang="en-US" sz="1000"/>
                        <a:t>IMP-01</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Problemas en la gestión del CRUD de productos dentro del popup, debido a elementos que sobresalían de su contenedor y generaban errores al interactuar con el checkbox.</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Dificultó la gestión de los productos desde el panel de administración.</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Alta</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Benjamin Stavrakopulos</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Se ajustó la gestión de los elementos dentro del popup para permitir su correcta interacción.</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Resuelto</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1026575">
                <a:tc>
                  <a:txBody>
                    <a:bodyPr/>
                    <a:lstStyle/>
                    <a:p>
                      <a:pPr indent="0" lvl="0" marL="0" rtl="0" algn="ctr">
                        <a:lnSpc>
                          <a:spcPct val="115000"/>
                        </a:lnSpc>
                        <a:spcBef>
                          <a:spcPts val="0"/>
                        </a:spcBef>
                        <a:spcAft>
                          <a:spcPts val="0"/>
                        </a:spcAft>
                        <a:buNone/>
                      </a:pPr>
                      <a:r>
                        <a:rPr lang="en-US" sz="1000"/>
                        <a:t>IMP-02</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Problemas en el almacenamiento de imágenes en Cloud Run, ya que se estaban guardando en bruto y no se almacenaban correctamente al realizar el CRUD.</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Dificultó el correcto funcionamiento de la gestión de imágenes de los productos.</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Alta</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Benjamin Stavrakopulos</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Se comprimieron las imágenes y se configuró su almacenamiento en Google Cloud.</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Resuelto</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857350">
                <a:tc>
                  <a:txBody>
                    <a:bodyPr/>
                    <a:lstStyle/>
                    <a:p>
                      <a:pPr indent="0" lvl="0" marL="0" rtl="0" algn="ctr">
                        <a:lnSpc>
                          <a:spcPct val="115000"/>
                        </a:lnSpc>
                        <a:spcBef>
                          <a:spcPts val="0"/>
                        </a:spcBef>
                        <a:spcAft>
                          <a:spcPts val="0"/>
                        </a:spcAft>
                        <a:buNone/>
                      </a:pPr>
                      <a:r>
                        <a:rPr lang="en-US" sz="1000"/>
                        <a:t>IMP-03</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Problemas de latencia que provocaban una carga lenta de la página e impedían que el esqueleto de carga se mostrara correctamente.</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Afectó los tiempos de carga y la visualización inicial de la página.</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Alta</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Benjamin Stavrakopulos</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Se implementaron Docker para mejorar el funcionamiento y reducir los problemas de carga.</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Resuelto</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688125">
                <a:tc>
                  <a:txBody>
                    <a:bodyPr/>
                    <a:lstStyle/>
                    <a:p>
                      <a:pPr indent="0" lvl="0" marL="0" rtl="0" algn="ctr">
                        <a:lnSpc>
                          <a:spcPct val="115000"/>
                        </a:lnSpc>
                        <a:spcBef>
                          <a:spcPts val="0"/>
                        </a:spcBef>
                        <a:spcAft>
                          <a:spcPts val="0"/>
                        </a:spcAft>
                        <a:buNone/>
                      </a:pPr>
                      <a:r>
                        <a:rPr lang="en-US" sz="1000"/>
                        <a:t>IMP-04</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Error en la ruta del carrito de compras debido a una key escrita incorrectamente.</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Impidió que el carrito utilizara correctamente la ruta configurada.</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Media</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Benjamin Stavrakopulos</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Se corrigió la key utilizada en la ruta del carrito.</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Resuelto</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1026575">
                <a:tc>
                  <a:txBody>
                    <a:bodyPr/>
                    <a:lstStyle/>
                    <a:p>
                      <a:pPr indent="0" lvl="0" marL="0" rtl="0" algn="ctr">
                        <a:lnSpc>
                          <a:spcPct val="115000"/>
                        </a:lnSpc>
                        <a:spcBef>
                          <a:spcPts val="0"/>
                        </a:spcBef>
                        <a:spcAft>
                          <a:spcPts val="0"/>
                        </a:spcAft>
                        <a:buNone/>
                      </a:pPr>
                      <a:r>
                        <a:rPr lang="en-US" sz="1000"/>
                        <a:t>IMP-05</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La acumulación de caché producto de los cambios realizados provocaba que las modificaciones efectuadas en el deploy no se vieran reflejadas en la página.</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Dificultó la visualización y validación de los cambios realizados durante el desarrollo.</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Media</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Benjamin Stavrakopulos</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000"/>
                        <a:t>Se implementó una eliminación automática del caché para permitir que los cambios del deploy se mostraran correctamente.</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000"/>
                        <a:t>Resuelto</a:t>
                      </a:r>
                      <a:endParaRPr sz="1000"/>
                    </a:p>
                  </a:txBody>
                  <a:tcPr marT="91425" marB="91425"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24" name="Shape 324"/>
        <p:cNvGrpSpPr/>
        <p:nvPr/>
      </p:nvGrpSpPr>
      <p:grpSpPr>
        <a:xfrm>
          <a:off x="0" y="0"/>
          <a:ext cx="0" cy="0"/>
          <a:chOff x="0" y="0"/>
          <a:chExt cx="0" cy="0"/>
        </a:xfrm>
      </p:grpSpPr>
      <p:sp>
        <p:nvSpPr>
          <p:cNvPr id="325" name="Google Shape;325;h2a029743ffb0fa9e_1_54"/>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26" name="Google Shape;326;h2a029743ffb0fa9e_1_54"/>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Review 2</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
        <p:nvSpPr>
          <p:cNvPr id="327" name="Google Shape;327;h2a029743ffb0fa9e_1_54"/>
          <p:cNvSpPr txBox="1"/>
          <p:nvPr/>
        </p:nvSpPr>
        <p:spPr>
          <a:xfrm>
            <a:off x="500975" y="835000"/>
            <a:ext cx="6135000" cy="5630400"/>
          </a:xfrm>
          <a:prstGeom prst="rect">
            <a:avLst/>
          </a:prstGeom>
          <a:noFill/>
          <a:ln>
            <a:noFill/>
          </a:ln>
        </p:spPr>
        <p:txBody>
          <a:bodyPr anchorCtr="0" anchor="t" bIns="91425" lIns="91425" spcFirstLastPara="1" rIns="91425" wrap="square" tIns="91425">
            <a:spAutoFit/>
          </a:bodyPr>
          <a:lstStyle/>
          <a:p>
            <a:pPr indent="0" lvl="0" marL="0" rtl="0" algn="just">
              <a:lnSpc>
                <a:spcPct val="115000"/>
              </a:lnSpc>
              <a:spcBef>
                <a:spcPts val="1200"/>
              </a:spcBef>
              <a:spcAft>
                <a:spcPts val="0"/>
              </a:spcAft>
              <a:buNone/>
            </a:pPr>
            <a:r>
              <a:rPr b="1" lang="en-US">
                <a:solidFill>
                  <a:schemeClr val="dk1"/>
                </a:solidFill>
              </a:rPr>
              <a:t>Objetivo:</a:t>
            </a:r>
            <a:r>
              <a:rPr lang="en-US">
                <a:solidFill>
                  <a:schemeClr val="dk1"/>
                </a:solidFill>
              </a:rPr>
              <a:t> Desarrollar el proceso de compra y las funcionalidades de gestión de pedidos, integrando el carrito, el checkout y los pagos en línea.</a:t>
            </a:r>
            <a:endParaRPr>
              <a:solidFill>
                <a:schemeClr val="dk1"/>
              </a:solidFill>
            </a:endParaRPr>
          </a:p>
          <a:p>
            <a:pPr indent="0" lvl="0" marL="0" rtl="0" algn="just">
              <a:lnSpc>
                <a:spcPct val="115000"/>
              </a:lnSpc>
              <a:spcBef>
                <a:spcPts val="1200"/>
              </a:spcBef>
              <a:spcAft>
                <a:spcPts val="0"/>
              </a:spcAft>
              <a:buNone/>
            </a:pPr>
            <a:r>
              <a:rPr b="1" lang="en-US">
                <a:solidFill>
                  <a:schemeClr val="dk1"/>
                </a:solidFill>
              </a:rPr>
              <a:t>Funcionalidades completadas</a:t>
            </a:r>
            <a:endParaRPr b="1">
              <a:solidFill>
                <a:schemeClr val="dk1"/>
              </a:solidFill>
            </a:endParaRPr>
          </a:p>
          <a:p>
            <a:pPr indent="-317500" lvl="0" marL="457200" rtl="0" algn="just">
              <a:lnSpc>
                <a:spcPct val="115000"/>
              </a:lnSpc>
              <a:spcBef>
                <a:spcPts val="1200"/>
              </a:spcBef>
              <a:spcAft>
                <a:spcPts val="0"/>
              </a:spcAft>
              <a:buClr>
                <a:schemeClr val="dk1"/>
              </a:buClr>
              <a:buSzPts val="1400"/>
              <a:buChar char="●"/>
            </a:pPr>
            <a:r>
              <a:rPr b="1" lang="en-US">
                <a:solidFill>
                  <a:schemeClr val="dk1"/>
                </a:solidFill>
              </a:rPr>
              <a:t>Carrito y checkout:</a:t>
            </a:r>
            <a:r>
              <a:rPr lang="en-US">
                <a:solidFill>
                  <a:schemeClr val="dk1"/>
                </a:solidFill>
              </a:rPr>
              <a:t> gestión de productos y registro de datos de envío.</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b="1" lang="en-US">
                <a:solidFill>
                  <a:schemeClr val="dk1"/>
                </a:solidFill>
              </a:rPr>
              <a:t>Pagos:</a:t>
            </a:r>
            <a:r>
              <a:rPr lang="en-US">
                <a:solidFill>
                  <a:schemeClr val="dk1"/>
                </a:solidFill>
              </a:rPr>
              <a:t> integración con Mercado Pago y confirmación de compra.</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b="1" lang="en-US">
                <a:solidFill>
                  <a:schemeClr val="dk1"/>
                </a:solidFill>
              </a:rPr>
              <a:t>Gestión de órdenes:</a:t>
            </a:r>
            <a:r>
              <a:rPr lang="en-US">
                <a:solidFill>
                  <a:schemeClr val="dk1"/>
                </a:solidFill>
              </a:rPr>
              <a:t> consulta y administración de pedidos.</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b="1" lang="en-US">
                <a:solidFill>
                  <a:schemeClr val="dk1"/>
                </a:solidFill>
              </a:rPr>
              <a:t>Paneles de gestión:</a:t>
            </a:r>
            <a:r>
              <a:rPr lang="en-US">
                <a:solidFill>
                  <a:schemeClr val="dk1"/>
                </a:solidFill>
              </a:rPr>
              <a:t> funcionalidades para administrador y bodeguero.</a:t>
            </a:r>
            <a:endParaRPr>
              <a:solidFill>
                <a:schemeClr val="dk1"/>
              </a:solidFill>
            </a:endParaRPr>
          </a:p>
          <a:p>
            <a:pPr indent="0" lvl="0" marL="0" rtl="0" algn="just">
              <a:lnSpc>
                <a:spcPct val="115000"/>
              </a:lnSpc>
              <a:spcBef>
                <a:spcPts val="1200"/>
              </a:spcBef>
              <a:spcAft>
                <a:spcPts val="0"/>
              </a:spcAft>
              <a:buNone/>
            </a:pPr>
            <a:r>
              <a:rPr b="1" lang="en-US">
                <a:solidFill>
                  <a:schemeClr val="dk1"/>
                </a:solidFill>
              </a:rPr>
              <a:t>Resultado del Sprint Review</a:t>
            </a:r>
            <a:br>
              <a:rPr b="1" lang="en-US">
                <a:solidFill>
                  <a:schemeClr val="dk1"/>
                </a:solidFill>
              </a:rPr>
            </a:br>
            <a:r>
              <a:rPr lang="en-US">
                <a:solidFill>
                  <a:schemeClr val="dk1"/>
                </a:solidFill>
              </a:rPr>
              <a:t>Se presentó el flujo de compra completo, desde la selección de productos hasta el pago y la gestión de pedidos. No se recibió feedback del Product Owner durante la revisión.</a:t>
            </a:r>
            <a:endParaRPr>
              <a:solidFill>
                <a:schemeClr val="dk1"/>
              </a:solidFill>
            </a:endParaRPr>
          </a:p>
          <a:p>
            <a:pPr indent="0" lvl="0" marL="0" rtl="0" algn="just">
              <a:lnSpc>
                <a:spcPct val="115000"/>
              </a:lnSpc>
              <a:spcBef>
                <a:spcPts val="1200"/>
              </a:spcBef>
              <a:spcAft>
                <a:spcPts val="0"/>
              </a:spcAft>
              <a:buNone/>
            </a:pPr>
            <a:r>
              <a:rPr b="1" lang="en-US">
                <a:solidFill>
                  <a:schemeClr val="dk1"/>
                </a:solidFill>
              </a:rPr>
              <a:t>Acuerdos y próximos pasos</a:t>
            </a:r>
            <a:endParaRPr b="1">
              <a:solidFill>
                <a:schemeClr val="dk1"/>
              </a:solidFill>
            </a:endParaRPr>
          </a:p>
          <a:p>
            <a:pPr indent="-317500" lvl="0" marL="457200" rtl="0" algn="just">
              <a:lnSpc>
                <a:spcPct val="115000"/>
              </a:lnSpc>
              <a:spcBef>
                <a:spcPts val="1200"/>
              </a:spcBef>
              <a:spcAft>
                <a:spcPts val="0"/>
              </a:spcAft>
              <a:buClr>
                <a:schemeClr val="dk1"/>
              </a:buClr>
              <a:buSzPts val="1400"/>
              <a:buChar char="●"/>
            </a:pPr>
            <a:r>
              <a:rPr lang="en-US">
                <a:solidFill>
                  <a:schemeClr val="dk1"/>
                </a:solidFill>
              </a:rPr>
              <a:t>Continuar con las historias priorizadas del Product Backlog.</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Corregir los problemas detectados durante las pruebas.</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Verificar la integración del proceso de compra y la gestión de pedidos.</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Incorporar futuros ajustes según las observaciones que se reciban.</a:t>
            </a:r>
            <a:endParaRPr>
              <a:solidFill>
                <a:schemeClr val="dk1"/>
              </a:solidFill>
            </a:endParaRPr>
          </a:p>
        </p:txBody>
      </p:sp>
      <p:graphicFrame>
        <p:nvGraphicFramePr>
          <p:cNvPr id="328" name="Google Shape;328;h2a029743ffb0fa9e_1_54"/>
          <p:cNvGraphicFramePr/>
          <p:nvPr/>
        </p:nvGraphicFramePr>
        <p:xfrm>
          <a:off x="6635975" y="1451475"/>
          <a:ext cx="3000000" cy="3000000"/>
        </p:xfrm>
        <a:graphic>
          <a:graphicData uri="http://schemas.openxmlformats.org/drawingml/2006/table">
            <a:tbl>
              <a:tblPr>
                <a:noFill/>
                <a:tableStyleId>{F8D9801F-9451-43A7-AB0E-337E7390A149}</a:tableStyleId>
              </a:tblPr>
              <a:tblGrid>
                <a:gridCol w="1770375"/>
                <a:gridCol w="1893675"/>
                <a:gridCol w="1629450"/>
              </a:tblGrid>
              <a:tr h="628950">
                <a:tc>
                  <a:txBody>
                    <a:bodyPr/>
                    <a:lstStyle/>
                    <a:p>
                      <a:pPr indent="0" lvl="0" marL="0" rtl="0" algn="ctr">
                        <a:spcBef>
                          <a:spcPts val="0"/>
                        </a:spcBef>
                        <a:spcAft>
                          <a:spcPts val="0"/>
                        </a:spcAft>
                        <a:buNone/>
                      </a:pPr>
                      <a:r>
                        <a:rPr b="1" lang="en-US" sz="1200"/>
                        <a:t>Aspecto Revisado</a:t>
                      </a:r>
                      <a:endParaRPr b="1" sz="1200"/>
                    </a:p>
                  </a:txBody>
                  <a:tcPr marT="63500" marB="63500" marR="63500" marL="63500">
                    <a:solidFill>
                      <a:srgbClr val="CFE2F3"/>
                    </a:solidFill>
                  </a:tcPr>
                </a:tc>
                <a:tc>
                  <a:txBody>
                    <a:bodyPr/>
                    <a:lstStyle/>
                    <a:p>
                      <a:pPr indent="0" lvl="0" marL="0" rtl="0" algn="ctr">
                        <a:spcBef>
                          <a:spcPts val="0"/>
                        </a:spcBef>
                        <a:spcAft>
                          <a:spcPts val="0"/>
                        </a:spcAft>
                        <a:buNone/>
                      </a:pPr>
                      <a:r>
                        <a:rPr b="1" lang="en-US" sz="1200"/>
                        <a:t>Feedback/Observación</a:t>
                      </a:r>
                      <a:endParaRPr b="1" sz="1200"/>
                    </a:p>
                  </a:txBody>
                  <a:tcPr marT="63500" marB="63500" marR="63500" marL="63500">
                    <a:solidFill>
                      <a:srgbClr val="CFE2F3"/>
                    </a:solidFill>
                  </a:tcPr>
                </a:tc>
                <a:tc>
                  <a:txBody>
                    <a:bodyPr/>
                    <a:lstStyle/>
                    <a:p>
                      <a:pPr indent="0" lvl="0" marL="0" rtl="0" algn="ctr">
                        <a:spcBef>
                          <a:spcPts val="0"/>
                        </a:spcBef>
                        <a:spcAft>
                          <a:spcPts val="0"/>
                        </a:spcAft>
                        <a:buNone/>
                      </a:pPr>
                      <a:r>
                        <a:rPr b="1" lang="en-US" sz="1200"/>
                        <a:t>Acción</a:t>
                      </a:r>
                      <a:endParaRPr b="1" sz="1200"/>
                    </a:p>
                  </a:txBody>
                  <a:tcPr marT="63500" marB="63500" marR="63500" marL="63500">
                    <a:solidFill>
                      <a:srgbClr val="CFE2F3"/>
                    </a:solidFill>
                  </a:tcPr>
                </a:tc>
              </a:tr>
              <a:tr h="604450">
                <a:tc>
                  <a:txBody>
                    <a:bodyPr/>
                    <a:lstStyle/>
                    <a:p>
                      <a:pPr indent="0" lvl="0" marL="0" rtl="0" algn="l">
                        <a:spcBef>
                          <a:spcPts val="0"/>
                        </a:spcBef>
                        <a:spcAft>
                          <a:spcPts val="0"/>
                        </a:spcAft>
                        <a:buNone/>
                      </a:pPr>
                      <a:r>
                        <a:rPr lang="en-US" sz="1100"/>
                        <a:t>Carrito de compras </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r h="604450">
                <a:tc>
                  <a:txBody>
                    <a:bodyPr/>
                    <a:lstStyle/>
                    <a:p>
                      <a:pPr indent="0" lvl="0" marL="0" rtl="0" algn="l">
                        <a:spcBef>
                          <a:spcPts val="0"/>
                        </a:spcBef>
                        <a:spcAft>
                          <a:spcPts val="0"/>
                        </a:spcAft>
                        <a:buNone/>
                      </a:pPr>
                      <a:r>
                        <a:rPr lang="en-US" sz="1100"/>
                        <a:t>Checkout </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r h="604450">
                <a:tc>
                  <a:txBody>
                    <a:bodyPr/>
                    <a:lstStyle/>
                    <a:p>
                      <a:pPr indent="0" lvl="0" marL="0" rtl="0" algn="l">
                        <a:spcBef>
                          <a:spcPts val="0"/>
                        </a:spcBef>
                        <a:spcAft>
                          <a:spcPts val="0"/>
                        </a:spcAft>
                        <a:buNone/>
                      </a:pPr>
                      <a:r>
                        <a:rPr lang="en-US" sz="1100"/>
                        <a:t>Mercado Pago </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r h="604450">
                <a:tc>
                  <a:txBody>
                    <a:bodyPr/>
                    <a:lstStyle/>
                    <a:p>
                      <a:pPr indent="0" lvl="0" marL="0" rtl="0" algn="l">
                        <a:spcBef>
                          <a:spcPts val="0"/>
                        </a:spcBef>
                        <a:spcAft>
                          <a:spcPts val="0"/>
                        </a:spcAft>
                        <a:buNone/>
                      </a:pPr>
                      <a:r>
                        <a:rPr lang="en-US" sz="1100"/>
                        <a:t>Gestión de órdenes </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r h="604450">
                <a:tc>
                  <a:txBody>
                    <a:bodyPr/>
                    <a:lstStyle/>
                    <a:p>
                      <a:pPr indent="0" lvl="0" marL="0" rtl="0" algn="l">
                        <a:spcBef>
                          <a:spcPts val="0"/>
                        </a:spcBef>
                        <a:spcAft>
                          <a:spcPts val="0"/>
                        </a:spcAft>
                        <a:buNone/>
                      </a:pPr>
                      <a:r>
                        <a:rPr lang="en-US" sz="1100"/>
                        <a:t>Paneles según rol </a:t>
                      </a:r>
                      <a:endParaRPr sz="1100"/>
                    </a:p>
                  </a:txBody>
                  <a:tcPr marT="63500" marB="63500" marR="63500" marL="63500"/>
                </a:tc>
                <a:tc>
                  <a:txBody>
                    <a:bodyPr/>
                    <a:lstStyle/>
                    <a:p>
                      <a:pPr indent="0" lvl="0" marL="0" rtl="0" algn="l">
                        <a:spcBef>
                          <a:spcPts val="0"/>
                        </a:spcBef>
                        <a:spcAft>
                          <a:spcPts val="0"/>
                        </a:spcAft>
                        <a:buNone/>
                      </a:pPr>
                      <a:r>
                        <a:rPr lang="en-US" sz="1100"/>
                        <a:t>Sin feedback por el momento </a:t>
                      </a:r>
                      <a:endParaRPr sz="1100"/>
                    </a:p>
                  </a:txBody>
                  <a:tcPr marT="63500" marB="63500" marR="63500" marL="63500"/>
                </a:tc>
                <a:tc>
                  <a:txBody>
                    <a:bodyPr/>
                    <a:lstStyle/>
                    <a:p>
                      <a:pPr indent="0" lvl="0" marL="0" rtl="0" algn="l">
                        <a:spcBef>
                          <a:spcPts val="0"/>
                        </a:spcBef>
                        <a:spcAft>
                          <a:spcPts val="0"/>
                        </a:spcAft>
                        <a:buNone/>
                      </a:pPr>
                      <a:r>
                        <a:rPr lang="en-US" sz="1100"/>
                        <a:t>Pendiente de revisión </a:t>
                      </a:r>
                      <a:endParaRPr sz="1100"/>
                    </a:p>
                  </a:txBody>
                  <a:tcPr marT="63500" marB="63500" marR="63500" marL="63500"/>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32" name="Shape 332"/>
        <p:cNvGrpSpPr/>
        <p:nvPr/>
      </p:nvGrpSpPr>
      <p:grpSpPr>
        <a:xfrm>
          <a:off x="0" y="0"/>
          <a:ext cx="0" cy="0"/>
          <a:chOff x="0" y="0"/>
          <a:chExt cx="0" cy="0"/>
        </a:xfrm>
      </p:grpSpPr>
      <p:sp>
        <p:nvSpPr>
          <p:cNvPr id="333" name="Google Shape;333;h2a029743ffb0fa9e_1_70"/>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34" name="Google Shape;334;h2a029743ffb0fa9e_1_70"/>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Retrospectiva del Sprint 2</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
        <p:nvSpPr>
          <p:cNvPr id="335" name="Google Shape;335;h2a029743ffb0fa9e_1_70"/>
          <p:cNvSpPr txBox="1"/>
          <p:nvPr/>
        </p:nvSpPr>
        <p:spPr>
          <a:xfrm>
            <a:off x="680700" y="968275"/>
            <a:ext cx="7782600" cy="5194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b="1" lang="en-US">
                <a:solidFill>
                  <a:schemeClr val="dk1"/>
                </a:solidFill>
              </a:rPr>
              <a:t>¿Qué salió bien?</a:t>
            </a:r>
            <a:endParaRPr b="1">
              <a:solidFill>
                <a:schemeClr val="dk1"/>
              </a:solidFill>
            </a:endParaRPr>
          </a:p>
          <a:p>
            <a:pPr indent="-317500" lvl="0" marL="457200" rtl="0" algn="l">
              <a:lnSpc>
                <a:spcPct val="115000"/>
              </a:lnSpc>
              <a:spcBef>
                <a:spcPts val="1200"/>
              </a:spcBef>
              <a:spcAft>
                <a:spcPts val="0"/>
              </a:spcAft>
              <a:buClr>
                <a:schemeClr val="dk1"/>
              </a:buClr>
              <a:buSzPts val="1400"/>
              <a:buChar char="●"/>
            </a:pPr>
            <a:r>
              <a:rPr lang="en-US">
                <a:solidFill>
                  <a:schemeClr val="dk1"/>
                </a:solidFill>
              </a:rPr>
              <a:t>Avance en el proceso de compra y gestión de pedidos.</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Integración del carrito, checkout y pagos con Mercado Pago.</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Buena organización y distribución de tareas del equipo.</a:t>
            </a:r>
            <a:endParaRPr>
              <a:solidFill>
                <a:schemeClr val="dk1"/>
              </a:solidFill>
            </a:endParaRPr>
          </a:p>
          <a:p>
            <a:pPr indent="0" lvl="0" marL="0" rtl="0" algn="l">
              <a:lnSpc>
                <a:spcPct val="115000"/>
              </a:lnSpc>
              <a:spcBef>
                <a:spcPts val="1200"/>
              </a:spcBef>
              <a:spcAft>
                <a:spcPts val="0"/>
              </a:spcAft>
              <a:buNone/>
            </a:pPr>
            <a:r>
              <a:rPr b="1" lang="en-US">
                <a:solidFill>
                  <a:schemeClr val="dk1"/>
                </a:solidFill>
              </a:rPr>
              <a:t>¿Qué no salió bien?</a:t>
            </a:r>
            <a:endParaRPr b="1">
              <a:solidFill>
                <a:schemeClr val="dk1"/>
              </a:solidFill>
            </a:endParaRPr>
          </a:p>
          <a:p>
            <a:pPr indent="-317500" lvl="0" marL="457200" rtl="0" algn="l">
              <a:lnSpc>
                <a:spcPct val="115000"/>
              </a:lnSpc>
              <a:spcBef>
                <a:spcPts val="1200"/>
              </a:spcBef>
              <a:spcAft>
                <a:spcPts val="0"/>
              </a:spcAft>
              <a:buClr>
                <a:schemeClr val="dk1"/>
              </a:buClr>
              <a:buSzPts val="1400"/>
              <a:buChar char="●"/>
            </a:pPr>
            <a:r>
              <a:rPr lang="en-US">
                <a:solidFill>
                  <a:schemeClr val="dk1"/>
                </a:solidFill>
              </a:rPr>
              <a:t>Se requiere seguir verificando la integración entre los módulos.</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Es necesario mantener pruebas continuas para detectar errores.</a:t>
            </a:r>
            <a:endParaRPr>
              <a:solidFill>
                <a:schemeClr val="dk1"/>
              </a:solidFill>
            </a:endParaRPr>
          </a:p>
          <a:p>
            <a:pPr indent="0" lvl="0" marL="0" rtl="0" algn="l">
              <a:lnSpc>
                <a:spcPct val="115000"/>
              </a:lnSpc>
              <a:spcBef>
                <a:spcPts val="1200"/>
              </a:spcBef>
              <a:spcAft>
                <a:spcPts val="0"/>
              </a:spcAft>
              <a:buNone/>
            </a:pPr>
            <a:r>
              <a:rPr b="1" lang="en-US">
                <a:solidFill>
                  <a:schemeClr val="dk1"/>
                </a:solidFill>
              </a:rPr>
              <a:t>¿Qué podemos mejorar?</a:t>
            </a:r>
            <a:endParaRPr b="1">
              <a:solidFill>
                <a:schemeClr val="dk1"/>
              </a:solidFill>
            </a:endParaRPr>
          </a:p>
          <a:p>
            <a:pPr indent="-317500" lvl="0" marL="457200" rtl="0" algn="l">
              <a:lnSpc>
                <a:spcPct val="115000"/>
              </a:lnSpc>
              <a:spcBef>
                <a:spcPts val="1200"/>
              </a:spcBef>
              <a:spcAft>
                <a:spcPts val="0"/>
              </a:spcAft>
              <a:buClr>
                <a:schemeClr val="dk1"/>
              </a:buClr>
              <a:buSzPts val="1400"/>
              <a:buChar char="●"/>
            </a:pPr>
            <a:r>
              <a:rPr lang="en-US">
                <a:solidFill>
                  <a:schemeClr val="dk1"/>
                </a:solidFill>
              </a:rPr>
              <a:t>Solicitar feedback del Product Owner durante el desarrollo.</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Reforzar las pruebas de integración.</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Mantener actualizado el Sprint Backlog y revisar las funcionalidades antes de cerrarlas.</a:t>
            </a:r>
            <a:endParaRPr>
              <a:solidFill>
                <a:schemeClr val="dk1"/>
              </a:solidFill>
            </a:endParaRPr>
          </a:p>
          <a:p>
            <a:pPr indent="0" lvl="0" marL="0" rtl="0" algn="l">
              <a:lnSpc>
                <a:spcPct val="115000"/>
              </a:lnSpc>
              <a:spcBef>
                <a:spcPts val="1200"/>
              </a:spcBef>
              <a:spcAft>
                <a:spcPts val="0"/>
              </a:spcAft>
              <a:buNone/>
            </a:pPr>
            <a:r>
              <a:rPr b="1" lang="en-US">
                <a:solidFill>
                  <a:schemeClr val="dk1"/>
                </a:solidFill>
              </a:rPr>
              <a:t>Recomendaciones</a:t>
            </a:r>
            <a:endParaRPr b="1">
              <a:solidFill>
                <a:schemeClr val="dk1"/>
              </a:solidFill>
            </a:endParaRPr>
          </a:p>
          <a:p>
            <a:pPr indent="-317500" lvl="0" marL="457200" rtl="0" algn="l">
              <a:lnSpc>
                <a:spcPct val="115000"/>
              </a:lnSpc>
              <a:spcBef>
                <a:spcPts val="1200"/>
              </a:spcBef>
              <a:spcAft>
                <a:spcPts val="0"/>
              </a:spcAft>
              <a:buClr>
                <a:schemeClr val="dk1"/>
              </a:buClr>
              <a:buSzPts val="1400"/>
              <a:buChar char="●"/>
            </a:pPr>
            <a:r>
              <a:rPr lang="en-US">
                <a:solidFill>
                  <a:schemeClr val="dk1"/>
                </a:solidFill>
              </a:rPr>
              <a:t>Mantener la coordinación y distribución de tareas.</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Realizar revisiones internas antes del Sprint Review.</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US">
                <a:solidFill>
                  <a:schemeClr val="dk1"/>
                </a:solidFill>
              </a:rPr>
              <a:t>Priorizar la estabilidad de las funcionalidades existentes.</a:t>
            </a:r>
            <a:endParaRPr>
              <a:solidFill>
                <a:schemeClr val="dk1"/>
              </a:solidFill>
            </a:endParaRPr>
          </a:p>
          <a:p>
            <a:pPr indent="-317500" lvl="0" marL="457200" rtl="0" algn="just">
              <a:lnSpc>
                <a:spcPct val="115000"/>
              </a:lnSpc>
              <a:spcBef>
                <a:spcPts val="0"/>
              </a:spcBef>
              <a:spcAft>
                <a:spcPts val="0"/>
              </a:spcAft>
              <a:buClr>
                <a:schemeClr val="dk1"/>
              </a:buClr>
              <a:buSzPts val="1400"/>
              <a:buChar char="●"/>
            </a:pPr>
            <a:r>
              <a:rPr lang="en-US">
                <a:solidFill>
                  <a:schemeClr val="dk1"/>
                </a:solidFill>
              </a:rPr>
              <a:t>Continuar utilizando el Burn Down Chart y registrar los impedimentos oportunamente.</a:t>
            </a:r>
            <a:endParaRPr>
              <a:solidFill>
                <a:schemeClr val="dk1"/>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39" name="Shape 339"/>
        <p:cNvGrpSpPr/>
        <p:nvPr/>
      </p:nvGrpSpPr>
      <p:grpSpPr>
        <a:xfrm>
          <a:off x="0" y="0"/>
          <a:ext cx="0" cy="0"/>
          <a:chOff x="0" y="0"/>
          <a:chExt cx="0" cy="0"/>
        </a:xfrm>
      </p:grpSpPr>
      <p:sp>
        <p:nvSpPr>
          <p:cNvPr id="340" name="Google Shape;340;g94553e02aefe5e1_0"/>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41" name="Google Shape;341;g94553e02aefe5e1_0"/>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Acta de Validación Sprint 2</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pic>
        <p:nvPicPr>
          <p:cNvPr id="342" name="Google Shape;342;g94553e02aefe5e1_0"/>
          <p:cNvPicPr preferRelativeResize="0"/>
          <p:nvPr/>
        </p:nvPicPr>
        <p:blipFill rotWithShape="1">
          <a:blip r:embed="rId3">
            <a:alphaModFix/>
          </a:blip>
          <a:srcRect b="27687" l="7485" r="0" t="32557"/>
          <a:stretch/>
        </p:blipFill>
        <p:spPr>
          <a:xfrm rot="1">
            <a:off x="230275" y="891851"/>
            <a:ext cx="5630450" cy="5416872"/>
          </a:xfrm>
          <a:prstGeom prst="rect">
            <a:avLst/>
          </a:prstGeom>
          <a:noFill/>
          <a:ln>
            <a:noFill/>
          </a:ln>
        </p:spPr>
      </p:pic>
      <p:pic>
        <p:nvPicPr>
          <p:cNvPr id="343" name="Google Shape;343;g94553e02aefe5e1_0"/>
          <p:cNvPicPr preferRelativeResize="0"/>
          <p:nvPr/>
        </p:nvPicPr>
        <p:blipFill rotWithShape="1">
          <a:blip r:embed="rId4">
            <a:alphaModFix/>
          </a:blip>
          <a:srcRect b="46098" l="0" r="0" t="38603"/>
          <a:stretch/>
        </p:blipFill>
        <p:spPr>
          <a:xfrm>
            <a:off x="6032375" y="2812900"/>
            <a:ext cx="5630450" cy="19286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47" name="Shape 347"/>
        <p:cNvGrpSpPr/>
        <p:nvPr/>
      </p:nvGrpSpPr>
      <p:grpSpPr>
        <a:xfrm>
          <a:off x="0" y="0"/>
          <a:ext cx="0" cy="0"/>
          <a:chOff x="0" y="0"/>
          <a:chExt cx="0" cy="0"/>
        </a:xfrm>
      </p:grpSpPr>
      <p:sp>
        <p:nvSpPr>
          <p:cNvPr id="348" name="Google Shape;348;h2a029743ffb0fa9e_1_34"/>
          <p:cNvSpPr txBox="1"/>
          <p:nvPr>
            <p:ph idx="12" type="sldNum"/>
          </p:nvPr>
        </p:nvSpPr>
        <p:spPr>
          <a:xfrm>
            <a:off x="10006000" y="64929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49" name="Google Shape;349;h2a029743ffb0fa9e_1_34"/>
          <p:cNvSpPr txBox="1"/>
          <p:nvPr/>
        </p:nvSpPr>
        <p:spPr>
          <a:xfrm>
            <a:off x="230288" y="15587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3: Sprint Backlog</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graphicFrame>
        <p:nvGraphicFramePr>
          <p:cNvPr id="350" name="Google Shape;350;h2a029743ffb0fa9e_1_34"/>
          <p:cNvGraphicFramePr/>
          <p:nvPr/>
        </p:nvGraphicFramePr>
        <p:xfrm>
          <a:off x="141238" y="1108200"/>
          <a:ext cx="3000000" cy="3000000"/>
        </p:xfrm>
        <a:graphic>
          <a:graphicData uri="http://schemas.openxmlformats.org/drawingml/2006/table">
            <a:tbl>
              <a:tblPr>
                <a:noFill/>
                <a:tableStyleId>{ED052C57-221C-4132-B2C9-E8A35B6E6ACB}</a:tableStyleId>
              </a:tblPr>
              <a:tblGrid>
                <a:gridCol w="3600900"/>
                <a:gridCol w="996850"/>
                <a:gridCol w="3272575"/>
                <a:gridCol w="1568875"/>
                <a:gridCol w="1164750"/>
                <a:gridCol w="1169125"/>
              </a:tblGrid>
              <a:tr h="255500">
                <a:tc gridSpan="6">
                  <a:txBody>
                    <a:bodyPr/>
                    <a:lstStyle/>
                    <a:p>
                      <a:pPr indent="0" lvl="0" marL="0" rtl="0" algn="l">
                        <a:lnSpc>
                          <a:spcPct val="115000"/>
                        </a:lnSpc>
                        <a:spcBef>
                          <a:spcPts val="0"/>
                        </a:spcBef>
                        <a:spcAft>
                          <a:spcPts val="0"/>
                        </a:spcAft>
                        <a:buNone/>
                      </a:pPr>
                      <a:r>
                        <a:rPr b="1" lang="en-US">
                          <a:latin typeface="Calibri"/>
                          <a:ea typeface="Calibri"/>
                          <a:cs typeface="Calibri"/>
                          <a:sym typeface="Calibri"/>
                        </a:rPr>
                        <a:t>Sprint 3</a:t>
                      </a:r>
                      <a:endParaRPr b="1">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hMerge="1"/>
                <a:tc hMerge="1"/>
                <a:tc hMerge="1"/>
                <a:tc hMerge="1"/>
                <a:tc hMerge="1"/>
              </a:tr>
              <a:tr h="221425">
                <a:tc>
                  <a:txBody>
                    <a:bodyPr/>
                    <a:lstStyle/>
                    <a:p>
                      <a:pPr indent="0" lvl="0" marL="0" rtl="0" algn="l">
                        <a:lnSpc>
                          <a:spcPct val="115000"/>
                        </a:lnSpc>
                        <a:spcBef>
                          <a:spcPts val="0"/>
                        </a:spcBef>
                        <a:spcAft>
                          <a:spcPts val="0"/>
                        </a:spcAft>
                        <a:buNone/>
                      </a:pPr>
                      <a:r>
                        <a:rPr b="1" lang="en-US" sz="1200">
                          <a:latin typeface="Calibri"/>
                          <a:ea typeface="Calibri"/>
                          <a:cs typeface="Calibri"/>
                          <a:sym typeface="Calibri"/>
                        </a:rPr>
                        <a:t>Historia de Usuario(19)</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Tarea</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Tarea técnica</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Responsable</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Estimación en Horas</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sz="1200">
                          <a:latin typeface="Calibri"/>
                          <a:ea typeface="Calibri"/>
                          <a:cs typeface="Calibri"/>
                          <a:sym typeface="Calibri"/>
                        </a:rPr>
                        <a:t>Estado</a:t>
                      </a:r>
                      <a:endParaRPr b="1" sz="1200">
                        <a:latin typeface="Calibri"/>
                        <a:ea typeface="Calibri"/>
                        <a:cs typeface="Calibri"/>
                        <a:sym typeface="Calibri"/>
                      </a:endParaRPr>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tcPr>
                </a:tc>
              </a:tr>
              <a:tr h="285675">
                <a:tc rowSpan="4">
                  <a:txBody>
                    <a:bodyPr/>
                    <a:lstStyle/>
                    <a:p>
                      <a:pPr indent="0" lvl="0" marL="0" rtl="0" algn="l">
                        <a:lnSpc>
                          <a:spcPct val="115000"/>
                        </a:lnSpc>
                        <a:spcBef>
                          <a:spcPts val="0"/>
                        </a:spcBef>
                        <a:spcAft>
                          <a:spcPts val="0"/>
                        </a:spcAft>
                        <a:buNone/>
                      </a:pPr>
                      <a:r>
                        <a:rPr lang="en-US" sz="1000"/>
                        <a:t>Como administrador quiero gestionar los productos del catálogo.</a:t>
                      </a:r>
                      <a:endParaRPr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H26-T1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formulario de gestión de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3191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H26-T2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creación, edición y eliminación.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7</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523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H26-T3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productos con la base de datos.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6342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H26-T4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gestión.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07775">
                <a:tc rowSpan="4">
                  <a:txBody>
                    <a:bodyPr/>
                    <a:lstStyle/>
                    <a:p>
                      <a:pPr indent="0" lvl="0" marL="0" rtl="0" algn="l">
                        <a:lnSpc>
                          <a:spcPct val="115000"/>
                        </a:lnSpc>
                        <a:spcBef>
                          <a:spcPts val="0"/>
                        </a:spcBef>
                        <a:spcAft>
                          <a:spcPts val="0"/>
                        </a:spcAft>
                        <a:buNone/>
                      </a:pPr>
                      <a:r>
                        <a:rPr lang="en-US" sz="1000"/>
                        <a:t>Como administrador quiero gestionar categorías de productos.</a:t>
                      </a:r>
                      <a:endParaRPr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H28-T1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sección de categorías.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3447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H28-T2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creación, edición y eliminación de categorías.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8652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H28-T3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categorías con los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8567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H28-T4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categorías con los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21425">
                <a:tc rowSpan="4">
                  <a:txBody>
                    <a:bodyPr/>
                    <a:lstStyle/>
                    <a:p>
                      <a:pPr indent="0" lvl="0" marL="0" rtl="0" algn="l">
                        <a:lnSpc>
                          <a:spcPct val="115000"/>
                        </a:lnSpc>
                        <a:spcBef>
                          <a:spcPts val="0"/>
                        </a:spcBef>
                        <a:spcAft>
                          <a:spcPts val="0"/>
                        </a:spcAft>
                        <a:buNone/>
                      </a:pPr>
                      <a:r>
                        <a:rPr lang="en-US" sz="1000"/>
                        <a:t>Como administrador quiero gestionar marcas personalizadas.</a:t>
                      </a:r>
                      <a:endParaRPr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H27-T1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sección de marcas.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33352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H27-T2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creación, edición y eliminación de marcas.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6</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6342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H27-T3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marcas con la base de datos.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6342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H27-T4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gestión.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330225">
                <a:tc rowSpan="4">
                  <a:txBody>
                    <a:bodyPr/>
                    <a:lstStyle/>
                    <a:p>
                      <a:pPr indent="0" lvl="0" marL="0" rtl="0" algn="l">
                        <a:lnSpc>
                          <a:spcPct val="115000"/>
                        </a:lnSpc>
                        <a:spcBef>
                          <a:spcPts val="0"/>
                        </a:spcBef>
                        <a:spcAft>
                          <a:spcPts val="0"/>
                        </a:spcAft>
                        <a:buNone/>
                      </a:pPr>
                      <a:r>
                        <a:rPr lang="en-US" sz="1000"/>
                        <a:t>Como administrador quiero subir imágenes de los productos.</a:t>
                      </a:r>
                      <a:endParaRPr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H29-T1</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Diseñar componente para cargar imágenes.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7787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H29-T2</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Desarrollar carga y almacenamiento de imágenes.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Benjamin Stavrakopulos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7</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52300">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H29-T3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Integrar imágenes con los productos.</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Bastian Lazo</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5</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247075">
                <a:tc vMerge="1"/>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H29-T4</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100">
                          <a:latin typeface="Calibri"/>
                          <a:ea typeface="Calibri"/>
                          <a:cs typeface="Calibri"/>
                          <a:sym typeface="Calibri"/>
                        </a:rPr>
                        <a:t>Realizar pruebas de carga.</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Francisca Guzmán</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100">
                          <a:latin typeface="Calibri"/>
                          <a:ea typeface="Calibri"/>
                          <a:cs typeface="Calibri"/>
                          <a:sym typeface="Calibri"/>
                        </a:rPr>
                        <a:t>3</a:t>
                      </a:r>
                      <a:endParaRPr sz="11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latin typeface="Calibri"/>
                          <a:ea typeface="Calibri"/>
                          <a:cs typeface="Calibri"/>
                          <a:sym typeface="Calibri"/>
                        </a:rPr>
                        <a:t>Completada</a:t>
                      </a:r>
                      <a:endParaRPr sz="1200">
                        <a:latin typeface="Calibri"/>
                        <a:ea typeface="Calibri"/>
                        <a:cs typeface="Calibri"/>
                        <a:sym typeface="Calibri"/>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54" name="Shape 354"/>
        <p:cNvGrpSpPr/>
        <p:nvPr/>
      </p:nvGrpSpPr>
      <p:grpSpPr>
        <a:xfrm>
          <a:off x="0" y="0"/>
          <a:ext cx="0" cy="0"/>
          <a:chOff x="0" y="0"/>
          <a:chExt cx="0" cy="0"/>
        </a:xfrm>
      </p:grpSpPr>
      <p:sp>
        <p:nvSpPr>
          <p:cNvPr id="355" name="Google Shape;355;h2a029743ffb0fa9e_1_28"/>
          <p:cNvSpPr txBox="1"/>
          <p:nvPr>
            <p:ph idx="12" type="sldNum"/>
          </p:nvPr>
        </p:nvSpPr>
        <p:spPr>
          <a:xfrm>
            <a:off x="9970300" y="63920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graphicFrame>
        <p:nvGraphicFramePr>
          <p:cNvPr id="356" name="Google Shape;356;h2a029743ffb0fa9e_1_28"/>
          <p:cNvGraphicFramePr/>
          <p:nvPr/>
        </p:nvGraphicFramePr>
        <p:xfrm>
          <a:off x="8301825" y="319400"/>
          <a:ext cx="3000000" cy="3000000"/>
        </p:xfrm>
        <a:graphic>
          <a:graphicData uri="http://schemas.openxmlformats.org/drawingml/2006/table">
            <a:tbl>
              <a:tblPr>
                <a:noFill/>
                <a:tableStyleId>{ED052C57-221C-4132-B2C9-E8A35B6E6ACB}</a:tableStyleId>
              </a:tblPr>
              <a:tblGrid>
                <a:gridCol w="952500"/>
                <a:gridCol w="952500"/>
                <a:gridCol w="952500"/>
              </a:tblGrid>
              <a:tr h="200025">
                <a:tc>
                  <a:txBody>
                    <a:bodyPr/>
                    <a:lstStyle/>
                    <a:p>
                      <a:pPr indent="0" lvl="0" marL="0" rtl="0" algn="ctr">
                        <a:lnSpc>
                          <a:spcPct val="115000"/>
                        </a:lnSpc>
                        <a:spcBef>
                          <a:spcPts val="0"/>
                        </a:spcBef>
                        <a:spcAft>
                          <a:spcPts val="0"/>
                        </a:spcAft>
                        <a:buNone/>
                      </a:pPr>
                      <a:r>
                        <a:rPr b="1" lang="en-US" sz="1000"/>
                        <a:t>Fecha</a:t>
                      </a:r>
                      <a:endParaRPr b="1"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extLst>
                      <a:ext uri="http://customooxmlschemas.google.com/">
                        <go:slidesCustomData xmlns:go="http://customooxmlschemas.google.com/" cellId="356:0:0"/>
                      </a:ext>
                    </a:extLst>
                  </a:tcPr>
                </a:tc>
                <a:tc>
                  <a:txBody>
                    <a:bodyPr/>
                    <a:lstStyle/>
                    <a:p>
                      <a:pPr indent="0" lvl="0" marL="0" rtl="0" algn="ctr">
                        <a:lnSpc>
                          <a:spcPct val="115000"/>
                        </a:lnSpc>
                        <a:spcBef>
                          <a:spcPts val="0"/>
                        </a:spcBef>
                        <a:spcAft>
                          <a:spcPts val="0"/>
                        </a:spcAft>
                        <a:buNone/>
                      </a:pPr>
                      <a:r>
                        <a:rPr b="1" lang="en-US" sz="1000"/>
                        <a:t>Estimado</a:t>
                      </a:r>
                      <a:endParaRPr b="1"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extLst>
                      <a:ext uri="http://customooxmlschemas.google.com/">
                        <go:slidesCustomData xmlns:go="http://customooxmlschemas.google.com/" cellId="356:0:1"/>
                      </a:ext>
                    </a:extLst>
                  </a:tcPr>
                </a:tc>
                <a:tc>
                  <a:txBody>
                    <a:bodyPr/>
                    <a:lstStyle/>
                    <a:p>
                      <a:pPr indent="0" lvl="0" marL="0" rtl="0" algn="ctr">
                        <a:lnSpc>
                          <a:spcPct val="115000"/>
                        </a:lnSpc>
                        <a:spcBef>
                          <a:spcPts val="0"/>
                        </a:spcBef>
                        <a:spcAft>
                          <a:spcPts val="0"/>
                        </a:spcAft>
                        <a:buNone/>
                      </a:pPr>
                      <a:r>
                        <a:rPr b="1" lang="en-US" sz="1000"/>
                        <a:t>Realizado</a:t>
                      </a:r>
                      <a:endParaRPr b="1"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9DAF8"/>
                    </a:solidFill>
                    <a:extLst>
                      <a:ext uri="http://customooxmlschemas.google.com/">
                        <go:slidesCustomData xmlns:go="http://customooxmlschemas.google.com/" cellId="356:0:2"/>
                      </a:ext>
                    </a:extLst>
                  </a:tcPr>
                </a:tc>
              </a:tr>
              <a:tr h="200025">
                <a:tc>
                  <a:txBody>
                    <a:bodyPr/>
                    <a:lstStyle/>
                    <a:p>
                      <a:pPr indent="0" lvl="0" marL="0" rtl="0" algn="ctr">
                        <a:lnSpc>
                          <a:spcPct val="115000"/>
                        </a:lnSpc>
                        <a:spcBef>
                          <a:spcPts val="0"/>
                        </a:spcBef>
                        <a:spcAft>
                          <a:spcPts val="0"/>
                        </a:spcAft>
                        <a:buNone/>
                      </a:pPr>
                      <a:r>
                        <a:rPr lang="en-US" sz="1000"/>
                        <a:t>05/10/2026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0"/>
                      </a:ext>
                    </a:extLst>
                  </a:tcPr>
                </a:tc>
                <a:tc>
                  <a:txBody>
                    <a:bodyPr/>
                    <a:lstStyle/>
                    <a:p>
                      <a:pPr indent="0" lvl="0" marL="0" rtl="0" algn="ctr">
                        <a:lnSpc>
                          <a:spcPct val="115000"/>
                        </a:lnSpc>
                        <a:spcBef>
                          <a:spcPts val="0"/>
                        </a:spcBef>
                        <a:spcAft>
                          <a:spcPts val="0"/>
                        </a:spcAft>
                        <a:buNone/>
                      </a:pPr>
                      <a:r>
                        <a:rPr lang="en-US" sz="1000"/>
                        <a:t>380</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1"/>
                      </a:ext>
                    </a:extLst>
                  </a:tcPr>
                </a:tc>
                <a:tc>
                  <a:txBody>
                    <a:bodyPr/>
                    <a:lstStyle/>
                    <a:p>
                      <a:pPr indent="0" lvl="0" marL="0" rtl="0" algn="ctr">
                        <a:lnSpc>
                          <a:spcPct val="115000"/>
                        </a:lnSpc>
                        <a:spcBef>
                          <a:spcPts val="0"/>
                        </a:spcBef>
                        <a:spcAft>
                          <a:spcPts val="0"/>
                        </a:spcAft>
                        <a:buNone/>
                      </a:pPr>
                      <a:r>
                        <a:rPr lang="en-US" sz="1000"/>
                        <a:t>380</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2"/>
                      </a:ext>
                    </a:extLst>
                  </a:tcPr>
                </a:tc>
              </a:tr>
              <a:tr h="200025">
                <a:tc>
                  <a:txBody>
                    <a:bodyPr/>
                    <a:lstStyle/>
                    <a:p>
                      <a:pPr indent="0" lvl="0" marL="0" rtl="0" algn="ctr">
                        <a:lnSpc>
                          <a:spcPct val="115000"/>
                        </a:lnSpc>
                        <a:spcBef>
                          <a:spcPts val="0"/>
                        </a:spcBef>
                        <a:spcAft>
                          <a:spcPts val="0"/>
                        </a:spcAft>
                        <a:buNone/>
                      </a:pPr>
                      <a:r>
                        <a:rPr lang="en-US" sz="1000"/>
                        <a:t>06/10/2026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2:0"/>
                      </a:ext>
                    </a:extLst>
                  </a:tcPr>
                </a:tc>
                <a:tc>
                  <a:txBody>
                    <a:bodyPr/>
                    <a:lstStyle/>
                    <a:p>
                      <a:pPr indent="0" lvl="0" marL="0" rtl="0" algn="ctr">
                        <a:lnSpc>
                          <a:spcPct val="115000"/>
                        </a:lnSpc>
                        <a:spcBef>
                          <a:spcPts val="0"/>
                        </a:spcBef>
                        <a:spcAft>
                          <a:spcPts val="0"/>
                        </a:spcAft>
                        <a:buNone/>
                      </a:pPr>
                      <a:r>
                        <a:rPr lang="en-US" sz="1000"/>
                        <a:t>353</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2:1"/>
                      </a:ext>
                    </a:extLst>
                  </a:tcPr>
                </a:tc>
                <a:tc>
                  <a:txBody>
                    <a:bodyPr/>
                    <a:lstStyle/>
                    <a:p>
                      <a:pPr indent="0" lvl="0" marL="0" rtl="0" algn="ctr">
                        <a:lnSpc>
                          <a:spcPct val="115000"/>
                        </a:lnSpc>
                        <a:spcBef>
                          <a:spcPts val="0"/>
                        </a:spcBef>
                        <a:spcAft>
                          <a:spcPts val="0"/>
                        </a:spcAft>
                        <a:buNone/>
                      </a:pPr>
                      <a:r>
                        <a:rPr lang="en-US" sz="1000"/>
                        <a:t>357</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2:2"/>
                      </a:ext>
                    </a:extLst>
                  </a:tcPr>
                </a:tc>
              </a:tr>
              <a:tr h="200025">
                <a:tc>
                  <a:txBody>
                    <a:bodyPr/>
                    <a:lstStyle/>
                    <a:p>
                      <a:pPr indent="0" lvl="0" marL="0" rtl="0" algn="ctr">
                        <a:lnSpc>
                          <a:spcPct val="115000"/>
                        </a:lnSpc>
                        <a:spcBef>
                          <a:spcPts val="0"/>
                        </a:spcBef>
                        <a:spcAft>
                          <a:spcPts val="0"/>
                        </a:spcAft>
                        <a:buNone/>
                      </a:pPr>
                      <a:r>
                        <a:rPr lang="en-US" sz="1000"/>
                        <a:t>07/10/2026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3:0"/>
                      </a:ext>
                    </a:extLst>
                  </a:tcPr>
                </a:tc>
                <a:tc>
                  <a:txBody>
                    <a:bodyPr/>
                    <a:lstStyle/>
                    <a:p>
                      <a:pPr indent="0" lvl="0" marL="0" rtl="0" algn="ctr">
                        <a:lnSpc>
                          <a:spcPct val="115000"/>
                        </a:lnSpc>
                        <a:spcBef>
                          <a:spcPts val="0"/>
                        </a:spcBef>
                        <a:spcAft>
                          <a:spcPts val="0"/>
                        </a:spcAft>
                        <a:buNone/>
                      </a:pPr>
                      <a:r>
                        <a:rPr lang="en-US" sz="1000"/>
                        <a:t>326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3:1"/>
                      </a:ext>
                    </a:extLst>
                  </a:tcPr>
                </a:tc>
                <a:tc>
                  <a:txBody>
                    <a:bodyPr/>
                    <a:lstStyle/>
                    <a:p>
                      <a:pPr indent="0" lvl="0" marL="0" rtl="0" algn="ctr">
                        <a:lnSpc>
                          <a:spcPct val="115000"/>
                        </a:lnSpc>
                        <a:spcBef>
                          <a:spcPts val="0"/>
                        </a:spcBef>
                        <a:spcAft>
                          <a:spcPts val="0"/>
                        </a:spcAft>
                        <a:buNone/>
                      </a:pPr>
                      <a:r>
                        <a:rPr lang="en-US" sz="1000"/>
                        <a:t>324</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3:2"/>
                      </a:ext>
                    </a:extLst>
                  </a:tcPr>
                </a:tc>
              </a:tr>
              <a:tr h="200025">
                <a:tc>
                  <a:txBody>
                    <a:bodyPr/>
                    <a:lstStyle/>
                    <a:p>
                      <a:pPr indent="0" lvl="0" marL="0" rtl="0" algn="ctr">
                        <a:lnSpc>
                          <a:spcPct val="115000"/>
                        </a:lnSpc>
                        <a:spcBef>
                          <a:spcPts val="0"/>
                        </a:spcBef>
                        <a:spcAft>
                          <a:spcPts val="0"/>
                        </a:spcAft>
                        <a:buNone/>
                      </a:pPr>
                      <a:r>
                        <a:rPr lang="en-US" sz="1000"/>
                        <a:t>08/10/2026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4:0"/>
                      </a:ext>
                    </a:extLst>
                  </a:tcPr>
                </a:tc>
                <a:tc>
                  <a:txBody>
                    <a:bodyPr/>
                    <a:lstStyle/>
                    <a:p>
                      <a:pPr indent="0" lvl="0" marL="0" rtl="0" algn="ctr">
                        <a:lnSpc>
                          <a:spcPct val="115000"/>
                        </a:lnSpc>
                        <a:spcBef>
                          <a:spcPts val="0"/>
                        </a:spcBef>
                        <a:spcAft>
                          <a:spcPts val="0"/>
                        </a:spcAft>
                        <a:buNone/>
                      </a:pPr>
                      <a:r>
                        <a:rPr lang="en-US" sz="1000"/>
                        <a:t>299</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4:1"/>
                      </a:ext>
                    </a:extLst>
                  </a:tcPr>
                </a:tc>
                <a:tc>
                  <a:txBody>
                    <a:bodyPr/>
                    <a:lstStyle/>
                    <a:p>
                      <a:pPr indent="0" lvl="0" marL="0" rtl="0" algn="ctr">
                        <a:lnSpc>
                          <a:spcPct val="115000"/>
                        </a:lnSpc>
                        <a:spcBef>
                          <a:spcPts val="0"/>
                        </a:spcBef>
                        <a:spcAft>
                          <a:spcPts val="0"/>
                        </a:spcAft>
                        <a:buNone/>
                      </a:pPr>
                      <a:r>
                        <a:rPr lang="en-US" sz="1000"/>
                        <a:t>295</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4:2"/>
                      </a:ext>
                    </a:extLst>
                  </a:tcPr>
                </a:tc>
              </a:tr>
              <a:tr h="200025">
                <a:tc>
                  <a:txBody>
                    <a:bodyPr/>
                    <a:lstStyle/>
                    <a:p>
                      <a:pPr indent="0" lvl="0" marL="0" rtl="0" algn="ctr">
                        <a:lnSpc>
                          <a:spcPct val="115000"/>
                        </a:lnSpc>
                        <a:spcBef>
                          <a:spcPts val="0"/>
                        </a:spcBef>
                        <a:spcAft>
                          <a:spcPts val="0"/>
                        </a:spcAft>
                        <a:buNone/>
                      </a:pPr>
                      <a:r>
                        <a:rPr lang="en-US" sz="1000"/>
                        <a:t>09/10/2026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5:0"/>
                      </a:ext>
                    </a:extLst>
                  </a:tcPr>
                </a:tc>
                <a:tc>
                  <a:txBody>
                    <a:bodyPr/>
                    <a:lstStyle/>
                    <a:p>
                      <a:pPr indent="0" lvl="0" marL="0" rtl="0" algn="ctr">
                        <a:lnSpc>
                          <a:spcPct val="115000"/>
                        </a:lnSpc>
                        <a:spcBef>
                          <a:spcPts val="0"/>
                        </a:spcBef>
                        <a:spcAft>
                          <a:spcPts val="0"/>
                        </a:spcAft>
                        <a:buNone/>
                      </a:pPr>
                      <a:r>
                        <a:rPr lang="en-US" sz="1000"/>
                        <a:t>271</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5:1"/>
                      </a:ext>
                    </a:extLst>
                  </a:tcPr>
                </a:tc>
                <a:tc>
                  <a:txBody>
                    <a:bodyPr/>
                    <a:lstStyle/>
                    <a:p>
                      <a:pPr indent="0" lvl="0" marL="0" rtl="0" algn="ctr">
                        <a:lnSpc>
                          <a:spcPct val="115000"/>
                        </a:lnSpc>
                        <a:spcBef>
                          <a:spcPts val="0"/>
                        </a:spcBef>
                        <a:spcAft>
                          <a:spcPts val="0"/>
                        </a:spcAft>
                        <a:buNone/>
                      </a:pPr>
                      <a:r>
                        <a:rPr lang="en-US" sz="1000"/>
                        <a:t>265</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5:2"/>
                      </a:ext>
                    </a:extLst>
                  </a:tcPr>
                </a:tc>
              </a:tr>
              <a:tr h="200025">
                <a:tc>
                  <a:txBody>
                    <a:bodyPr/>
                    <a:lstStyle/>
                    <a:p>
                      <a:pPr indent="0" lvl="0" marL="0" rtl="0" algn="ctr">
                        <a:lnSpc>
                          <a:spcPct val="115000"/>
                        </a:lnSpc>
                        <a:spcBef>
                          <a:spcPts val="0"/>
                        </a:spcBef>
                        <a:spcAft>
                          <a:spcPts val="0"/>
                        </a:spcAft>
                        <a:buNone/>
                      </a:pPr>
                      <a:r>
                        <a:rPr lang="en-US" sz="1000"/>
                        <a:t>12/10/2026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6:0"/>
                      </a:ext>
                    </a:extLst>
                  </a:tcPr>
                </a:tc>
                <a:tc>
                  <a:txBody>
                    <a:bodyPr/>
                    <a:lstStyle/>
                    <a:p>
                      <a:pPr indent="0" lvl="0" marL="0" rtl="0" algn="ctr">
                        <a:lnSpc>
                          <a:spcPct val="115000"/>
                        </a:lnSpc>
                        <a:spcBef>
                          <a:spcPts val="0"/>
                        </a:spcBef>
                        <a:spcAft>
                          <a:spcPts val="0"/>
                        </a:spcAft>
                        <a:buNone/>
                      </a:pPr>
                      <a:r>
                        <a:rPr lang="en-US" sz="1000"/>
                        <a:t>244</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6:1"/>
                      </a:ext>
                    </a:extLst>
                  </a:tcPr>
                </a:tc>
                <a:tc>
                  <a:txBody>
                    <a:bodyPr/>
                    <a:lstStyle/>
                    <a:p>
                      <a:pPr indent="0" lvl="0" marL="0" rtl="0" algn="ctr">
                        <a:lnSpc>
                          <a:spcPct val="115000"/>
                        </a:lnSpc>
                        <a:spcBef>
                          <a:spcPts val="0"/>
                        </a:spcBef>
                        <a:spcAft>
                          <a:spcPts val="0"/>
                        </a:spcAft>
                        <a:buNone/>
                      </a:pPr>
                      <a:r>
                        <a:rPr lang="en-US" sz="1000"/>
                        <a:t>239</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6:2"/>
                      </a:ext>
                    </a:extLst>
                  </a:tcPr>
                </a:tc>
              </a:tr>
              <a:tr h="200025">
                <a:tc>
                  <a:txBody>
                    <a:bodyPr/>
                    <a:lstStyle/>
                    <a:p>
                      <a:pPr indent="0" lvl="0" marL="0" rtl="0" algn="ctr">
                        <a:lnSpc>
                          <a:spcPct val="115000"/>
                        </a:lnSpc>
                        <a:spcBef>
                          <a:spcPts val="0"/>
                        </a:spcBef>
                        <a:spcAft>
                          <a:spcPts val="0"/>
                        </a:spcAft>
                        <a:buNone/>
                      </a:pPr>
                      <a:r>
                        <a:rPr lang="en-US" sz="1000"/>
                        <a:t>13/10/2026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7:0"/>
                      </a:ext>
                    </a:extLst>
                  </a:tcPr>
                </a:tc>
                <a:tc>
                  <a:txBody>
                    <a:bodyPr/>
                    <a:lstStyle/>
                    <a:p>
                      <a:pPr indent="0" lvl="0" marL="0" rtl="0" algn="ctr">
                        <a:lnSpc>
                          <a:spcPct val="115000"/>
                        </a:lnSpc>
                        <a:spcBef>
                          <a:spcPts val="0"/>
                        </a:spcBef>
                        <a:spcAft>
                          <a:spcPts val="0"/>
                        </a:spcAft>
                        <a:buNone/>
                      </a:pPr>
                      <a:r>
                        <a:rPr lang="en-US" sz="1000"/>
                        <a:t>217</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7:1"/>
                      </a:ext>
                    </a:extLst>
                  </a:tcPr>
                </a:tc>
                <a:tc>
                  <a:txBody>
                    <a:bodyPr/>
                    <a:lstStyle/>
                    <a:p>
                      <a:pPr indent="0" lvl="0" marL="0" rtl="0" algn="ctr">
                        <a:lnSpc>
                          <a:spcPct val="115000"/>
                        </a:lnSpc>
                        <a:spcBef>
                          <a:spcPts val="0"/>
                        </a:spcBef>
                        <a:spcAft>
                          <a:spcPts val="0"/>
                        </a:spcAft>
                        <a:buNone/>
                      </a:pPr>
                      <a:r>
                        <a:rPr lang="en-US" sz="1000"/>
                        <a:t>215</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7:2"/>
                      </a:ext>
                    </a:extLst>
                  </a:tcPr>
                </a:tc>
              </a:tr>
              <a:tr h="200025">
                <a:tc>
                  <a:txBody>
                    <a:bodyPr/>
                    <a:lstStyle/>
                    <a:p>
                      <a:pPr indent="0" lvl="0" marL="0" rtl="0" algn="ctr">
                        <a:lnSpc>
                          <a:spcPct val="115000"/>
                        </a:lnSpc>
                        <a:spcBef>
                          <a:spcPts val="0"/>
                        </a:spcBef>
                        <a:spcAft>
                          <a:spcPts val="0"/>
                        </a:spcAft>
                        <a:buNone/>
                      </a:pPr>
                      <a:r>
                        <a:rPr lang="en-US" sz="1000"/>
                        <a:t>14/10/2026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8:0"/>
                      </a:ext>
                    </a:extLst>
                  </a:tcPr>
                </a:tc>
                <a:tc>
                  <a:txBody>
                    <a:bodyPr/>
                    <a:lstStyle/>
                    <a:p>
                      <a:pPr indent="0" lvl="0" marL="0" rtl="0" algn="ctr">
                        <a:lnSpc>
                          <a:spcPct val="115000"/>
                        </a:lnSpc>
                        <a:spcBef>
                          <a:spcPts val="0"/>
                        </a:spcBef>
                        <a:spcAft>
                          <a:spcPts val="0"/>
                        </a:spcAft>
                        <a:buNone/>
                      </a:pPr>
                      <a:r>
                        <a:rPr lang="en-US" sz="1000"/>
                        <a:t>190</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8:1"/>
                      </a:ext>
                    </a:extLst>
                  </a:tcPr>
                </a:tc>
                <a:tc>
                  <a:txBody>
                    <a:bodyPr/>
                    <a:lstStyle/>
                    <a:p>
                      <a:pPr indent="0" lvl="0" marL="0" rtl="0" algn="ctr">
                        <a:spcBef>
                          <a:spcPts val="0"/>
                        </a:spcBef>
                        <a:spcAft>
                          <a:spcPts val="0"/>
                        </a:spcAft>
                        <a:buNone/>
                      </a:pPr>
                      <a:r>
                        <a:t/>
                      </a:r>
                      <a:endParaRPr/>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8:2"/>
                      </a:ext>
                    </a:extLst>
                  </a:tcPr>
                </a:tc>
              </a:tr>
              <a:tr h="200025">
                <a:tc>
                  <a:txBody>
                    <a:bodyPr/>
                    <a:lstStyle/>
                    <a:p>
                      <a:pPr indent="0" lvl="0" marL="0" rtl="0" algn="ctr">
                        <a:lnSpc>
                          <a:spcPct val="115000"/>
                        </a:lnSpc>
                        <a:spcBef>
                          <a:spcPts val="0"/>
                        </a:spcBef>
                        <a:spcAft>
                          <a:spcPts val="0"/>
                        </a:spcAft>
                        <a:buNone/>
                      </a:pPr>
                      <a:r>
                        <a:rPr lang="en-US" sz="1000"/>
                        <a:t>15/10/2026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9:0"/>
                      </a:ext>
                    </a:extLst>
                  </a:tcPr>
                </a:tc>
                <a:tc>
                  <a:txBody>
                    <a:bodyPr/>
                    <a:lstStyle/>
                    <a:p>
                      <a:pPr indent="0" lvl="0" marL="0" rtl="0" algn="ctr">
                        <a:lnSpc>
                          <a:spcPct val="115000"/>
                        </a:lnSpc>
                        <a:spcBef>
                          <a:spcPts val="0"/>
                        </a:spcBef>
                        <a:spcAft>
                          <a:spcPts val="0"/>
                        </a:spcAft>
                        <a:buNone/>
                      </a:pPr>
                      <a:r>
                        <a:rPr lang="en-US" sz="1000"/>
                        <a:t>163</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9:1"/>
                      </a:ext>
                    </a:extLst>
                  </a:tcPr>
                </a:tc>
                <a:tc>
                  <a:txBody>
                    <a:bodyPr/>
                    <a:lstStyle/>
                    <a:p>
                      <a:pPr indent="0" lvl="0" marL="0" rtl="0" algn="ctr">
                        <a:spcBef>
                          <a:spcPts val="0"/>
                        </a:spcBef>
                        <a:spcAft>
                          <a:spcPts val="0"/>
                        </a:spcAft>
                        <a:buNone/>
                      </a:pPr>
                      <a:r>
                        <a:t/>
                      </a:r>
                      <a:endParaRPr/>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9:2"/>
                      </a:ext>
                    </a:extLst>
                  </a:tcPr>
                </a:tc>
              </a:tr>
              <a:tr h="200025">
                <a:tc>
                  <a:txBody>
                    <a:bodyPr/>
                    <a:lstStyle/>
                    <a:p>
                      <a:pPr indent="0" lvl="0" marL="0" rtl="0" algn="ctr">
                        <a:lnSpc>
                          <a:spcPct val="115000"/>
                        </a:lnSpc>
                        <a:spcBef>
                          <a:spcPts val="0"/>
                        </a:spcBef>
                        <a:spcAft>
                          <a:spcPts val="0"/>
                        </a:spcAft>
                        <a:buNone/>
                      </a:pPr>
                      <a:r>
                        <a:rPr lang="en-US" sz="1000"/>
                        <a:t>16/10/2026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0:0"/>
                      </a:ext>
                    </a:extLst>
                  </a:tcPr>
                </a:tc>
                <a:tc>
                  <a:txBody>
                    <a:bodyPr/>
                    <a:lstStyle/>
                    <a:p>
                      <a:pPr indent="0" lvl="0" marL="0" rtl="0" algn="ctr">
                        <a:lnSpc>
                          <a:spcPct val="115000"/>
                        </a:lnSpc>
                        <a:spcBef>
                          <a:spcPts val="0"/>
                        </a:spcBef>
                        <a:spcAft>
                          <a:spcPts val="0"/>
                        </a:spcAft>
                        <a:buNone/>
                      </a:pPr>
                      <a:r>
                        <a:rPr lang="en-US" sz="1000"/>
                        <a:t>136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0:1"/>
                      </a:ext>
                    </a:extLst>
                  </a:tcPr>
                </a:tc>
                <a:tc>
                  <a:txBody>
                    <a:bodyPr/>
                    <a:lstStyle/>
                    <a:p>
                      <a:pPr indent="0" lvl="0" marL="0" rtl="0" algn="ctr">
                        <a:spcBef>
                          <a:spcPts val="0"/>
                        </a:spcBef>
                        <a:spcAft>
                          <a:spcPts val="0"/>
                        </a:spcAft>
                        <a:buNone/>
                      </a:pPr>
                      <a:r>
                        <a:t/>
                      </a:r>
                      <a:endParaRPr/>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0:2"/>
                      </a:ext>
                    </a:extLst>
                  </a:tcPr>
                </a:tc>
              </a:tr>
              <a:tr h="200025">
                <a:tc>
                  <a:txBody>
                    <a:bodyPr/>
                    <a:lstStyle/>
                    <a:p>
                      <a:pPr indent="0" lvl="0" marL="0" rtl="0" algn="ctr">
                        <a:lnSpc>
                          <a:spcPct val="115000"/>
                        </a:lnSpc>
                        <a:spcBef>
                          <a:spcPts val="0"/>
                        </a:spcBef>
                        <a:spcAft>
                          <a:spcPts val="0"/>
                        </a:spcAft>
                        <a:buNone/>
                      </a:pPr>
                      <a:r>
                        <a:rPr lang="en-US" sz="1000"/>
                        <a:t>19/10/2026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1:0"/>
                      </a:ext>
                    </a:extLst>
                  </a:tcPr>
                </a:tc>
                <a:tc>
                  <a:txBody>
                    <a:bodyPr/>
                    <a:lstStyle/>
                    <a:p>
                      <a:pPr indent="0" lvl="0" marL="0" rtl="0" algn="ctr">
                        <a:lnSpc>
                          <a:spcPct val="115000"/>
                        </a:lnSpc>
                        <a:spcBef>
                          <a:spcPts val="0"/>
                        </a:spcBef>
                        <a:spcAft>
                          <a:spcPts val="0"/>
                        </a:spcAft>
                        <a:buNone/>
                      </a:pPr>
                      <a:r>
                        <a:rPr lang="en-US" sz="1000"/>
                        <a:t>109</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1:1"/>
                      </a:ext>
                    </a:extLst>
                  </a:tcPr>
                </a:tc>
                <a:tc>
                  <a:txBody>
                    <a:bodyPr/>
                    <a:lstStyle/>
                    <a:p>
                      <a:pPr indent="0" lvl="0" marL="0" rtl="0" algn="ctr">
                        <a:spcBef>
                          <a:spcPts val="0"/>
                        </a:spcBef>
                        <a:spcAft>
                          <a:spcPts val="0"/>
                        </a:spcAft>
                        <a:buNone/>
                      </a:pPr>
                      <a:r>
                        <a:t/>
                      </a:r>
                      <a:endParaRPr/>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1:2"/>
                      </a:ext>
                    </a:extLst>
                  </a:tcPr>
                </a:tc>
              </a:tr>
              <a:tr h="200025">
                <a:tc>
                  <a:txBody>
                    <a:bodyPr/>
                    <a:lstStyle/>
                    <a:p>
                      <a:pPr indent="0" lvl="0" marL="0" rtl="0" algn="ctr">
                        <a:lnSpc>
                          <a:spcPct val="115000"/>
                        </a:lnSpc>
                        <a:spcBef>
                          <a:spcPts val="0"/>
                        </a:spcBef>
                        <a:spcAft>
                          <a:spcPts val="0"/>
                        </a:spcAft>
                        <a:buNone/>
                      </a:pPr>
                      <a:r>
                        <a:rPr lang="en-US" sz="1000"/>
                        <a:t>20/10/2026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2:0"/>
                      </a:ext>
                    </a:extLst>
                  </a:tcPr>
                </a:tc>
                <a:tc>
                  <a:txBody>
                    <a:bodyPr/>
                    <a:lstStyle/>
                    <a:p>
                      <a:pPr indent="0" lvl="0" marL="0" rtl="0" algn="ctr">
                        <a:lnSpc>
                          <a:spcPct val="115000"/>
                        </a:lnSpc>
                        <a:spcBef>
                          <a:spcPts val="0"/>
                        </a:spcBef>
                        <a:spcAft>
                          <a:spcPts val="0"/>
                        </a:spcAft>
                        <a:buNone/>
                      </a:pPr>
                      <a:r>
                        <a:rPr lang="en-US" sz="1000"/>
                        <a:t>81</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2:1"/>
                      </a:ext>
                    </a:extLst>
                  </a:tcPr>
                </a:tc>
                <a:tc>
                  <a:txBody>
                    <a:bodyPr/>
                    <a:lstStyle/>
                    <a:p>
                      <a:pPr indent="0" lvl="0" marL="0" rtl="0" algn="ctr">
                        <a:spcBef>
                          <a:spcPts val="0"/>
                        </a:spcBef>
                        <a:spcAft>
                          <a:spcPts val="0"/>
                        </a:spcAft>
                        <a:buNone/>
                      </a:pPr>
                      <a:r>
                        <a:t/>
                      </a:r>
                      <a:endParaRPr/>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2:2"/>
                      </a:ext>
                    </a:extLst>
                  </a:tcPr>
                </a:tc>
              </a:tr>
              <a:tr h="200025">
                <a:tc>
                  <a:txBody>
                    <a:bodyPr/>
                    <a:lstStyle/>
                    <a:p>
                      <a:pPr indent="0" lvl="0" marL="0" rtl="0" algn="ctr">
                        <a:lnSpc>
                          <a:spcPct val="115000"/>
                        </a:lnSpc>
                        <a:spcBef>
                          <a:spcPts val="0"/>
                        </a:spcBef>
                        <a:spcAft>
                          <a:spcPts val="0"/>
                        </a:spcAft>
                        <a:buNone/>
                      </a:pPr>
                      <a:r>
                        <a:rPr lang="en-US" sz="1000"/>
                        <a:t>21/10/2026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3:0"/>
                      </a:ext>
                    </a:extLst>
                  </a:tcPr>
                </a:tc>
                <a:tc>
                  <a:txBody>
                    <a:bodyPr/>
                    <a:lstStyle/>
                    <a:p>
                      <a:pPr indent="0" lvl="0" marL="0" rtl="0" algn="ctr">
                        <a:lnSpc>
                          <a:spcPct val="115000"/>
                        </a:lnSpc>
                        <a:spcBef>
                          <a:spcPts val="0"/>
                        </a:spcBef>
                        <a:spcAft>
                          <a:spcPts val="0"/>
                        </a:spcAft>
                        <a:buNone/>
                      </a:pPr>
                      <a:r>
                        <a:rPr lang="en-US" sz="1000"/>
                        <a:t>54</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3:1"/>
                      </a:ext>
                    </a:extLst>
                  </a:tcPr>
                </a:tc>
                <a:tc>
                  <a:txBody>
                    <a:bodyPr/>
                    <a:lstStyle/>
                    <a:p>
                      <a:pPr indent="0" lvl="0" marL="0" rtl="0" algn="ctr">
                        <a:spcBef>
                          <a:spcPts val="0"/>
                        </a:spcBef>
                        <a:spcAft>
                          <a:spcPts val="0"/>
                        </a:spcAft>
                        <a:buNone/>
                      </a:pPr>
                      <a:r>
                        <a:t/>
                      </a:r>
                      <a:endParaRPr/>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3:2"/>
                      </a:ext>
                    </a:extLst>
                  </a:tcPr>
                </a:tc>
              </a:tr>
              <a:tr h="200025">
                <a:tc>
                  <a:txBody>
                    <a:bodyPr/>
                    <a:lstStyle/>
                    <a:p>
                      <a:pPr indent="0" lvl="0" marL="0" rtl="0" algn="ctr">
                        <a:lnSpc>
                          <a:spcPct val="115000"/>
                        </a:lnSpc>
                        <a:spcBef>
                          <a:spcPts val="0"/>
                        </a:spcBef>
                        <a:spcAft>
                          <a:spcPts val="0"/>
                        </a:spcAft>
                        <a:buNone/>
                      </a:pPr>
                      <a:r>
                        <a:rPr lang="en-US" sz="1000"/>
                        <a:t>22/10/2026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4:0"/>
                      </a:ext>
                    </a:extLst>
                  </a:tcPr>
                </a:tc>
                <a:tc>
                  <a:txBody>
                    <a:bodyPr/>
                    <a:lstStyle/>
                    <a:p>
                      <a:pPr indent="0" lvl="0" marL="0" rtl="0" algn="ctr">
                        <a:lnSpc>
                          <a:spcPct val="115000"/>
                        </a:lnSpc>
                        <a:spcBef>
                          <a:spcPts val="0"/>
                        </a:spcBef>
                        <a:spcAft>
                          <a:spcPts val="0"/>
                        </a:spcAft>
                        <a:buNone/>
                      </a:pPr>
                      <a:r>
                        <a:rPr lang="en-US" sz="1000"/>
                        <a:t>27</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4:1"/>
                      </a:ext>
                    </a:extLst>
                  </a:tcPr>
                </a:tc>
                <a:tc>
                  <a:txBody>
                    <a:bodyPr/>
                    <a:lstStyle/>
                    <a:p>
                      <a:pPr indent="0" lvl="0" marL="0" rtl="0" algn="ctr">
                        <a:spcBef>
                          <a:spcPts val="0"/>
                        </a:spcBef>
                        <a:spcAft>
                          <a:spcPts val="0"/>
                        </a:spcAft>
                        <a:buNone/>
                      </a:pPr>
                      <a:r>
                        <a:t/>
                      </a:r>
                      <a:endParaRPr/>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4:2"/>
                      </a:ext>
                    </a:extLst>
                  </a:tcPr>
                </a:tc>
              </a:tr>
              <a:tr h="200025">
                <a:tc>
                  <a:txBody>
                    <a:bodyPr/>
                    <a:lstStyle/>
                    <a:p>
                      <a:pPr indent="0" lvl="0" marL="0" rtl="0" algn="ctr">
                        <a:lnSpc>
                          <a:spcPct val="115000"/>
                        </a:lnSpc>
                        <a:spcBef>
                          <a:spcPts val="0"/>
                        </a:spcBef>
                        <a:spcAft>
                          <a:spcPts val="0"/>
                        </a:spcAft>
                        <a:buNone/>
                      </a:pPr>
                      <a:r>
                        <a:rPr lang="en-US" sz="1000"/>
                        <a:t>23/10/2026</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5:0"/>
                      </a:ext>
                    </a:extLst>
                  </a:tcPr>
                </a:tc>
                <a:tc>
                  <a:txBody>
                    <a:bodyPr/>
                    <a:lstStyle/>
                    <a:p>
                      <a:pPr indent="0" lvl="0" marL="0" rtl="0" algn="ctr">
                        <a:lnSpc>
                          <a:spcPct val="115000"/>
                        </a:lnSpc>
                        <a:spcBef>
                          <a:spcPts val="0"/>
                        </a:spcBef>
                        <a:spcAft>
                          <a:spcPts val="0"/>
                        </a:spcAft>
                        <a:buNone/>
                      </a:pPr>
                      <a:r>
                        <a:rPr lang="en-US" sz="1000"/>
                        <a:t>0</a:t>
                      </a:r>
                      <a:endParaRPr sz="1000"/>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5:1"/>
                      </a:ext>
                    </a:extLst>
                  </a:tcPr>
                </a:tc>
                <a:tc>
                  <a:txBody>
                    <a:bodyPr/>
                    <a:lstStyle/>
                    <a:p>
                      <a:pPr indent="0" lvl="0" marL="0" rtl="0" algn="ctr">
                        <a:spcBef>
                          <a:spcPts val="0"/>
                        </a:spcBef>
                        <a:spcAft>
                          <a:spcPts val="0"/>
                        </a:spcAft>
                        <a:buNone/>
                      </a:pPr>
                      <a:r>
                        <a:t/>
                      </a:r>
                      <a:endParaRPr/>
                    </a:p>
                  </a:txBody>
                  <a:tcPr marT="91425" marB="91425"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extLst>
                      <a:ext uri="http://customooxmlschemas.google.com/">
                        <go:slidesCustomData xmlns:go="http://customooxmlschemas.google.com/" cellId="356:15:2"/>
                      </a:ext>
                    </a:extLst>
                  </a:tcPr>
                </a:tc>
              </a:tr>
            </a:tbl>
          </a:graphicData>
        </a:graphic>
      </p:graphicFrame>
      <p:pic>
        <p:nvPicPr>
          <p:cNvPr id="357" name="Google Shape;357;h2a029743ffb0fa9e_1_28" title="Gráfico"/>
          <p:cNvPicPr preferRelativeResize="0"/>
          <p:nvPr/>
        </p:nvPicPr>
        <p:blipFill>
          <a:blip r:embed="rId3">
            <a:alphaModFix/>
          </a:blip>
          <a:stretch>
            <a:fillRect/>
          </a:stretch>
        </p:blipFill>
        <p:spPr>
          <a:xfrm>
            <a:off x="152400" y="1260600"/>
            <a:ext cx="7997025" cy="4953623"/>
          </a:xfrm>
          <a:prstGeom prst="rect">
            <a:avLst/>
          </a:prstGeom>
          <a:noFill/>
          <a:ln>
            <a:noFill/>
          </a:ln>
        </p:spPr>
      </p:pic>
      <p:sp>
        <p:nvSpPr>
          <p:cNvPr id="358" name="Google Shape;358;h2a029743ffb0fa9e_1_28"/>
          <p:cNvSpPr txBox="1"/>
          <p:nvPr/>
        </p:nvSpPr>
        <p:spPr>
          <a:xfrm>
            <a:off x="298500" y="52475"/>
            <a:ext cx="57021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3: Burndown Chart</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62" name="Shape 362"/>
        <p:cNvGrpSpPr/>
        <p:nvPr/>
      </p:nvGrpSpPr>
      <p:grpSpPr>
        <a:xfrm>
          <a:off x="0" y="0"/>
          <a:ext cx="0" cy="0"/>
          <a:chOff x="0" y="0"/>
          <a:chExt cx="0" cy="0"/>
        </a:xfrm>
      </p:grpSpPr>
      <p:sp>
        <p:nvSpPr>
          <p:cNvPr id="363" name="Google Shape;363;h2a029743ffb0fa9e_1_41"/>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64" name="Google Shape;364;h2a029743ffb0fa9e_1_41"/>
          <p:cNvSpPr txBox="1"/>
          <p:nvPr/>
        </p:nvSpPr>
        <p:spPr>
          <a:xfrm>
            <a:off x="201875" y="278800"/>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3: Impediment Log</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graphicFrame>
        <p:nvGraphicFramePr>
          <p:cNvPr id="365" name="Google Shape;365;h2a029743ffb0fa9e_1_41"/>
          <p:cNvGraphicFramePr/>
          <p:nvPr/>
        </p:nvGraphicFramePr>
        <p:xfrm>
          <a:off x="1748475" y="1659400"/>
          <a:ext cx="3000000" cy="3000000"/>
        </p:xfrm>
        <a:graphic>
          <a:graphicData uri="http://schemas.openxmlformats.org/drawingml/2006/table">
            <a:tbl>
              <a:tblPr>
                <a:noFill/>
                <a:tableStyleId>{ED052C57-221C-4132-B2C9-E8A35B6E6ACB}</a:tableStyleId>
              </a:tblPr>
              <a:tblGrid>
                <a:gridCol w="832625"/>
                <a:gridCol w="1427375"/>
                <a:gridCol w="1189475"/>
                <a:gridCol w="1189475"/>
                <a:gridCol w="1189475"/>
                <a:gridCol w="1522525"/>
                <a:gridCol w="1344100"/>
              </a:tblGrid>
              <a:tr h="555300">
                <a:tc gridSpan="7">
                  <a:txBody>
                    <a:bodyPr/>
                    <a:lstStyle/>
                    <a:p>
                      <a:pPr indent="0" lvl="0" marL="0" rtl="0" algn="l">
                        <a:lnSpc>
                          <a:spcPct val="115000"/>
                        </a:lnSpc>
                        <a:spcBef>
                          <a:spcPts val="0"/>
                        </a:spcBef>
                        <a:spcAft>
                          <a:spcPts val="0"/>
                        </a:spcAft>
                        <a:buNone/>
                      </a:pPr>
                      <a:r>
                        <a:rPr b="1" lang="en-US" sz="1700"/>
                        <a:t>Impediment Log</a:t>
                      </a:r>
                      <a:endParaRPr b="1"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hMerge="1"/>
                <a:tc hMerge="1"/>
                <a:tc hMerge="1"/>
                <a:tc hMerge="1"/>
                <a:tc hMerge="1"/>
                <a:tc hMerge="1"/>
              </a:tr>
              <a:tr h="444250">
                <a:tc>
                  <a:txBody>
                    <a:bodyPr/>
                    <a:lstStyle/>
                    <a:p>
                      <a:pPr indent="0" lvl="0" marL="0" rtl="0" algn="ctr">
                        <a:lnSpc>
                          <a:spcPct val="115000"/>
                        </a:lnSpc>
                        <a:spcBef>
                          <a:spcPts val="0"/>
                        </a:spcBef>
                        <a:spcAft>
                          <a:spcPts val="0"/>
                        </a:spcAft>
                        <a:buNone/>
                      </a:pPr>
                      <a:r>
                        <a:rPr b="1" lang="en-US"/>
                        <a:t>ID</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Impedimento</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Impacto</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Prioridad</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Responsable</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Acción/Solución</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c>
                  <a:txBody>
                    <a:bodyPr/>
                    <a:lstStyle/>
                    <a:p>
                      <a:pPr indent="0" lvl="0" marL="0" rtl="0" algn="ctr">
                        <a:lnSpc>
                          <a:spcPct val="115000"/>
                        </a:lnSpc>
                        <a:spcBef>
                          <a:spcPts val="0"/>
                        </a:spcBef>
                        <a:spcAft>
                          <a:spcPts val="0"/>
                        </a:spcAft>
                        <a:buNone/>
                      </a:pPr>
                      <a:r>
                        <a:rPr b="1" lang="en-US"/>
                        <a:t>Estado</a:t>
                      </a:r>
                      <a:endParaRPr b="1"/>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solidFill>
                      <a:srgbClr val="C9DAF8"/>
                    </a:solidFill>
                  </a:tcPr>
                </a:tc>
              </a:tr>
              <a:tr h="1073625">
                <a:tc>
                  <a:txBody>
                    <a:bodyPr/>
                    <a:lstStyle/>
                    <a:p>
                      <a:pPr indent="0" lvl="0" marL="0" rtl="0" algn="ctr">
                        <a:lnSpc>
                          <a:spcPct val="115000"/>
                        </a:lnSpc>
                        <a:spcBef>
                          <a:spcPts val="0"/>
                        </a:spcBef>
                        <a:spcAft>
                          <a:spcPts val="0"/>
                        </a:spcAft>
                        <a:buNone/>
                      </a:pPr>
                      <a:r>
                        <a:rPr lang="en-US" sz="1300"/>
                        <a:t>-</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300"/>
                        <a:t>No se han presentado impedimentos hasta el momento.</a:t>
                      </a:r>
                      <a:endParaRPr sz="13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300"/>
                        <a:t>No aplica</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300"/>
                        <a:t>-</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300"/>
                        <a:t>-</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300"/>
                        <a:t>No aplica</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300"/>
                        <a:t>Sin impedimentos</a:t>
                      </a:r>
                      <a:endParaRPr sz="13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488675">
                <a:tc>
                  <a:txBody>
                    <a:bodyPr/>
                    <a:lstStyle/>
                    <a:p>
                      <a:pPr indent="0" lvl="0" marL="0" rtl="0" algn="l">
                        <a:spcBef>
                          <a:spcPts val="0"/>
                        </a:spcBef>
                        <a:spcAft>
                          <a:spcPts val="0"/>
                        </a:spcAft>
                        <a:buNone/>
                      </a:pPr>
                      <a:r>
                        <a:t/>
                      </a:r>
                      <a:endParaRPr sz="17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488675">
                <a:tc>
                  <a:txBody>
                    <a:bodyPr/>
                    <a:lstStyle/>
                    <a:p>
                      <a:pPr indent="0" lvl="0" marL="0" rtl="0" algn="l">
                        <a:spcBef>
                          <a:spcPts val="0"/>
                        </a:spcBef>
                        <a:spcAft>
                          <a:spcPts val="0"/>
                        </a:spcAft>
                        <a:buNone/>
                      </a:pPr>
                      <a:r>
                        <a:t/>
                      </a:r>
                      <a:endParaRPr sz="17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r h="488675">
                <a:tc>
                  <a:txBody>
                    <a:bodyPr/>
                    <a:lstStyle/>
                    <a:p>
                      <a:pPr indent="0" lvl="0" marL="0" rtl="0" algn="l">
                        <a:spcBef>
                          <a:spcPts val="0"/>
                        </a:spcBef>
                        <a:spcAft>
                          <a:spcPts val="0"/>
                        </a:spcAft>
                        <a:buNone/>
                      </a:pPr>
                      <a:r>
                        <a:t/>
                      </a:r>
                      <a:endParaRPr sz="1700"/>
                    </a:p>
                  </a:txBody>
                  <a:tcPr marT="19050" marB="19050" marR="28575" marL="28575" anchor="ctr">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t/>
                      </a:r>
                      <a:endParaRPr sz="1700"/>
                    </a:p>
                  </a:txBody>
                  <a:tcPr marT="19050" marB="19050" marR="28575" marL="28575" anchor="b">
                    <a:lnL cap="flat" cmpd="sng" w="7625">
                      <a:solidFill>
                        <a:srgbClr val="000000"/>
                      </a:solidFill>
                      <a:prstDash val="solid"/>
                      <a:round/>
                      <a:headEnd len="sm" w="sm" type="none"/>
                      <a:tailEnd len="sm" w="sm" type="none"/>
                    </a:lnL>
                    <a:lnR cap="flat" cmpd="sng" w="7625">
                      <a:solidFill>
                        <a:srgbClr val="000000"/>
                      </a:solidFill>
                      <a:prstDash val="solid"/>
                      <a:round/>
                      <a:headEnd len="sm" w="sm" type="none"/>
                      <a:tailEnd len="sm" w="sm" type="none"/>
                    </a:lnR>
                    <a:lnT cap="flat" cmpd="sng" w="7625">
                      <a:solidFill>
                        <a:srgbClr val="000000"/>
                      </a:solidFill>
                      <a:prstDash val="solid"/>
                      <a:round/>
                      <a:headEnd len="sm" w="sm" type="none"/>
                      <a:tailEnd len="sm" w="sm" type="none"/>
                    </a:lnT>
                    <a:lnB cap="flat" cmpd="sng" w="7625">
                      <a:solidFill>
                        <a:srgbClr val="000000"/>
                      </a:solidFill>
                      <a:prstDash val="solid"/>
                      <a:round/>
                      <a:headEnd len="sm" w="sm" type="none"/>
                      <a:tailEnd len="sm" w="sm" type="none"/>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h4189661798d1f2e9_0_0"/>
          <p:cNvSpPr txBox="1"/>
          <p:nvPr>
            <p:ph idx="12" type="sldNum"/>
          </p:nvPr>
        </p:nvSpPr>
        <p:spPr>
          <a:xfrm>
            <a:off x="9890450" y="638017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71" name="Google Shape;371;h4189661798d1f2e9_0_0"/>
          <p:cNvSpPr txBox="1"/>
          <p:nvPr/>
        </p:nvSpPr>
        <p:spPr>
          <a:xfrm>
            <a:off x="298500" y="264300"/>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Trello</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pic>
        <p:nvPicPr>
          <p:cNvPr id="372" name="Google Shape;372;h4189661798d1f2e9_0_0"/>
          <p:cNvPicPr preferRelativeResize="0"/>
          <p:nvPr/>
        </p:nvPicPr>
        <p:blipFill>
          <a:blip r:embed="rId4">
            <a:alphaModFix/>
          </a:blip>
          <a:stretch>
            <a:fillRect/>
          </a:stretch>
        </p:blipFill>
        <p:spPr>
          <a:xfrm>
            <a:off x="167938" y="1278125"/>
            <a:ext cx="11856124" cy="4969801"/>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377" name="Shape 377"/>
        <p:cNvGrpSpPr/>
        <p:nvPr/>
      </p:nvGrpSpPr>
      <p:grpSpPr>
        <a:xfrm>
          <a:off x="0" y="0"/>
          <a:ext cx="0" cy="0"/>
          <a:chOff x="0" y="0"/>
          <a:chExt cx="0" cy="0"/>
        </a:xfrm>
      </p:grpSpPr>
      <p:sp>
        <p:nvSpPr>
          <p:cNvPr id="378" name="Google Shape;378;p18"/>
          <p:cNvSpPr txBox="1"/>
          <p:nvPr/>
        </p:nvSpPr>
        <p:spPr>
          <a:xfrm>
            <a:off x="457200" y="219456"/>
            <a:ext cx="11277295" cy="430887"/>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F1F5F9"/>
                </a:solidFill>
                <a:latin typeface="Georgia"/>
                <a:ea typeface="Georgia"/>
                <a:cs typeface="Georgia"/>
                <a:sym typeface="Georgia"/>
              </a:rPr>
              <a:t>Cronograma del Proyecto y Carta Gantt</a:t>
            </a:r>
            <a:endParaRPr b="0" i="0" sz="1400" u="none" cap="none" strike="noStrike">
              <a:solidFill>
                <a:srgbClr val="000000"/>
              </a:solidFill>
              <a:latin typeface="Arial"/>
              <a:ea typeface="Arial"/>
              <a:cs typeface="Arial"/>
              <a:sym typeface="Arial"/>
            </a:endParaRPr>
          </a:p>
        </p:txBody>
      </p:sp>
      <p:sp>
        <p:nvSpPr>
          <p:cNvPr id="379" name="Google Shape;379;p18"/>
          <p:cNvSpPr txBox="1"/>
          <p:nvPr>
            <p:ph idx="12" type="sldNum"/>
          </p:nvPr>
        </p:nvSpPr>
        <p:spPr>
          <a:xfrm>
            <a:off x="9600900" y="6383175"/>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pic>
        <p:nvPicPr>
          <p:cNvPr id="380" name="Google Shape;380;p18"/>
          <p:cNvPicPr preferRelativeResize="0"/>
          <p:nvPr/>
        </p:nvPicPr>
        <p:blipFill rotWithShape="1">
          <a:blip r:embed="rId3">
            <a:alphaModFix/>
          </a:blip>
          <a:srcRect b="0" l="0" r="0" t="0"/>
          <a:stretch/>
        </p:blipFill>
        <p:spPr>
          <a:xfrm>
            <a:off x="152400" y="802743"/>
            <a:ext cx="11700958" cy="5428033"/>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84" name="Shape 384"/>
        <p:cNvGrpSpPr/>
        <p:nvPr/>
      </p:nvGrpSpPr>
      <p:grpSpPr>
        <a:xfrm>
          <a:off x="0" y="0"/>
          <a:ext cx="0" cy="0"/>
          <a:chOff x="0" y="0"/>
          <a:chExt cx="0" cy="0"/>
        </a:xfrm>
      </p:grpSpPr>
      <p:sp>
        <p:nvSpPr>
          <p:cNvPr id="385" name="Google Shape;385;h1fd0423cc0bc1287_0_8"/>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386" name="Google Shape;386;h1fd0423cc0bc1287_0_8"/>
          <p:cNvSpPr txBox="1"/>
          <p:nvPr/>
        </p:nvSpPr>
        <p:spPr>
          <a:xfrm>
            <a:off x="298500" y="2874900"/>
            <a:ext cx="11595000" cy="1108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2800">
                <a:solidFill>
                  <a:srgbClr val="1E293B"/>
                </a:solidFill>
                <a:latin typeface="Georgia"/>
                <a:ea typeface="Georgia"/>
                <a:cs typeface="Georgia"/>
                <a:sym typeface="Georgia"/>
              </a:rPr>
              <a:t>Demostración del Demo</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391" name="Shape 391"/>
        <p:cNvGrpSpPr/>
        <p:nvPr/>
      </p:nvGrpSpPr>
      <p:grpSpPr>
        <a:xfrm>
          <a:off x="0" y="0"/>
          <a:ext cx="0" cy="0"/>
          <a:chOff x="0" y="0"/>
          <a:chExt cx="0" cy="0"/>
        </a:xfrm>
      </p:grpSpPr>
      <p:sp>
        <p:nvSpPr>
          <p:cNvPr id="392" name="Google Shape;392;p19"/>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Conclusiones: Sinergia de Ingeniería Informática y Escalabilidad</a:t>
            </a:r>
            <a:endParaRPr b="0" i="0" sz="1400" u="none" cap="none" strike="noStrike">
              <a:solidFill>
                <a:srgbClr val="000000"/>
              </a:solidFill>
              <a:latin typeface="Arial"/>
              <a:ea typeface="Arial"/>
              <a:cs typeface="Arial"/>
              <a:sym typeface="Arial"/>
            </a:endParaRPr>
          </a:p>
        </p:txBody>
      </p:sp>
      <p:sp>
        <p:nvSpPr>
          <p:cNvPr id="393" name="Google Shape;393;p19"/>
          <p:cNvSpPr txBox="1"/>
          <p:nvPr/>
        </p:nvSpPr>
        <p:spPr>
          <a:xfrm>
            <a:off x="457075" y="1840025"/>
            <a:ext cx="3383400" cy="251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C2410C"/>
                </a:solidFill>
                <a:latin typeface="Arial"/>
                <a:ea typeface="Arial"/>
                <a:cs typeface="Arial"/>
                <a:sym typeface="Arial"/>
              </a:rPr>
              <a:t>CONCLUSIONES DEL PROYECTO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050"/>
              <a:buFont typeface="Arial"/>
              <a:buNone/>
            </a:pPr>
            <a:r>
              <a:rPr b="0" i="0" lang="en-US" sz="1050" u="none" cap="none" strike="noStrike">
                <a:solidFill>
                  <a:srgbClr val="1E293B"/>
                </a:solidFill>
                <a:latin typeface="Arial"/>
                <a:ea typeface="Arial"/>
                <a:cs typeface="Arial"/>
                <a:sym typeface="Arial"/>
              </a:rPr>
              <a:t>• Estabilidad Ágil: La aplicación rigurosa de Scrum (sprints de 3 semanas) mitigó tempranamente los riesgos técnicos de la integración del backend con la API de IA.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050"/>
              <a:buFont typeface="Arial"/>
              <a:buNone/>
            </a:pPr>
            <a:r>
              <a:rPr b="0" i="0" lang="en-US" sz="1050" u="none" cap="none" strike="noStrike">
                <a:solidFill>
                  <a:srgbClr val="1E293B"/>
                </a:solidFill>
                <a:latin typeface="Arial"/>
                <a:ea typeface="Arial"/>
                <a:cs typeface="Arial"/>
                <a:sym typeface="Arial"/>
              </a:rPr>
              <a:t>• Experiencia Diferenciada: La plataforma no es solo un e-commerce, es una herramienta interactiva de venta asistida que suprime barreras de conocimiento del usuario capilar.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050"/>
              <a:buFont typeface="Arial"/>
              <a:buNone/>
            </a:pPr>
            <a:r>
              <a:rPr b="0" i="0" lang="en-US" sz="1050" u="none" cap="none" strike="noStrike">
                <a:solidFill>
                  <a:srgbClr val="1E293B"/>
                </a:solidFill>
                <a:latin typeface="Arial"/>
                <a:ea typeface="Arial"/>
                <a:cs typeface="Arial"/>
                <a:sym typeface="Arial"/>
              </a:rPr>
              <a:t>• Soberanía Comercial: Monsite recupera el control de su catálogo, promociones, precios y de la estética original de su empaque premium, recuperando el margen.</a:t>
            </a:r>
            <a:endParaRPr b="0" i="0" sz="1400" u="none" cap="none" strike="noStrike">
              <a:solidFill>
                <a:srgbClr val="000000"/>
              </a:solidFill>
              <a:latin typeface="Arial"/>
              <a:ea typeface="Arial"/>
              <a:cs typeface="Arial"/>
              <a:sym typeface="Arial"/>
            </a:endParaRPr>
          </a:p>
        </p:txBody>
      </p:sp>
      <p:sp>
        <p:nvSpPr>
          <p:cNvPr id="394" name="Google Shape;394;p19"/>
          <p:cNvSpPr txBox="1"/>
          <p:nvPr/>
        </p:nvSpPr>
        <p:spPr>
          <a:xfrm>
            <a:off x="4114738" y="1840025"/>
            <a:ext cx="3383400" cy="2008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14B8A6"/>
                </a:solidFill>
                <a:latin typeface="Arial"/>
                <a:ea typeface="Arial"/>
                <a:cs typeface="Arial"/>
                <a:sym typeface="Arial"/>
              </a:rPr>
              <a:t>PRÓXIMOS PASOS DEL NEGOCIO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050"/>
              <a:buFont typeface="Arial"/>
              <a:buNone/>
            </a:pPr>
            <a:r>
              <a:rPr b="0" i="0" lang="en-US" sz="1050" u="none" cap="none" strike="noStrike">
                <a:solidFill>
                  <a:srgbClr val="1E293B"/>
                </a:solidFill>
                <a:latin typeface="Arial"/>
                <a:ea typeface="Arial"/>
                <a:cs typeface="Arial"/>
                <a:sym typeface="Arial"/>
              </a:rPr>
              <a:t>• Reentrenamiento Continuo de IA: Ampliar el volumen de imágenes capilares recolectadas para mejorar la precisión del modelo ResNet50.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050"/>
              <a:buFont typeface="Arial"/>
              <a:buNone/>
            </a:pPr>
            <a:r>
              <a:rPr b="0" i="0" lang="en-US" sz="1050" u="none" cap="none" strike="noStrike">
                <a:solidFill>
                  <a:srgbClr val="1E293B"/>
                </a:solidFill>
                <a:latin typeface="Arial"/>
                <a:ea typeface="Arial"/>
                <a:cs typeface="Arial"/>
                <a:sym typeface="Arial"/>
              </a:rPr>
              <a:t>• Pasarelas de Pago Redundantes: Implementar de forma nativa la integración de Transbank Plus (Webpay) para ofrecer métodos alternativos.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050"/>
              <a:buFont typeface="Arial"/>
              <a:buNone/>
            </a:pPr>
            <a:r>
              <a:rPr b="0" i="0" lang="en-US" sz="1050" u="none" cap="none" strike="noStrike">
                <a:solidFill>
                  <a:srgbClr val="1E293B"/>
                </a:solidFill>
                <a:latin typeface="Arial"/>
                <a:ea typeface="Arial"/>
                <a:cs typeface="Arial"/>
                <a:sym typeface="Arial"/>
              </a:rPr>
              <a:t>• Despacho Automatizado: Conectar la bodega del sistema mediante APIs directamente con operadores chilenos de mensajería (couriers logísticos).</a:t>
            </a:r>
            <a:endParaRPr b="0" i="0" sz="1400" u="none" cap="none" strike="noStrike">
              <a:solidFill>
                <a:srgbClr val="000000"/>
              </a:solidFill>
              <a:latin typeface="Arial"/>
              <a:ea typeface="Arial"/>
              <a:cs typeface="Arial"/>
              <a:sym typeface="Arial"/>
            </a:endParaRPr>
          </a:p>
        </p:txBody>
      </p:sp>
      <p:sp>
        <p:nvSpPr>
          <p:cNvPr id="395" name="Google Shape;395;p19"/>
          <p:cNvSpPr/>
          <p:nvPr/>
        </p:nvSpPr>
        <p:spPr>
          <a:xfrm>
            <a:off x="7772400" y="1188725"/>
            <a:ext cx="3962100" cy="3634500"/>
          </a:xfrm>
          <a:prstGeom prst="roundRect">
            <a:avLst>
              <a:gd fmla="val 16667" name="adj"/>
            </a:avLst>
          </a:prstGeom>
          <a:solidFill>
            <a:srgbClr val="0F172A"/>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6" name="Google Shape;396;p19"/>
          <p:cNvSpPr txBox="1"/>
          <p:nvPr/>
        </p:nvSpPr>
        <p:spPr>
          <a:xfrm>
            <a:off x="8229600" y="2011680"/>
            <a:ext cx="3504895" cy="3200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4B8A6"/>
                </a:solidFill>
                <a:latin typeface="Georgia"/>
                <a:ea typeface="Georgia"/>
                <a:cs typeface="Georgia"/>
                <a:sym typeface="Georgia"/>
              </a:rPr>
              <a:t>SINOPSIS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1300"/>
              <a:buFont typeface="Arial"/>
              <a:buNone/>
            </a:pPr>
            <a:r>
              <a:rPr b="0" i="0" lang="en-US" sz="1300" u="none" cap="none" strike="noStrike">
                <a:solidFill>
                  <a:srgbClr val="F1F5F9"/>
                </a:solidFill>
                <a:latin typeface="Arial"/>
                <a:ea typeface="Arial"/>
                <a:cs typeface="Arial"/>
                <a:sym typeface="Arial"/>
              </a:rPr>
              <a:t>Se entrega una plataforma e-commerce de venta asistida sólida y validada mediante pruebas que cumple los estándares profesionales del perfil de egreso en Ingeniería Informática.</a:t>
            </a:r>
            <a:endParaRPr b="0" i="0" sz="1400" u="none" cap="none" strike="noStrike">
              <a:solidFill>
                <a:srgbClr val="000000"/>
              </a:solidFill>
              <a:latin typeface="Arial"/>
              <a:ea typeface="Arial"/>
              <a:cs typeface="Arial"/>
              <a:sym typeface="Arial"/>
            </a:endParaRPr>
          </a:p>
        </p:txBody>
      </p:sp>
      <p:sp>
        <p:nvSpPr>
          <p:cNvPr id="397" name="Google Shape;397;p19"/>
          <p:cNvSpPr txBox="1"/>
          <p:nvPr>
            <p:ph idx="12" type="sldNum"/>
          </p:nvPr>
        </p:nvSpPr>
        <p:spPr>
          <a:xfrm>
            <a:off x="9600900" y="6263050"/>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402" name="Shape 402"/>
        <p:cNvGrpSpPr/>
        <p:nvPr/>
      </p:nvGrpSpPr>
      <p:grpSpPr>
        <a:xfrm>
          <a:off x="0" y="0"/>
          <a:ext cx="0" cy="0"/>
          <a:chOff x="0" y="0"/>
          <a:chExt cx="0" cy="0"/>
        </a:xfrm>
      </p:grpSpPr>
      <p:sp>
        <p:nvSpPr>
          <p:cNvPr id="403" name="Google Shape;403;p20"/>
          <p:cNvSpPr txBox="1"/>
          <p:nvPr/>
        </p:nvSpPr>
        <p:spPr>
          <a:xfrm>
            <a:off x="457200" y="457200"/>
            <a:ext cx="11277295" cy="7315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E293B"/>
                </a:solidFill>
                <a:latin typeface="Georgia"/>
                <a:ea typeface="Georgia"/>
                <a:cs typeface="Georgia"/>
                <a:sym typeface="Georgia"/>
              </a:rPr>
              <a:t>Reflexiones del Equipo: Competencias de Egreso Puestas en Práctica</a:t>
            </a:r>
            <a:endParaRPr b="0" i="0" sz="1400" u="none" cap="none" strike="noStrike">
              <a:solidFill>
                <a:srgbClr val="000000"/>
              </a:solidFill>
              <a:latin typeface="Arial"/>
              <a:ea typeface="Arial"/>
              <a:cs typeface="Arial"/>
              <a:sym typeface="Arial"/>
            </a:endParaRPr>
          </a:p>
        </p:txBody>
      </p:sp>
      <p:sp>
        <p:nvSpPr>
          <p:cNvPr id="404" name="Google Shape;404;p20"/>
          <p:cNvSpPr/>
          <p:nvPr/>
        </p:nvSpPr>
        <p:spPr>
          <a:xfrm>
            <a:off x="457200" y="1371600"/>
            <a:ext cx="3383280" cy="4663440"/>
          </a:xfrm>
          <a:prstGeom prst="roundRect">
            <a:avLst>
              <a:gd fmla="val 16667" name="adj"/>
            </a:avLst>
          </a:prstGeom>
          <a:solidFill>
            <a:srgbClr val="FFFFFF"/>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E293B"/>
                </a:solidFill>
                <a:latin typeface="Georgia"/>
                <a:ea typeface="Georgia"/>
                <a:cs typeface="Georgia"/>
                <a:sym typeface="Georgia"/>
              </a:rPr>
              <a:t>Benjamín Stavrakopulos</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50"/>
              <a:buFont typeface="Arial"/>
              <a:buNone/>
            </a:pPr>
            <a:r>
              <a:rPr b="1" i="0" lang="en-US" sz="950" u="none" cap="none" strike="noStrike">
                <a:solidFill>
                  <a:srgbClr val="14B8A6"/>
                </a:solidFill>
                <a:latin typeface="Arial"/>
                <a:ea typeface="Arial"/>
                <a:cs typeface="Arial"/>
                <a:sym typeface="Arial"/>
              </a:rPr>
              <a:t> Backend Developer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600"/>
              </a:spcBef>
              <a:spcAft>
                <a:spcPts val="0"/>
              </a:spcAft>
              <a:buClr>
                <a:srgbClr val="000000"/>
              </a:buClr>
              <a:buSzPts val="1050"/>
              <a:buFont typeface="Arial"/>
              <a:buNone/>
            </a:pPr>
            <a:r>
              <a:rPr b="0" i="1" lang="en-US" sz="1050" u="none" cap="none" strike="noStrike">
                <a:solidFill>
                  <a:srgbClr val="1E293B"/>
                </a:solidFill>
                <a:latin typeface="Arial"/>
                <a:ea typeface="Arial"/>
                <a:cs typeface="Arial"/>
                <a:sym typeface="Arial"/>
              </a:rPr>
              <a:t>"Liderar el diseño técnico, la lógica de base de datos en Firestore y las integraciones transaccionales constituyó un profundo desafío de ingeniería. Este proyecto Capstone consolidó mis competencias en la construcción de backend modular en Node.js/Express, la automatización por webhooks de pago reales de Mercado Pago, y la autogestión de equipos de desarrollo incremental con metodologías ágiles."</a:t>
            </a:r>
            <a:endParaRPr b="0" i="0" sz="1400" u="none" cap="none" strike="noStrike">
              <a:solidFill>
                <a:srgbClr val="000000"/>
              </a:solidFill>
              <a:latin typeface="Arial"/>
              <a:ea typeface="Arial"/>
              <a:cs typeface="Arial"/>
              <a:sym typeface="Arial"/>
            </a:endParaRPr>
          </a:p>
        </p:txBody>
      </p:sp>
      <p:sp>
        <p:nvSpPr>
          <p:cNvPr id="405" name="Google Shape;405;p20"/>
          <p:cNvSpPr/>
          <p:nvPr/>
        </p:nvSpPr>
        <p:spPr>
          <a:xfrm>
            <a:off x="4206240" y="1371600"/>
            <a:ext cx="3383280" cy="4663440"/>
          </a:xfrm>
          <a:prstGeom prst="roundRect">
            <a:avLst>
              <a:gd fmla="val 16667" name="adj"/>
            </a:avLst>
          </a:prstGeom>
          <a:solidFill>
            <a:srgbClr val="FFFFFF"/>
          </a:solidFill>
          <a:ln cap="flat" cmpd="sng" w="19050">
            <a:solidFill>
              <a:srgbClr val="C2410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E293B"/>
                </a:solidFill>
                <a:latin typeface="Georgia"/>
                <a:ea typeface="Georgia"/>
                <a:cs typeface="Georgia"/>
                <a:sym typeface="Georgia"/>
              </a:rPr>
              <a:t>Bastián Lazo</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50"/>
              <a:buFont typeface="Arial"/>
              <a:buNone/>
            </a:pPr>
            <a:r>
              <a:rPr b="1" i="0" lang="en-US" sz="950" u="none" cap="none" strike="noStrike">
                <a:solidFill>
                  <a:srgbClr val="C2410C"/>
                </a:solidFill>
                <a:latin typeface="Arial"/>
                <a:ea typeface="Arial"/>
                <a:cs typeface="Arial"/>
                <a:sym typeface="Arial"/>
              </a:rPr>
              <a:t>Team Developer / IA Developer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600"/>
              </a:spcBef>
              <a:spcAft>
                <a:spcPts val="0"/>
              </a:spcAft>
              <a:buClr>
                <a:srgbClr val="000000"/>
              </a:buClr>
              <a:buSzPts val="1050"/>
              <a:buFont typeface="Arial"/>
              <a:buNone/>
            </a:pPr>
            <a:r>
              <a:rPr b="0" i="1" lang="en-US" sz="1050" u="none" cap="none" strike="noStrike">
                <a:solidFill>
                  <a:srgbClr val="1E293B"/>
                </a:solidFill>
                <a:latin typeface="Arial"/>
                <a:ea typeface="Arial"/>
                <a:cs typeface="Arial"/>
                <a:sym typeface="Arial"/>
              </a:rPr>
              <a:t>"El preprocesamiento, aumento de datos y entrenamiento del modelo ResNet50 mediante fine-tuning me permitieron profundizar en redes neuronales convolucionales aplicadas a un caso de negocio tradicional. Superar los retos de calidad fotográfica del cabello y desplegar de forma desacoplada un microservicio cloud de inferencia en FastAPI sobre Render fue un aprendizaje de incalculable valor."</a:t>
            </a:r>
            <a:endParaRPr b="0" i="0" sz="1400" u="none" cap="none" strike="noStrike">
              <a:solidFill>
                <a:srgbClr val="000000"/>
              </a:solidFill>
              <a:latin typeface="Arial"/>
              <a:ea typeface="Arial"/>
              <a:cs typeface="Arial"/>
              <a:sym typeface="Arial"/>
            </a:endParaRPr>
          </a:p>
        </p:txBody>
      </p:sp>
      <p:sp>
        <p:nvSpPr>
          <p:cNvPr id="406" name="Google Shape;406;p20"/>
          <p:cNvSpPr/>
          <p:nvPr/>
        </p:nvSpPr>
        <p:spPr>
          <a:xfrm>
            <a:off x="7955280" y="1371600"/>
            <a:ext cx="3383280" cy="4663440"/>
          </a:xfrm>
          <a:prstGeom prst="roundRect">
            <a:avLst>
              <a:gd fmla="val 16667" name="adj"/>
            </a:avLst>
          </a:prstGeom>
          <a:solidFill>
            <a:srgbClr val="FFFFFF"/>
          </a:solidFill>
          <a:ln cap="flat" cmpd="sng" w="19050">
            <a:solidFill>
              <a:srgbClr val="14B8A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182875" lIns="182875" spcFirstLastPara="1" rIns="182875" wrap="square" tIns="182875">
            <a:no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1E293B"/>
                </a:solidFill>
                <a:latin typeface="Georgia"/>
                <a:ea typeface="Georgia"/>
                <a:cs typeface="Georgia"/>
                <a:sym typeface="Georgia"/>
              </a:rPr>
              <a:t>Francisca Guzmán</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50"/>
              <a:buFont typeface="Arial"/>
              <a:buNone/>
            </a:pPr>
            <a:r>
              <a:rPr b="1" i="0" lang="en-US" sz="950" u="none" cap="none" strike="noStrike">
                <a:solidFill>
                  <a:srgbClr val="14B8A6"/>
                </a:solidFill>
                <a:latin typeface="Arial"/>
                <a:ea typeface="Arial"/>
                <a:cs typeface="Arial"/>
                <a:sym typeface="Arial"/>
              </a:rPr>
              <a:t>Scrum Master / Frontend Developer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600"/>
              </a:spcBef>
              <a:spcAft>
                <a:spcPts val="0"/>
              </a:spcAft>
              <a:buClr>
                <a:srgbClr val="000000"/>
              </a:buClr>
              <a:buSzPts val="1050"/>
              <a:buFont typeface="Arial"/>
              <a:buNone/>
            </a:pPr>
            <a:r>
              <a:rPr b="0" i="1" lang="en-US" sz="1050" u="none" cap="none" strike="noStrike">
                <a:solidFill>
                  <a:srgbClr val="1E293B"/>
                </a:solidFill>
                <a:latin typeface="Arial"/>
                <a:ea typeface="Arial"/>
                <a:cs typeface="Arial"/>
                <a:sym typeface="Arial"/>
              </a:rPr>
              <a:t>“En conclusión, mi participación como Scrum Master y Frontend Developer me permitió contribuir tanto en la organización del equipo como en el desarrollo de una interfaz clara, responsiva e intuitiva para Monsite. Además, apoyé la planificación, documentación y seguimiento del proyecto, contribuyendo al cumplimiento de los objetivos y al trabajo colaborativo. “</a:t>
            </a:r>
            <a:endParaRPr b="0" i="0" sz="1400" u="none" cap="none" strike="noStrike">
              <a:solidFill>
                <a:srgbClr val="000000"/>
              </a:solidFill>
              <a:latin typeface="Arial"/>
              <a:ea typeface="Arial"/>
              <a:cs typeface="Arial"/>
              <a:sym typeface="Arial"/>
            </a:endParaRPr>
          </a:p>
        </p:txBody>
      </p:sp>
      <p:sp>
        <p:nvSpPr>
          <p:cNvPr id="407" name="Google Shape;407;p20"/>
          <p:cNvSpPr txBox="1"/>
          <p:nvPr>
            <p:ph idx="12" type="sldNum"/>
          </p:nvPr>
        </p:nvSpPr>
        <p:spPr>
          <a:xfrm>
            <a:off x="9678950" y="6217925"/>
            <a:ext cx="2133600" cy="365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DFBF7"/>
        </a:solidFill>
      </p:bgPr>
    </p:bg>
    <p:spTree>
      <p:nvGrpSpPr>
        <p:cNvPr id="411" name="Shape 411"/>
        <p:cNvGrpSpPr/>
        <p:nvPr/>
      </p:nvGrpSpPr>
      <p:grpSpPr>
        <a:xfrm>
          <a:off x="0" y="0"/>
          <a:ext cx="0" cy="0"/>
          <a:chOff x="0" y="0"/>
          <a:chExt cx="0" cy="0"/>
        </a:xfrm>
      </p:grpSpPr>
      <p:sp>
        <p:nvSpPr>
          <p:cNvPr id="412" name="Google Shape;412;h2a029743ffb0fa9e_1_90"/>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413" name="Google Shape;413;h2a029743ffb0fa9e_1_90"/>
          <p:cNvSpPr txBox="1"/>
          <p:nvPr/>
        </p:nvSpPr>
        <p:spPr>
          <a:xfrm>
            <a:off x="298500" y="2830350"/>
            <a:ext cx="11595000" cy="1108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2800">
                <a:solidFill>
                  <a:srgbClr val="1E293B"/>
                </a:solidFill>
                <a:latin typeface="Georgia"/>
                <a:ea typeface="Georgia"/>
                <a:cs typeface="Georgia"/>
                <a:sym typeface="Georgia"/>
              </a:rPr>
              <a:t>¡Muchas gracias por su atención!</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7" name="Shape 417"/>
        <p:cNvGrpSpPr/>
        <p:nvPr/>
      </p:nvGrpSpPr>
      <p:grpSpPr>
        <a:xfrm>
          <a:off x="0" y="0"/>
          <a:ext cx="0" cy="0"/>
          <a:chOff x="0" y="0"/>
          <a:chExt cx="0" cy="0"/>
        </a:xfrm>
      </p:grpSpPr>
      <p:sp>
        <p:nvSpPr>
          <p:cNvPr id="418" name="Google Shape;418;h4189661798d1f2e9_1_0"/>
          <p:cNvSpPr txBox="1"/>
          <p:nvPr>
            <p:ph idx="12" type="sldNum"/>
          </p:nvPr>
        </p:nvSpPr>
        <p:spPr>
          <a:xfrm>
            <a:off x="9906000" y="6277000"/>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pic>
        <p:nvPicPr>
          <p:cNvPr id="419" name="Google Shape;419;h4189661798d1f2e9_1_0"/>
          <p:cNvPicPr preferRelativeResize="0"/>
          <p:nvPr/>
        </p:nvPicPr>
        <p:blipFill>
          <a:blip r:embed="rId3">
            <a:alphaModFix/>
          </a:blip>
          <a:stretch>
            <a:fillRect/>
          </a:stretch>
        </p:blipFill>
        <p:spPr>
          <a:xfrm>
            <a:off x="152400" y="1728850"/>
            <a:ext cx="11887201" cy="3993357"/>
          </a:xfrm>
          <a:prstGeom prst="rect">
            <a:avLst/>
          </a:prstGeom>
          <a:noFill/>
          <a:ln>
            <a:noFill/>
          </a:ln>
        </p:spPr>
      </p:pic>
      <p:sp>
        <p:nvSpPr>
          <p:cNvPr id="420" name="Google Shape;420;h4189661798d1f2e9_1_0"/>
          <p:cNvSpPr txBox="1"/>
          <p:nvPr/>
        </p:nvSpPr>
        <p:spPr>
          <a:xfrm>
            <a:off x="457350" y="742950"/>
            <a:ext cx="112773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lang="en-US" sz="2800">
                <a:solidFill>
                  <a:srgbClr val="1E293B"/>
                </a:solidFill>
                <a:latin typeface="Georgia"/>
                <a:ea typeface="Georgia"/>
                <a:cs typeface="Georgia"/>
                <a:sym typeface="Georgia"/>
              </a:rPr>
              <a:t>Costos del </a:t>
            </a:r>
            <a:r>
              <a:rPr b="1" lang="en-US" sz="2800">
                <a:solidFill>
                  <a:srgbClr val="1E293B"/>
                </a:solidFill>
                <a:latin typeface="Georgia"/>
                <a:ea typeface="Georgia"/>
                <a:cs typeface="Georgia"/>
                <a:sym typeface="Georgia"/>
              </a:rPr>
              <a:t>Proyecto</a:t>
            </a:r>
            <a:endParaRPr b="1" sz="2800">
              <a:solidFill>
                <a:srgbClr val="1E293B"/>
              </a:solidFill>
              <a:latin typeface="Georgia"/>
              <a:ea typeface="Georgia"/>
              <a:cs typeface="Georgia"/>
              <a:sym typeface="Georgia"/>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DFBF7"/>
        </a:solidFill>
      </p:bgPr>
    </p:bg>
    <p:spTree>
      <p:nvGrpSpPr>
        <p:cNvPr id="424" name="Shape 424"/>
        <p:cNvGrpSpPr/>
        <p:nvPr/>
      </p:nvGrpSpPr>
      <p:grpSpPr>
        <a:xfrm>
          <a:off x="0" y="0"/>
          <a:ext cx="0" cy="0"/>
          <a:chOff x="0" y="0"/>
          <a:chExt cx="0" cy="0"/>
        </a:xfrm>
      </p:grpSpPr>
      <p:sp>
        <p:nvSpPr>
          <p:cNvPr id="425" name="Google Shape;425;h4f042c98fa66798a_1_43"/>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426" name="Google Shape;426;h4f042c98fa66798a_1_43"/>
          <p:cNvSpPr txBox="1"/>
          <p:nvPr/>
        </p:nvSpPr>
        <p:spPr>
          <a:xfrm>
            <a:off x="213963"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1: Evidencias de Plan de Pruebas</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graphicFrame>
        <p:nvGraphicFramePr>
          <p:cNvPr id="427" name="Google Shape;427;h4f042c98fa66798a_1_43"/>
          <p:cNvGraphicFramePr/>
          <p:nvPr/>
        </p:nvGraphicFramePr>
        <p:xfrm>
          <a:off x="652425" y="1043675"/>
          <a:ext cx="3000000" cy="3000000"/>
        </p:xfrm>
        <a:graphic>
          <a:graphicData uri="http://schemas.openxmlformats.org/drawingml/2006/table">
            <a:tbl>
              <a:tblPr>
                <a:noFill/>
                <a:tableStyleId>{ED052C57-221C-4132-B2C9-E8A35B6E6ACB}</a:tableStyleId>
              </a:tblPr>
              <a:tblGrid>
                <a:gridCol w="1566975"/>
                <a:gridCol w="1566975"/>
                <a:gridCol w="2883200"/>
                <a:gridCol w="1566975"/>
                <a:gridCol w="1566975"/>
                <a:gridCol w="1566975"/>
              </a:tblGrid>
              <a:tr h="165975">
                <a:tc gridSpan="6">
                  <a:txBody>
                    <a:bodyPr/>
                    <a:lstStyle/>
                    <a:p>
                      <a:pPr indent="0" lvl="0" marL="0" rtl="0" algn="l">
                        <a:lnSpc>
                          <a:spcPct val="115000"/>
                        </a:lnSpc>
                        <a:spcBef>
                          <a:spcPts val="0"/>
                        </a:spcBef>
                        <a:spcAft>
                          <a:spcPts val="0"/>
                        </a:spcAft>
                        <a:buNone/>
                      </a:pPr>
                      <a:r>
                        <a:rPr b="1" lang="en-US" sz="1200"/>
                        <a:t>Defectos Encontrados en las Pruebas</a:t>
                      </a:r>
                      <a:endParaRPr b="1" sz="1200"/>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hMerge="1"/>
                <a:tc hMerge="1"/>
                <a:tc hMerge="1"/>
                <a:tc hMerge="1"/>
                <a:tc hMerge="1"/>
              </a:tr>
              <a:tr h="140450">
                <a:tc>
                  <a:txBody>
                    <a:bodyPr/>
                    <a:lstStyle/>
                    <a:p>
                      <a:pPr indent="0" lvl="0" marL="0" rtl="0" algn="ctr">
                        <a:lnSpc>
                          <a:spcPct val="115000"/>
                        </a:lnSpc>
                        <a:spcBef>
                          <a:spcPts val="0"/>
                        </a:spcBef>
                        <a:spcAft>
                          <a:spcPts val="0"/>
                        </a:spcAft>
                        <a:buNone/>
                      </a:pPr>
                      <a:r>
                        <a:rPr b="1" lang="en-US" sz="1000"/>
                        <a:t>ID. Defecto</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ID CP.</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Descripción Detallada</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Tipo</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Severidad</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Estado</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r>
              <a:tr h="618650">
                <a:tc>
                  <a:txBody>
                    <a:bodyPr/>
                    <a:lstStyle/>
                    <a:p>
                      <a:pPr indent="0" lvl="0" marL="0" rtl="0" algn="ctr">
                        <a:lnSpc>
                          <a:spcPct val="115000"/>
                        </a:lnSpc>
                        <a:spcBef>
                          <a:spcPts val="0"/>
                        </a:spcBef>
                        <a:spcAft>
                          <a:spcPts val="0"/>
                        </a:spcAft>
                        <a:buNone/>
                      </a:pPr>
                      <a:r>
                        <a:rPr lang="en-US" sz="1200"/>
                        <a:t>DP-01</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CP-02</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t>Imágenes de productos excedían los límites de sus contenedores.</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No funcional</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Medio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Corregido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916500">
                <a:tc>
                  <a:txBody>
                    <a:bodyPr/>
                    <a:lstStyle/>
                    <a:p>
                      <a:pPr indent="0" lvl="0" marL="0" rtl="0" algn="ctr">
                        <a:lnSpc>
                          <a:spcPct val="115000"/>
                        </a:lnSpc>
                        <a:spcBef>
                          <a:spcPts val="0"/>
                        </a:spcBef>
                        <a:spcAft>
                          <a:spcPts val="0"/>
                        </a:spcAft>
                        <a:buNone/>
                      </a:pPr>
                      <a:r>
                        <a:rPr lang="en-US" sz="1200"/>
                        <a:t>DP-02</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CP-06</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t>El mensaje de búsqueda sin resultados presentaba problemas de alineación.</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No funcional</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Leve</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Corregido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916500">
                <a:tc>
                  <a:txBody>
                    <a:bodyPr/>
                    <a:lstStyle/>
                    <a:p>
                      <a:pPr indent="0" lvl="0" marL="0" rtl="0" algn="ctr">
                        <a:lnSpc>
                          <a:spcPct val="115000"/>
                        </a:lnSpc>
                        <a:spcBef>
                          <a:spcPts val="0"/>
                        </a:spcBef>
                        <a:spcAft>
                          <a:spcPts val="0"/>
                        </a:spcAft>
                        <a:buNone/>
                      </a:pPr>
                      <a:r>
                        <a:rPr lang="en-US" sz="1200"/>
                        <a:t>DP-03</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CP-07</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t>Los filtros presentaban problemas de adaptación en resoluciones tipo tablet.</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No funcional</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Medio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Corregido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618650">
                <a:tc>
                  <a:txBody>
                    <a:bodyPr/>
                    <a:lstStyle/>
                    <a:p>
                      <a:pPr indent="0" lvl="0" marL="0" rtl="0" algn="ctr">
                        <a:lnSpc>
                          <a:spcPct val="115000"/>
                        </a:lnSpc>
                        <a:spcBef>
                          <a:spcPts val="0"/>
                        </a:spcBef>
                        <a:spcAft>
                          <a:spcPts val="0"/>
                        </a:spcAft>
                        <a:buNone/>
                      </a:pPr>
                      <a:r>
                        <a:rPr lang="en-US" sz="1200"/>
                        <a:t>DP-04</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CP-08</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t>Algunas tarjetas cambiaban de tamaño al aplicar filtros.</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No funcional</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Medio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Corregido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767575">
                <a:tc>
                  <a:txBody>
                    <a:bodyPr/>
                    <a:lstStyle/>
                    <a:p>
                      <a:pPr indent="0" lvl="0" marL="0" rtl="0" algn="ctr">
                        <a:lnSpc>
                          <a:spcPct val="115000"/>
                        </a:lnSpc>
                        <a:spcBef>
                          <a:spcPts val="0"/>
                        </a:spcBef>
                        <a:spcAft>
                          <a:spcPts val="0"/>
                        </a:spcAft>
                        <a:buNone/>
                      </a:pPr>
                      <a:r>
                        <a:rPr lang="en-US" sz="1200"/>
                        <a:t>DP-05</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CP-11</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t>El formulario de registro presentaba desalineación en resoluciones poco comunes.</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No funcional</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Medio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Corregido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767575">
                <a:tc>
                  <a:txBody>
                    <a:bodyPr/>
                    <a:lstStyle/>
                    <a:p>
                      <a:pPr indent="0" lvl="0" marL="0" rtl="0" algn="ctr">
                        <a:lnSpc>
                          <a:spcPct val="115000"/>
                        </a:lnSpc>
                        <a:spcBef>
                          <a:spcPts val="0"/>
                        </a:spcBef>
                        <a:spcAft>
                          <a:spcPts val="0"/>
                        </a:spcAft>
                        <a:buNone/>
                      </a:pPr>
                      <a:r>
                        <a:rPr lang="en-US" sz="1200"/>
                        <a:t>DP-06</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CP-14</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200"/>
                        <a:t>El header no mantenía una presentación consistente entre distintas vistas.</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No funcional</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Leve</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200"/>
                        <a:t>Corregido</a:t>
                      </a:r>
                      <a:endParaRPr sz="12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DFBF7"/>
        </a:solidFill>
      </p:bgPr>
    </p:bg>
    <p:spTree>
      <p:nvGrpSpPr>
        <p:cNvPr id="431" name="Shape 431"/>
        <p:cNvGrpSpPr/>
        <p:nvPr/>
      </p:nvGrpSpPr>
      <p:grpSpPr>
        <a:xfrm>
          <a:off x="0" y="0"/>
          <a:ext cx="0" cy="0"/>
          <a:chOff x="0" y="0"/>
          <a:chExt cx="0" cy="0"/>
        </a:xfrm>
      </p:grpSpPr>
      <p:sp>
        <p:nvSpPr>
          <p:cNvPr id="432" name="Google Shape;432;h4f042c98fa66798a_1_50"/>
          <p:cNvSpPr txBox="1"/>
          <p:nvPr>
            <p:ph idx="12" type="sldNum"/>
          </p:nvPr>
        </p:nvSpPr>
        <p:spPr>
          <a:xfrm>
            <a:off x="9910775" y="6308725"/>
            <a:ext cx="21336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
        <p:nvSpPr>
          <p:cNvPr id="433" name="Google Shape;433;h4f042c98fa66798a_1_50"/>
          <p:cNvSpPr txBox="1"/>
          <p:nvPr/>
        </p:nvSpPr>
        <p:spPr>
          <a:xfrm>
            <a:off x="230275" y="108425"/>
            <a:ext cx="11595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rgbClr val="1E293B"/>
                </a:solidFill>
                <a:latin typeface="Georgia"/>
                <a:ea typeface="Georgia"/>
                <a:cs typeface="Georgia"/>
                <a:sym typeface="Georgia"/>
              </a:rPr>
              <a:t>Sprint 2: Evidencias de Plan de Pruebas</a:t>
            </a:r>
            <a:endParaRPr b="1" sz="3200">
              <a:solidFill>
                <a:schemeClr val="dk1"/>
              </a:solidFill>
              <a:latin typeface="Calibri"/>
              <a:ea typeface="Calibri"/>
              <a:cs typeface="Calibri"/>
              <a:sym typeface="Calibri"/>
            </a:endParaRPr>
          </a:p>
          <a:p>
            <a:pPr indent="0" lvl="0" marL="0" rtl="0" algn="l">
              <a:spcBef>
                <a:spcPts val="0"/>
              </a:spcBef>
              <a:spcAft>
                <a:spcPts val="0"/>
              </a:spcAft>
              <a:buNone/>
            </a:pPr>
            <a:r>
              <a:t/>
            </a:r>
            <a:endParaRPr sz="3200">
              <a:solidFill>
                <a:schemeClr val="dk1"/>
              </a:solidFill>
              <a:latin typeface="Calibri"/>
              <a:ea typeface="Calibri"/>
              <a:cs typeface="Calibri"/>
              <a:sym typeface="Calibri"/>
            </a:endParaRPr>
          </a:p>
        </p:txBody>
      </p:sp>
      <p:graphicFrame>
        <p:nvGraphicFramePr>
          <p:cNvPr id="434" name="Google Shape;434;h4f042c98fa66798a_1_50"/>
          <p:cNvGraphicFramePr/>
          <p:nvPr/>
        </p:nvGraphicFramePr>
        <p:xfrm>
          <a:off x="1092925" y="1426425"/>
          <a:ext cx="3000000" cy="3000000"/>
        </p:xfrm>
        <a:graphic>
          <a:graphicData uri="http://schemas.openxmlformats.org/drawingml/2006/table">
            <a:tbl>
              <a:tblPr>
                <a:noFill/>
                <a:tableStyleId>{ED052C57-221C-4132-B2C9-E8A35B6E6ACB}</a:tableStyleId>
              </a:tblPr>
              <a:tblGrid>
                <a:gridCol w="1396375"/>
                <a:gridCol w="1396375"/>
                <a:gridCol w="2569325"/>
                <a:gridCol w="1396375"/>
                <a:gridCol w="1396375"/>
                <a:gridCol w="1396375"/>
              </a:tblGrid>
              <a:tr h="245300">
                <a:tc gridSpan="6">
                  <a:txBody>
                    <a:bodyPr/>
                    <a:lstStyle/>
                    <a:p>
                      <a:pPr indent="0" lvl="0" marL="0" rtl="0" algn="l">
                        <a:lnSpc>
                          <a:spcPct val="115000"/>
                        </a:lnSpc>
                        <a:spcBef>
                          <a:spcPts val="0"/>
                        </a:spcBef>
                        <a:spcAft>
                          <a:spcPts val="0"/>
                        </a:spcAft>
                        <a:buNone/>
                      </a:pPr>
                      <a:r>
                        <a:rPr b="1" lang="en-US" sz="1200"/>
                        <a:t>Defectos Encontrados en las Pruebas</a:t>
                      </a:r>
                      <a:endParaRPr b="1" sz="1200"/>
                    </a:p>
                  </a:txBody>
                  <a:tcPr marT="19050" marB="19050" marR="28575" marL="28575" anchor="b">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hMerge="1"/>
                <a:tc hMerge="1"/>
                <a:tc hMerge="1"/>
                <a:tc hMerge="1"/>
                <a:tc hMerge="1"/>
              </a:tr>
              <a:tr h="207575">
                <a:tc>
                  <a:txBody>
                    <a:bodyPr/>
                    <a:lstStyle/>
                    <a:p>
                      <a:pPr indent="0" lvl="0" marL="0" rtl="0" algn="ctr">
                        <a:lnSpc>
                          <a:spcPct val="115000"/>
                        </a:lnSpc>
                        <a:spcBef>
                          <a:spcPts val="0"/>
                        </a:spcBef>
                        <a:spcAft>
                          <a:spcPts val="0"/>
                        </a:spcAft>
                        <a:buNone/>
                      </a:pPr>
                      <a:r>
                        <a:rPr b="1" lang="en-US" sz="1000"/>
                        <a:t>ID. Defecto</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ID CP.</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Descripción Detallada</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Tipo</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Severidad</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c>
                  <a:txBody>
                    <a:bodyPr/>
                    <a:lstStyle/>
                    <a:p>
                      <a:pPr indent="0" lvl="0" marL="0" rtl="0" algn="ctr">
                        <a:lnSpc>
                          <a:spcPct val="115000"/>
                        </a:lnSpc>
                        <a:spcBef>
                          <a:spcPts val="0"/>
                        </a:spcBef>
                        <a:spcAft>
                          <a:spcPts val="0"/>
                        </a:spcAft>
                        <a:buNone/>
                      </a:pPr>
                      <a:r>
                        <a:rPr b="1" lang="en-US" sz="1000"/>
                        <a:t>Estado</a:t>
                      </a:r>
                      <a:endParaRPr b="1" sz="1000"/>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solidFill>
                      <a:srgbClr val="CFE2F3"/>
                    </a:solidFill>
                  </a:tcPr>
                </a:tc>
              </a:tr>
              <a:tr h="1201525">
                <a:tc>
                  <a:txBody>
                    <a:bodyPr/>
                    <a:lstStyle/>
                    <a:p>
                      <a:pPr indent="0" lvl="0" marL="0" rtl="0" algn="ctr">
                        <a:lnSpc>
                          <a:spcPct val="115000"/>
                        </a:lnSpc>
                        <a:spcBef>
                          <a:spcPts val="0"/>
                        </a:spcBef>
                        <a:spcAft>
                          <a:spcPts val="0"/>
                        </a:spcAft>
                        <a:buNone/>
                      </a:pPr>
                      <a:r>
                        <a:rPr lang="en-US"/>
                        <a:t>DP-01</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CP-04</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El sistema presentó problemas al continuar desde el carrito hacia el proceso de pago.</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Funcional</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Alta</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Corregido</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1667775">
                <a:tc>
                  <a:txBody>
                    <a:bodyPr/>
                    <a:lstStyle/>
                    <a:p>
                      <a:pPr indent="0" lvl="0" marL="0" rtl="0" algn="ctr">
                        <a:lnSpc>
                          <a:spcPct val="115000"/>
                        </a:lnSpc>
                        <a:spcBef>
                          <a:spcPts val="0"/>
                        </a:spcBef>
                        <a:spcAft>
                          <a:spcPts val="0"/>
                        </a:spcAft>
                        <a:buNone/>
                      </a:pPr>
                      <a:r>
                        <a:rPr lang="en-US"/>
                        <a:t>DP-02</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CP-05</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Se presentaron problemas al modificar las cantidades de los productos en el carrito y actualizar el total.</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Funcional</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Media</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Corregido</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r h="1667775">
                <a:tc>
                  <a:txBody>
                    <a:bodyPr/>
                    <a:lstStyle/>
                    <a:p>
                      <a:pPr indent="0" lvl="0" marL="0" rtl="0" algn="ctr">
                        <a:lnSpc>
                          <a:spcPct val="115000"/>
                        </a:lnSpc>
                        <a:spcBef>
                          <a:spcPts val="0"/>
                        </a:spcBef>
                        <a:spcAft>
                          <a:spcPts val="0"/>
                        </a:spcAft>
                        <a:buNone/>
                      </a:pPr>
                      <a:r>
                        <a:rPr lang="en-US"/>
                        <a:t>DP-03</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CP-07</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a:t>Se presentaron problemas al modificar las cantidades de los productos en el carrito y actualizar el total.</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Funcional</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Media</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a:t>Corregido</a:t>
                      </a:r>
                      <a:endParaRPr/>
                    </a:p>
                  </a:txBody>
                  <a:tcPr marT="19050" marB="19050" marR="28575" marL="28575" anchor="ctr">
                    <a:lnL cap="flat" cmpd="sng" w="9150">
                      <a:solidFill>
                        <a:srgbClr val="000000"/>
                      </a:solidFill>
                      <a:prstDash val="solid"/>
                      <a:round/>
                      <a:headEnd len="sm" w="sm" type="none"/>
                      <a:tailEnd len="sm" w="sm" type="none"/>
                    </a:lnL>
                    <a:lnR cap="flat" cmpd="sng" w="9150">
                      <a:solidFill>
                        <a:srgbClr val="000000"/>
                      </a:solidFill>
                      <a:prstDash val="solid"/>
                      <a:round/>
                      <a:headEnd len="sm" w="sm" type="none"/>
                      <a:tailEnd len="sm" w="sm" type="none"/>
                    </a:lnR>
                    <a:lnT cap="flat" cmpd="sng" w="9150">
                      <a:solidFill>
                        <a:srgbClr val="000000"/>
                      </a:solidFill>
                      <a:prstDash val="solid"/>
                      <a:round/>
                      <a:headEnd len="sm" w="sm" type="none"/>
                      <a:tailEnd len="sm" w="sm" type="none"/>
                    </a:lnT>
                    <a:lnB cap="flat" cmpd="sng" w="9150">
                      <a:solidFill>
                        <a:srgbClr val="000000"/>
                      </a:solidFill>
                      <a:prstDash val="solid"/>
                      <a:round/>
                      <a:headEnd len="sm" w="sm" type="none"/>
                      <a:tailEnd len="sm" w="sm" type="none"/>
                    </a:lnB>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