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gsATJo909xoDx/CU2PZpRGGpIR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24E77C-4B78-4FD9-8B34-F2E4C9D6F073}">
  <a:tblStyle styleId="{3724E77C-4B78-4FD9-8B34-F2E4C9D6F07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Guión Portada:</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Estimados miembros de la comisión, muy buenos días. Hoy presentaremos nuestro proyecto de título titulado 'Monsite', una plataforma de comercio electrónico propia y sistema de diagnóstico capilar inteligente con Inteligencia Artificial. El equipo de desarrollo está compuesto por Benjamín Stavrakopulos, Bastián Lazo y Francisca Guzmán, todos estudiantes de Ingeniería Informática de Duoc UC, Sede Viña del Mar.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Tabla de Contenidos: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Nuestra presentación se divide de forma estricta en 16 secciones que cubren desde el entendimiento profundo del negocio del cliente, pasando por el diseño técnico, la arquitectura de software, la gestión ágil con Scrum, las evidencias del entrenamiento del modelo de IA, la planificación de sprints, y finalmente las reflexiones.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Contexto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Monsite comenzó en 2014 como una peluquería física en Santiago. Tras una baja afluencia presencial inicial, la empresa decidió complementar sus actividades vendiendo productos capilares de marcas de prestigio en su mismo local, diversificando sus ingresos. En la pandemia de 2020, ante las restricciones de aforo, Monsite funcionó con clientes limitados y se enfocó en ventas digitales mediante plataformas externas como Cornershop, Rappi y Mercado Libre, logrando un éxito masivo. Sin embargo, post-pandemia, las ventas en estas plataformas disminuyeron y los intermediarios aumentaron sus comisiones y exigencias, lo que redujo severamente los márgenes. Las exigencias de etiquetado adicional en español manual dañaron la imagen de los productos importados y los rechazos arbitrarios dejaron parte del stock sin canal de salida. Esto obligó al equipo a plantear un canal propio.</a:t>
            </a:r>
            <a:endParaRPr/>
          </a:p>
        </p:txBody>
      </p:sp>
      <p:sp>
        <p:nvSpPr>
          <p:cNvPr id="115" name="Google Shape;11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Problema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Actualmente, la dependencia en plataformas de terceros limita directamente la rentabilidad y la autonomía de Monsite. La empresa está sujeta a políticas y comisiones de venta elevadas. Además, se suma el problema del etiquetado manual adicional en español que las plataformas exigen adherir sobre los envases originales, lo que afecta negativamente la percepción del cliente acerca de la autenticidad y la presentación del producto. Por último, existe una inmovilización del catálogo debido a restricciones arbitrarias. En el plano del usuario final, este carece de guía o conocimiento técnico para seleccionar los productos capilares adecuados desde un catálogo pasivo de terceros, limitando la conversión de ventas.</a:t>
            </a:r>
            <a:endParaRPr/>
          </a:p>
        </p:txBody>
      </p:sp>
      <p:sp>
        <p:nvSpPr>
          <p:cNvPr id="132" name="Google Shape;13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Necesidad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Monsite requiere un canal de venta digital propio que le permita administrar de manera autónoma su catálogo de productos, precios, promociones y ventas, eliminando los costos y limitaciones de terceros. Sin embargo, la necesidad va más allá de un e-commerce transaccional básico: se busca trasladar al entorno digital parte de la orientación técnica presencial del salón de peluquería. Esto requiere un sistema interactivo e inteligente que guíe la elección, asista al usuario y le recomiende los productos y tratamientos capilares adecuados para su tipo de pelo.</a:t>
            </a:r>
            <a:endParaRPr/>
          </a:p>
        </p:txBody>
      </p:sp>
      <p:sp>
        <p:nvSpPr>
          <p:cNvPr id="144" name="Google Shape;14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Solución (Grounded in Source Passage 4, 6 and new Solution Text):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Nuestra solución unifica el comercio electrónico y la inteligencia artificial para dar soberanía comercial a Monsite. La plataforma propia cuenta con vitrina, catálogo de marcas de prestigio, carrito y pasarela de pago (Mercado Pago). Su elemento innovador y diferenciador es el módulo 'Diagnostica tu cabello' en la página de inicio, que captura imágenes del usuario y, mediante un modelo basado en ResNet50 con fine-tuning, detecta características visibles como grasa, resequedad o deshidratación. Finalmente, la solución relaciona el análisis de la IA con el stock disponible, recomendando fórmulas capilares específicas y educando al cliente sobre su aplicación, emulando la asesoría del salón.</a:t>
            </a:r>
            <a:endParaRPr/>
          </a:p>
        </p:txBody>
      </p:sp>
      <p:sp>
        <p:nvSpPr>
          <p:cNvPr id="156" name="Google Shape;15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Funcionalidades (Grounded in Source Passages 4, 5, 6, 8):</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Las cuatro áreas funcionales principales de Monsite garantizan el valor del proyecto. Primero, el flujo e-commerce cubre la vitrina dinámica y los cupones. Segundo, el módulo interactivo de IA guía la subida de fotos (general, raíz, puntas) y analiza el cabello. Tercero, la gestión logística en bodega cuenta con perfiles restrictivos para bodegueros con acciones para marcar agotados e inventariar. Cuarto, las alertas de sistema ejecutan el descuento automático de stock y envían notificaciones por WhatsApp de forma segura.</a:t>
            </a:r>
            <a:endParaRPr/>
          </a:p>
        </p:txBody>
      </p:sp>
      <p:sp>
        <p:nvSpPr>
          <p:cNvPr id="165" name="Google Shape;165;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Requerimientos (Grounded in Source Passage 4, 8, and Requisitos):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En esta tabla consolidamos la ingeniería de requerimientos de Monsite. Mapeamos los requerimientos funcionales críticos como el catálogo dinámico, el cobro por Mercado Pago Checkout Pro, el flujo guiado de cámara web y la validación del consentimiento legal. En el ámbito de los requerimientos no funcionales (RNF), destacamos el atributo de seguridad a través de la política de contraseñas, la anonimización de fotos de entrenamiento capilar para resguardar la privacidad, el cumplimiento normativo estricto según la ley chilena 19.628, y el desempeño de la API que asegura un tiempo de flujo menor a 1 minuto.</a:t>
            </a:r>
            <a:endParaRPr/>
          </a:p>
        </p:txBody>
      </p:sp>
      <p:sp>
        <p:nvSpPr>
          <p:cNvPr id="176" name="Google Shape;17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Épicas (Grounded in Source Passage 6, 12, 13):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Estructuramos el desarrollo de Monsite en 5 macro-épicas. La primera, E01, es el módulo de Autenticación de accesos y roles. La segunda, E03-E05, es el flujo de Compra y Pago que unifica carrito, checkout y Mercado Pago. La tercera, E12, es el asistente de diagnóstico capilar por IA basado en ResNet50. La cuarta, E08-E09, es el panel de Administración para gestionar productos, marcas, categorías, códigos de descuento y visualizar métricas de negocio. Y la quinta, E13, es el Panel logístico para bodegueros. De acuerdo con nuestra técnica de priorización ágil, asignamos puntajes de historia (de 60 a 100 puntos) validando que el flujo de compra y la autenticación constituyen el núcleo inicial antes de desplegar las herramientas de administración e IA.</a:t>
            </a:r>
            <a:endParaRPr/>
          </a:p>
        </p:txBody>
      </p:sp>
      <p:sp>
        <p:nvSpPr>
          <p:cNvPr id="184" name="Google Shape;184;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Historias de Usuario (Grounded in Source Passage 12, 13, 14, 15, 16, 36, 38):</a:t>
            </a:r>
            <a:endParaRPr/>
          </a:p>
          <a:p>
            <a:pPr indent="0" lvl="0" marL="0" marR="0" rtl="0" algn="l">
              <a:spcBef>
                <a:spcPts val="0"/>
              </a:spcBef>
              <a:spcAft>
                <a:spcPts val="0"/>
              </a:spcAft>
              <a:buNone/>
            </a:pPr>
            <a:r>
              <a:rPr lang="en-US" sz="1200">
                <a:solidFill>
                  <a:schemeClr val="dk1"/>
                </a:solidFill>
              </a:rPr>
              <a:t>En este slide mostramos las historias de usuario críticas según los principales roles. Para el cliente, priorizamos la visualización del catálogo y el carrito. Para el administrador, la gestión de productos y el monitoreo mediante métricas. En el caso del bodeguero, consideramos el acceso restringido y la actualización de productos agotados. Finalmente, para visitantes y sistema, incluimos el registro y la seguridad mediante restricciones según el rol.</a:t>
            </a:r>
            <a:endParaRPr sz="1200">
              <a:solidFill>
                <a:schemeClr val="dk1"/>
              </a:solidFill>
            </a:endParaRPr>
          </a:p>
          <a:p>
            <a:pPr indent="0" lvl="0" marL="0" marR="0" rtl="0" algn="l">
              <a:spcBef>
                <a:spcPts val="0"/>
              </a:spcBef>
              <a:spcAft>
                <a:spcPts val="0"/>
              </a:spcAft>
              <a:buNone/>
            </a:pPr>
            <a:r>
              <a:rPr lang="en-US" sz="1200">
                <a:solidFill>
                  <a:schemeClr val="dk1"/>
                </a:solidFill>
              </a:rPr>
              <a:t>A partir de estas historias y sus prioridades, definimos nuestra planificación de trabajo mediante los siguientes sprints. </a:t>
            </a:r>
            <a:endParaRPr sz="1200">
              <a:solidFill>
                <a:schemeClr val="dk1"/>
              </a:solidFill>
            </a:endParaRPr>
          </a:p>
        </p:txBody>
      </p:sp>
      <p:sp>
        <p:nvSpPr>
          <p:cNvPr id="202" name="Google Shape;20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Sprints I (Grounded in Source Passage 4, 10, 39):</a:t>
            </a:r>
            <a:endParaRPr/>
          </a:p>
          <a:p>
            <a:pPr indent="0" lvl="0" marL="0" marR="0" rtl="0" algn="l">
              <a:spcBef>
                <a:spcPts val="0"/>
              </a:spcBef>
              <a:spcAft>
                <a:spcPts val="0"/>
              </a:spcAft>
              <a:buNone/>
            </a:pPr>
            <a:r>
              <a:rPr lang="en-US" sz="1200">
                <a:solidFill>
                  <a:schemeClr val="dk1"/>
                </a:solidFill>
              </a:rPr>
              <a:t>Comenzamos con el Sprint 0, donde preparamos la base técnica del proyecto: GitHub, Firebase, backend, cuentas de prueba para Mercado Pago y Twilio, además de los wireframes en Figma. Luego, en el Sprint 1, desarrollamos el catálogo dinámico y la autenticación, incorporando registro, inicio de sesión y recuperación de contraseña. También implementamos el panel administrativo para gestionar productos e imágenes, junto con el menú y la adaptación responsive.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rPr>
              <a:t>Una vez construida esta base y habilitado el núcleo de la plataforma, avanzamos hacia el flujo de compra y las funcionalidades más diferenciadoras del proyecto. </a:t>
            </a:r>
            <a:endParaRPr sz="1200">
              <a:solidFill>
                <a:schemeClr val="dk1"/>
              </a:solidFill>
            </a:endParaRPr>
          </a:p>
        </p:txBody>
      </p:sp>
      <p:sp>
        <p:nvSpPr>
          <p:cNvPr id="213" name="Google Shape;213;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22" name="Google Shape;22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Metodología Scrum (Grounded in Source Passage 4, 6, 8,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garantizar la entrega incremental del software de Monsite, el equipo adoptó la metodología Scrum organizando el desarrollo en 3 sprints principales de 4 semanas cada uno, precedidos de un Sprint 0 técnico. El flujo ágil incluye: 1) El Product Backlog con 47 historias priorizadas y estimadas; 2) Sprint Planning al inicio de cada ciclo; 3) Daily Scrum de 15 minutos para detectar bloqueos del stack Firebase/FastAPI; 4) Sprint Review, donde mostramos de forma transparente las demostraciones de incremento al dueño de Monsite; y 5) Sprint Retrospective, donde documentamos acuerdos de mejora continua.</a:t>
            </a:r>
            <a:endParaRPr/>
          </a:p>
        </p:txBody>
      </p:sp>
      <p:sp>
        <p:nvSpPr>
          <p:cNvPr id="230" name="Google Shape;230;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Equipo de Trabajo (Grounded in Source Passage 4, 6,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Distribuimos las responsabilidades considerando las fortalezas de cada integrante. Benjamín Stavrakopulos actúa como Product Owner, liderando el desarrollo backend, la base de datos Firestore y la integración transaccional con Mercado Pago. Bastián Lazo es el Team Developer a cargo del Machine Learning, recolectando y procesando el dataset, entrenando la red convolucional ResNet50 y desplegando la API en FastAPI. Francisca Guzmán actúa como Scrum Master, facilitando los rituales, diseñando la experiencia responsiva en Figma, maquetando el frontend y garantizando el control de evidencias. Finalmente, la Directiva de Monsite participa activamente como Stakeholder validando los avances.</a:t>
            </a:r>
            <a:endParaRPr/>
          </a:p>
        </p:txBody>
      </p:sp>
      <p:sp>
        <p:nvSpPr>
          <p:cNvPr id="244" name="Google Shape;244;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Evidencias Sprints (Grounded in Source Passage 8):</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el control de calidad metodológico del proyecto de título Monsite, comprometemos estos artefactos organizados en 3 áreas. La primera fila expone la planificación de Scrum, con el Product Backlog Priorizado, los Sprint Backlog que definen el alcance y el gráfico de quemado (Burndown Chart) para proyectar plazos. La segunda fila muestra el monitoreo diario: tablero Kanban en Jira/Trello, la Planilla de Riesgos actualizable y el registro de obstáculos o Impediment Log. La tercera fila recopila las evidencias de interacción e incrementos: logs de Daily, Reviews y Retrospectivas, los esquemas técnicos del modelo de datos de Firestore y los incrementos funcionales tangibles del software MVP que son validados sprint a sprint.</a:t>
            </a:r>
            <a:endParaRPr/>
          </a:p>
        </p:txBody>
      </p:sp>
      <p:sp>
        <p:nvSpPr>
          <p:cNvPr id="259" name="Google Shape;25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La Carta Gantt organiza nuestro proyecto en un total de 17 semanas. Durante las semanas 1 y 2 realizamos el levantamiento de requerimientos y la preparación técnica mediante el Sprint 0. Desde la semana 3 hasta la 14 desarrollamos los tres incrementos: catálogo y autenticación, transacciones, e IA y bodega. Finalmente, las semanas 15 a 17 se enfocan en las pruebas de integración, validación del e-commerce y preparación de la defensa final. </a:t>
            </a:r>
            <a:endParaRPr/>
          </a:p>
        </p:txBody>
      </p:sp>
      <p:sp>
        <p:nvSpPr>
          <p:cNvPr id="278" name="Google Shape;27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Conclusiones (Grounded in Source Passage 4, 6, 8, 10):</a:t>
            </a:r>
            <a:endParaRPr/>
          </a:p>
          <a:p>
            <a:pPr indent="0" lvl="0" marL="0" marR="0" rtl="0" algn="l">
              <a:spcBef>
                <a:spcPts val="0"/>
              </a:spcBef>
              <a:spcAft>
                <a:spcPts val="0"/>
              </a:spcAft>
              <a:buNone/>
            </a:pPr>
            <a:r>
              <a:rPr lang="en-US" sz="1200">
                <a:solidFill>
                  <a:schemeClr val="dk1"/>
                </a:solidFill>
              </a:rPr>
              <a:t>En conclusión, el desarrollo de Monsite permitió integrar distintas áreas de nuestra carrera, como el comercio electrónico, la persistencia de datos en Firebase y la Inteligencia Artificial mediante redes neuronales convolucionales. Además, demostramos la factibilidad de desarrollar y desplegar una solución operacional de calidad profesional dentro de las 17 semanas establecidas. De cara al futuro del negocio, los próximos pasos estarán enfocados en ampliar y reentrenar el dataset capilar del modelo ResNet50, incorporar Transbank Plus como medio de pago alternativo y automatizar la gestión de bodega mediante APIs de despacho locales. </a:t>
            </a:r>
            <a:endParaRPr/>
          </a:p>
        </p:txBody>
      </p:sp>
      <p:sp>
        <p:nvSpPr>
          <p:cNvPr id="286" name="Google Shape;28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Reflexiones (Grounded in Source Passage 4, 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cerrar, cada uno de nosotros ha reflexionado sobre cómo este proyecto de título Monsite ha consolidado nuestro perfil de egreso en Ingeniería Informática. Benjamín destaca el desarrollo e integración de soluciones de software backend y bases de datos cloud; Bastián destaca la implementación y evaluación de modelos convolucionales avanzados en la nube; y Francisca destaca la experiencia de usuario responsiva, el control documental y la facilitación ágil. Agradecemos enormemente su atención y quedamos a su entera disposición para responder a las preguntas de la comisión. Muchas gracias.</a:t>
            </a:r>
            <a:endParaRPr/>
          </a:p>
        </p:txBody>
      </p:sp>
      <p:sp>
        <p:nvSpPr>
          <p:cNvPr id="297" name="Google Shape;29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84" name="Shape 84"/>
        <p:cNvGrpSpPr/>
        <p:nvPr/>
      </p:nvGrpSpPr>
      <p:grpSpPr>
        <a:xfrm>
          <a:off x="0" y="0"/>
          <a:ext cx="0" cy="0"/>
          <a:chOff x="0" y="0"/>
          <a:chExt cx="0" cy="0"/>
        </a:xfrm>
      </p:grpSpPr>
      <p:sp>
        <p:nvSpPr>
          <p:cNvPr id="85" name="Google Shape;85;p1"/>
          <p:cNvSpPr txBox="1"/>
          <p:nvPr/>
        </p:nvSpPr>
        <p:spPr>
          <a:xfrm>
            <a:off x="731520" y="914400"/>
            <a:ext cx="5943600" cy="502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C2410C"/>
                </a:solidFill>
                <a:latin typeface="Arial"/>
                <a:ea typeface="Arial"/>
                <a:cs typeface="Arial"/>
                <a:sym typeface="Arial"/>
              </a:rPr>
              <a:t>PORTAFOLIO DE TÍTULO — INGENIERÍA INFORMÁTICA</a:t>
            </a:r>
            <a:endParaRPr/>
          </a:p>
          <a:p>
            <a:pPr indent="0" lvl="0" marL="0" marR="0" rtl="0" algn="l">
              <a:spcBef>
                <a:spcPts val="1400"/>
              </a:spcBef>
              <a:spcAft>
                <a:spcPts val="0"/>
              </a:spcAft>
              <a:buNone/>
            </a:pPr>
            <a:r>
              <a:rPr b="1" i="0" lang="en-US" sz="5200" u="none" cap="none" strike="noStrike">
                <a:solidFill>
                  <a:srgbClr val="1E293B"/>
                </a:solidFill>
                <a:latin typeface="Georgia"/>
                <a:ea typeface="Georgia"/>
                <a:cs typeface="Georgia"/>
                <a:sym typeface="Georgia"/>
              </a:rPr>
              <a:t>Monsite</a:t>
            </a:r>
            <a:endParaRPr/>
          </a:p>
          <a:p>
            <a:pPr indent="0" lvl="0" marL="0" marR="0" rtl="0" algn="l">
              <a:spcBef>
                <a:spcPts val="800"/>
              </a:spcBef>
              <a:spcAft>
                <a:spcPts val="0"/>
              </a:spcAft>
              <a:buNone/>
            </a:pPr>
            <a:r>
              <a:rPr b="0" i="0" lang="en-US" sz="1600" u="none" cap="none" strike="noStrike">
                <a:solidFill>
                  <a:srgbClr val="64748B"/>
                </a:solidFill>
                <a:latin typeface="Arial"/>
                <a:ea typeface="Arial"/>
                <a:cs typeface="Arial"/>
                <a:sym typeface="Arial"/>
              </a:rPr>
              <a:t>Plataforma E-Commerce y Diagnóstico Capilar Automatizado con Inteligencia Artificial</a:t>
            </a:r>
            <a:endParaRPr/>
          </a:p>
          <a:p>
            <a:pPr indent="0" lvl="0" marL="0" marR="0" rtl="0" algn="l">
              <a:spcBef>
                <a:spcPts val="3600"/>
              </a:spcBef>
              <a:spcAft>
                <a:spcPts val="0"/>
              </a:spcAft>
              <a:buNone/>
            </a:pPr>
            <a:r>
              <a:rPr b="1" i="0" lang="en-US" sz="1100" u="none" cap="none" strike="noStrike">
                <a:solidFill>
                  <a:srgbClr val="1E293B"/>
                </a:solidFill>
                <a:latin typeface="Arial"/>
                <a:ea typeface="Arial"/>
                <a:cs typeface="Arial"/>
                <a:sym typeface="Arial"/>
              </a:rPr>
              <a:t>INTEGRANTES:</a:t>
            </a:r>
            <a:endParaRPr/>
          </a:p>
          <a:p>
            <a:pPr indent="0" lvl="0" marL="0" marR="0" rtl="0" algn="l">
              <a:spcBef>
                <a:spcPts val="600"/>
              </a:spcBef>
              <a:spcAft>
                <a:spcPts val="0"/>
              </a:spcAft>
              <a:buNone/>
            </a:pPr>
            <a:r>
              <a:rPr b="1" i="0" lang="en-US" sz="1300" u="none" cap="none" strike="noStrike">
                <a:solidFill>
                  <a:srgbClr val="1E293B"/>
                </a:solidFill>
                <a:latin typeface="Arial"/>
                <a:ea typeface="Arial"/>
                <a:cs typeface="Arial"/>
                <a:sym typeface="Arial"/>
              </a:rPr>
              <a:t>•  Benjamín Jesús Stavrakopulos Ruiz</a:t>
            </a:r>
            <a:endParaRPr/>
          </a:p>
          <a:p>
            <a:pPr indent="0" lvl="0" marL="0" marR="0" rtl="0" algn="l">
              <a:spcBef>
                <a:spcPts val="400"/>
              </a:spcBef>
              <a:spcAft>
                <a:spcPts val="0"/>
              </a:spcAft>
              <a:buNone/>
            </a:pPr>
            <a:r>
              <a:rPr b="1" i="0" lang="en-US" sz="1300" u="none" cap="none" strike="noStrike">
                <a:solidFill>
                  <a:srgbClr val="1E293B"/>
                </a:solidFill>
                <a:latin typeface="Arial"/>
                <a:ea typeface="Arial"/>
                <a:cs typeface="Arial"/>
                <a:sym typeface="Arial"/>
              </a:rPr>
              <a:t>•  Bastián Hofni Lazo Neira</a:t>
            </a:r>
            <a:endParaRPr/>
          </a:p>
          <a:p>
            <a:pPr indent="0" lvl="0" marL="0" marR="0" rtl="0" algn="l">
              <a:spcBef>
                <a:spcPts val="400"/>
              </a:spcBef>
              <a:spcAft>
                <a:spcPts val="0"/>
              </a:spcAft>
              <a:buNone/>
            </a:pPr>
            <a:r>
              <a:rPr b="1" i="0" lang="en-US" sz="1300" u="none" cap="none" strike="noStrike">
                <a:solidFill>
                  <a:srgbClr val="1E293B"/>
                </a:solidFill>
                <a:latin typeface="Arial"/>
                <a:ea typeface="Arial"/>
                <a:cs typeface="Arial"/>
                <a:sym typeface="Arial"/>
              </a:rPr>
              <a:t>•  Francisca Antonia Guzmán Jerez</a:t>
            </a:r>
            <a:endParaRPr/>
          </a:p>
          <a:p>
            <a:pPr indent="0" lvl="0" marL="0" marR="0" rtl="0" algn="l">
              <a:spcBef>
                <a:spcPts val="2800"/>
              </a:spcBef>
              <a:spcAft>
                <a:spcPts val="0"/>
              </a:spcAft>
              <a:buNone/>
            </a:pPr>
            <a:r>
              <a:rPr b="1" i="0" lang="en-US" sz="1100" u="none" cap="none" strike="noStrike">
                <a:solidFill>
                  <a:srgbClr val="C2410C"/>
                </a:solidFill>
                <a:latin typeface="Arial"/>
                <a:ea typeface="Arial"/>
                <a:cs typeface="Arial"/>
                <a:sym typeface="Arial"/>
              </a:rPr>
              <a:t>DOCENTE: Mauricio Figueroa   |   SEDE: Viña del Mar</a:t>
            </a:r>
            <a:endParaRPr/>
          </a:p>
        </p:txBody>
      </p:sp>
      <p:sp>
        <p:nvSpPr>
          <p:cNvPr id="86" name="Google Shape;86;p1"/>
          <p:cNvSpPr/>
          <p:nvPr/>
        </p:nvSpPr>
        <p:spPr>
          <a:xfrm>
            <a:off x="7620000" y="-18288"/>
            <a:ext cx="4572000" cy="68580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nvSpPr>
        <p:spPr>
          <a:xfrm>
            <a:off x="8076895" y="2011680"/>
            <a:ext cx="3657600" cy="32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14B8A6"/>
                </a:solidFill>
                <a:latin typeface="Georgia"/>
                <a:ea typeface="Georgia"/>
                <a:cs typeface="Georgia"/>
                <a:sym typeface="Georgia"/>
              </a:rPr>
              <a:t>DIAGNÓSTICO</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CAPILAR</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INTELIGENTE</a:t>
            </a:r>
            <a:endParaRPr/>
          </a:p>
          <a:p>
            <a:pPr indent="0" lvl="0" marL="0" marR="0" rtl="0" algn="l">
              <a:spcBef>
                <a:spcPts val="1400"/>
              </a:spcBef>
              <a:spcAft>
                <a:spcPts val="0"/>
              </a:spcAft>
              <a:buNone/>
            </a:pPr>
            <a:r>
              <a:rPr b="0" i="0" lang="en-US" sz="1300" u="none" cap="none" strike="noStrike">
                <a:solidFill>
                  <a:srgbClr val="F1F5F9"/>
                </a:solidFill>
                <a:latin typeface="Arial"/>
                <a:ea typeface="Arial"/>
                <a:cs typeface="Arial"/>
                <a:sym typeface="Arial"/>
              </a:rPr>
              <a:t>Procesamiento de imágenes mediante transferencia de aprendizaje (Fine-Tuning) sobre ResNet50 para recomendación automatizada de stock capilar.</a:t>
            </a:r>
            <a:endParaRPr/>
          </a:p>
        </p:txBody>
      </p:sp>
      <p:sp>
        <p:nvSpPr>
          <p:cNvPr id="88" name="Google Shape;88;p1"/>
          <p:cNvSpPr txBox="1"/>
          <p:nvPr>
            <p:ph idx="12" type="sldNum"/>
          </p:nvPr>
        </p:nvSpPr>
        <p:spPr>
          <a:xfrm>
            <a:off x="9600900" y="62102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93" name="Shape 93"/>
        <p:cNvGrpSpPr/>
        <p:nvPr/>
      </p:nvGrpSpPr>
      <p:grpSpPr>
        <a:xfrm>
          <a:off x="0" y="0"/>
          <a:ext cx="0" cy="0"/>
          <a:chOff x="0" y="0"/>
          <a:chExt cx="0" cy="0"/>
        </a:xfrm>
      </p:grpSpPr>
      <p:sp>
        <p:nvSpPr>
          <p:cNvPr id="94" name="Google Shape;94;p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Tabla de Contenidos: Agenda del Proyecto</a:t>
            </a:r>
            <a:endParaRPr/>
          </a:p>
        </p:txBody>
      </p:sp>
      <p:sp>
        <p:nvSpPr>
          <p:cNvPr id="95" name="Google Shape;95;p2"/>
          <p:cNvSpPr/>
          <p:nvPr/>
        </p:nvSpPr>
        <p:spPr>
          <a:xfrm>
            <a:off x="457200" y="137160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01. Contexto Comercial</a:t>
            </a:r>
            <a:endParaRPr/>
          </a:p>
        </p:txBody>
      </p:sp>
      <p:sp>
        <p:nvSpPr>
          <p:cNvPr id="96" name="Google Shape;96;p2"/>
          <p:cNvSpPr/>
          <p:nvPr/>
        </p:nvSpPr>
        <p:spPr>
          <a:xfrm>
            <a:off x="3291840" y="137160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02. Problema del Salón</a:t>
            </a:r>
            <a:endParaRPr/>
          </a:p>
        </p:txBody>
      </p:sp>
      <p:sp>
        <p:nvSpPr>
          <p:cNvPr id="97" name="Google Shape;97;p2"/>
          <p:cNvSpPr/>
          <p:nvPr/>
        </p:nvSpPr>
        <p:spPr>
          <a:xfrm>
            <a:off x="6126480" y="137160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03. Necesidad del Negocio</a:t>
            </a:r>
            <a:endParaRPr/>
          </a:p>
        </p:txBody>
      </p:sp>
      <p:sp>
        <p:nvSpPr>
          <p:cNvPr id="98" name="Google Shape;98;p2"/>
          <p:cNvSpPr/>
          <p:nvPr/>
        </p:nvSpPr>
        <p:spPr>
          <a:xfrm>
            <a:off x="8961120" y="137160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04. Nuestra Propuesta</a:t>
            </a:r>
            <a:endParaRPr/>
          </a:p>
        </p:txBody>
      </p:sp>
      <p:sp>
        <p:nvSpPr>
          <p:cNvPr id="99" name="Google Shape;99;p2"/>
          <p:cNvSpPr/>
          <p:nvPr/>
        </p:nvSpPr>
        <p:spPr>
          <a:xfrm>
            <a:off x="457200" y="256032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05. Funcionalidades Clave</a:t>
            </a:r>
            <a:endParaRPr/>
          </a:p>
        </p:txBody>
      </p:sp>
      <p:sp>
        <p:nvSpPr>
          <p:cNvPr id="100" name="Google Shape;100;p2"/>
          <p:cNvSpPr/>
          <p:nvPr/>
        </p:nvSpPr>
        <p:spPr>
          <a:xfrm>
            <a:off x="3291840" y="256032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06. Requerimientos</a:t>
            </a:r>
            <a:endParaRPr/>
          </a:p>
        </p:txBody>
      </p:sp>
      <p:sp>
        <p:nvSpPr>
          <p:cNvPr id="101" name="Google Shape;101;p2"/>
          <p:cNvSpPr/>
          <p:nvPr/>
        </p:nvSpPr>
        <p:spPr>
          <a:xfrm>
            <a:off x="6126480" y="256032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07. Épicas del Proyecto</a:t>
            </a:r>
            <a:endParaRPr/>
          </a:p>
        </p:txBody>
      </p:sp>
      <p:sp>
        <p:nvSpPr>
          <p:cNvPr id="102" name="Google Shape;102;p2"/>
          <p:cNvSpPr/>
          <p:nvPr/>
        </p:nvSpPr>
        <p:spPr>
          <a:xfrm>
            <a:off x="8961120" y="256032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08. Arquitectura de Sistemas</a:t>
            </a:r>
            <a:endParaRPr/>
          </a:p>
        </p:txBody>
      </p:sp>
      <p:sp>
        <p:nvSpPr>
          <p:cNvPr id="103" name="Google Shape;103;p2"/>
          <p:cNvSpPr/>
          <p:nvPr/>
        </p:nvSpPr>
        <p:spPr>
          <a:xfrm>
            <a:off x="457200" y="374904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09. Metodología Scrum</a:t>
            </a:r>
            <a:endParaRPr/>
          </a:p>
        </p:txBody>
      </p:sp>
      <p:sp>
        <p:nvSpPr>
          <p:cNvPr id="104" name="Google Shape;104;p2"/>
          <p:cNvSpPr/>
          <p:nvPr/>
        </p:nvSpPr>
        <p:spPr>
          <a:xfrm>
            <a:off x="3291840" y="374904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10. Equipo de Trabajo</a:t>
            </a:r>
            <a:endParaRPr/>
          </a:p>
        </p:txBody>
      </p:sp>
      <p:sp>
        <p:nvSpPr>
          <p:cNvPr id="105" name="Google Shape;105;p2"/>
          <p:cNvSpPr/>
          <p:nvPr/>
        </p:nvSpPr>
        <p:spPr>
          <a:xfrm>
            <a:off x="6126480" y="374904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11. Evidencias de la IA</a:t>
            </a:r>
            <a:endParaRPr/>
          </a:p>
        </p:txBody>
      </p:sp>
      <p:sp>
        <p:nvSpPr>
          <p:cNvPr id="106" name="Google Shape;106;p2"/>
          <p:cNvSpPr/>
          <p:nvPr/>
        </p:nvSpPr>
        <p:spPr>
          <a:xfrm>
            <a:off x="8961120" y="374904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12. Evidencias de Sprints</a:t>
            </a:r>
            <a:endParaRPr/>
          </a:p>
        </p:txBody>
      </p:sp>
      <p:sp>
        <p:nvSpPr>
          <p:cNvPr id="107" name="Google Shape;107;p2"/>
          <p:cNvSpPr/>
          <p:nvPr/>
        </p:nvSpPr>
        <p:spPr>
          <a:xfrm>
            <a:off x="457200" y="493776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13. Historias de Usuario</a:t>
            </a:r>
            <a:endParaRPr/>
          </a:p>
        </p:txBody>
      </p:sp>
      <p:sp>
        <p:nvSpPr>
          <p:cNvPr id="108" name="Google Shape;108;p2"/>
          <p:cNvSpPr/>
          <p:nvPr/>
        </p:nvSpPr>
        <p:spPr>
          <a:xfrm>
            <a:off x="3291840" y="493776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14. Plan de Sprints</a:t>
            </a:r>
            <a:endParaRPr/>
          </a:p>
        </p:txBody>
      </p:sp>
      <p:sp>
        <p:nvSpPr>
          <p:cNvPr id="109" name="Google Shape;109;p2"/>
          <p:cNvSpPr/>
          <p:nvPr/>
        </p:nvSpPr>
        <p:spPr>
          <a:xfrm>
            <a:off x="6126480" y="493776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15. Carta Gantt Temporal</a:t>
            </a:r>
            <a:endParaRPr/>
          </a:p>
        </p:txBody>
      </p:sp>
      <p:sp>
        <p:nvSpPr>
          <p:cNvPr id="110" name="Google Shape;110;p2"/>
          <p:cNvSpPr/>
          <p:nvPr/>
        </p:nvSpPr>
        <p:spPr>
          <a:xfrm>
            <a:off x="8961120" y="493776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16. Conclusiones y Cierre</a:t>
            </a:r>
            <a:endParaRPr/>
          </a:p>
        </p:txBody>
      </p:sp>
      <p:sp>
        <p:nvSpPr>
          <p:cNvPr id="111" name="Google Shape;111;p2"/>
          <p:cNvSpPr txBox="1"/>
          <p:nvPr>
            <p:ph idx="12" type="sldNum"/>
          </p:nvPr>
        </p:nvSpPr>
        <p:spPr>
          <a:xfrm>
            <a:off x="9600900" y="62319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6" name="Shape 116"/>
        <p:cNvGrpSpPr/>
        <p:nvPr/>
      </p:nvGrpSpPr>
      <p:grpSpPr>
        <a:xfrm>
          <a:off x="0" y="0"/>
          <a:ext cx="0" cy="0"/>
          <a:chOff x="0" y="0"/>
          <a:chExt cx="0" cy="0"/>
        </a:xfrm>
      </p:grpSpPr>
      <p:sp>
        <p:nvSpPr>
          <p:cNvPr id="117" name="Google Shape;117;p3"/>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Contexto Comercial: Trayectoria y Evolución de Monsite</a:t>
            </a:r>
            <a:endParaRPr/>
          </a:p>
        </p:txBody>
      </p:sp>
      <p:sp>
        <p:nvSpPr>
          <p:cNvPr id="118" name="Google Shape;118;p3"/>
          <p:cNvSpPr/>
          <p:nvPr/>
        </p:nvSpPr>
        <p:spPr>
          <a:xfrm>
            <a:off x="731520" y="2926080"/>
            <a:ext cx="10698480" cy="45720"/>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3"/>
          <p:cNvSpPr/>
          <p:nvPr/>
        </p:nvSpPr>
        <p:spPr>
          <a:xfrm>
            <a:off x="18288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3"/>
          <p:cNvSpPr txBox="1"/>
          <p:nvPr/>
        </p:nvSpPr>
        <p:spPr>
          <a:xfrm>
            <a:off x="731520" y="118872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2014 — Origen</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Fundación del Salón</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Nace la peluquería física en Santiago. Ante una baja afluencia presencial inicial, se decide comercializar productos capilares de forma directa para generar ingresos complementarios.</a:t>
            </a:r>
            <a:endParaRPr/>
          </a:p>
        </p:txBody>
      </p:sp>
      <p:sp>
        <p:nvSpPr>
          <p:cNvPr id="121" name="Google Shape;121;p3"/>
          <p:cNvSpPr/>
          <p:nvPr/>
        </p:nvSpPr>
        <p:spPr>
          <a:xfrm>
            <a:off x="45720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3"/>
          <p:cNvSpPr txBox="1"/>
          <p:nvPr/>
        </p:nvSpPr>
        <p:spPr>
          <a:xfrm>
            <a:off x="3474720" y="329184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2020 — Pandemia</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Pivote al Canal Digital</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Las restricciones sanitarias de aforo obligan a Monsite a vender en línea. Se asocia con éxito a plataformas de terceros (Cornershop, Rappi, Mercado Libre) con gran volumen de ventas.</a:t>
            </a:r>
            <a:endParaRPr/>
          </a:p>
        </p:txBody>
      </p:sp>
      <p:sp>
        <p:nvSpPr>
          <p:cNvPr id="123" name="Google Shape;123;p3"/>
          <p:cNvSpPr/>
          <p:nvPr/>
        </p:nvSpPr>
        <p:spPr>
          <a:xfrm>
            <a:off x="73152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3"/>
          <p:cNvSpPr txBox="1"/>
          <p:nvPr/>
        </p:nvSpPr>
        <p:spPr>
          <a:xfrm>
            <a:off x="6217920" y="118872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Post-Pandemia</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Erosión de la Rentabilidad</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El retorno a la normalidad presencial reduce las ventas en línea. Simultáneamente, las plataformas externas incrementan drásticamente sus comisiones y exigen mayores trabas operativas.</a:t>
            </a:r>
            <a:endParaRPr/>
          </a:p>
        </p:txBody>
      </p:sp>
      <p:sp>
        <p:nvSpPr>
          <p:cNvPr id="125" name="Google Shape;125;p3"/>
          <p:cNvSpPr/>
          <p:nvPr/>
        </p:nvSpPr>
        <p:spPr>
          <a:xfrm>
            <a:off x="100584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3"/>
          <p:cNvSpPr txBox="1"/>
          <p:nvPr/>
        </p:nvSpPr>
        <p:spPr>
          <a:xfrm>
            <a:off x="8961120" y="329184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Actualidad</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Pérdida de Autonomía</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Se imponen exigencias como re-etiquetado manual en español de envases importados (afectando la autenticidad) y bloqueos arbitrarios de stock, estancando parte de su catálogo.</a:t>
            </a:r>
            <a:endParaRPr/>
          </a:p>
        </p:txBody>
      </p:sp>
      <p:sp>
        <p:nvSpPr>
          <p:cNvPr id="127" name="Google Shape;127;p3"/>
          <p:cNvSpPr txBox="1"/>
          <p:nvPr/>
        </p:nvSpPr>
        <p:spPr>
          <a:xfrm>
            <a:off x="731520" y="5394960"/>
            <a:ext cx="1072865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14B8A6"/>
                </a:solidFill>
                <a:latin typeface="Arial"/>
                <a:ea typeface="Arial"/>
                <a:cs typeface="Arial"/>
                <a:sym typeface="Arial"/>
              </a:rPr>
              <a:t>CONCLUSIÓN: La dependencia absoluta de plataformas de terceros erosionó los márgenes y arrebató a Monsite el control de la presentación original de su marca, detonando la urgencia de construir un e-commerce transaccional con soberanía absoluta.</a:t>
            </a:r>
            <a:endParaRPr/>
          </a:p>
        </p:txBody>
      </p:sp>
      <p:sp>
        <p:nvSpPr>
          <p:cNvPr id="128" name="Google Shape;128;p3"/>
          <p:cNvSpPr txBox="1"/>
          <p:nvPr>
            <p:ph idx="12" type="sldNum"/>
          </p:nvPr>
        </p:nvSpPr>
        <p:spPr>
          <a:xfrm>
            <a:off x="960090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33" name="Shape 133"/>
        <p:cNvGrpSpPr/>
        <p:nvPr/>
      </p:nvGrpSpPr>
      <p:grpSpPr>
        <a:xfrm>
          <a:off x="0" y="0"/>
          <a:ext cx="0" cy="0"/>
          <a:chOff x="0" y="0"/>
          <a:chExt cx="0" cy="0"/>
        </a:xfrm>
      </p:grpSpPr>
      <p:sp>
        <p:nvSpPr>
          <p:cNvPr id="134" name="Google Shape;134;p4"/>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El Problema: Pérdida de Autonomía, Rentabilidad y Orientación</a:t>
            </a:r>
            <a:endParaRPr/>
          </a:p>
        </p:txBody>
      </p:sp>
      <p:sp>
        <p:nvSpPr>
          <p:cNvPr id="135" name="Google Shape;135;p4"/>
          <p:cNvSpPr/>
          <p:nvPr/>
        </p:nvSpPr>
        <p:spPr>
          <a:xfrm>
            <a:off x="457200"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Dependencia Crítica de Terceros</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La comercialización digital depende de plataformas externas (Cornershop, Rappi, Mercado Libre) que dictan unilateralmente las políticas comerciales.</a:t>
            </a:r>
            <a:endParaRPr/>
          </a:p>
        </p:txBody>
      </p:sp>
      <p:sp>
        <p:nvSpPr>
          <p:cNvPr id="136" name="Google Shape;136;p4"/>
          <p:cNvSpPr/>
          <p:nvPr/>
        </p:nvSpPr>
        <p:spPr>
          <a:xfrm>
            <a:off x="4352544"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Erosión de Rentabilidad</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Comisiones, recargos y tarifas crecientes reducen progresivamente el margen de utilidad obtenido por Monsite en cada transacción digital.</a:t>
            </a:r>
            <a:endParaRPr/>
          </a:p>
        </p:txBody>
      </p:sp>
      <p:sp>
        <p:nvSpPr>
          <p:cNvPr id="137" name="Google Shape;137;p4"/>
          <p:cNvSpPr/>
          <p:nvPr/>
        </p:nvSpPr>
        <p:spPr>
          <a:xfrm>
            <a:off x="8247888"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Trabas y Daño de Marca</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La imposición de re-etiquetado manual y traducción sobre empaques importados perjudica la estética premium y genera desconfianza sobre la autenticidad.</a:t>
            </a:r>
            <a:endParaRPr/>
          </a:p>
        </p:txBody>
      </p:sp>
      <p:sp>
        <p:nvSpPr>
          <p:cNvPr id="138" name="Google Shape;138;p4"/>
          <p:cNvSpPr/>
          <p:nvPr/>
        </p:nvSpPr>
        <p:spPr>
          <a:xfrm>
            <a:off x="164592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Stock Inmovilizado</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Bloqueos arbitrarios o rechazos de publicación de determinados productos de salón según políticas ajenas de catálogo estancan el inventario.</a:t>
            </a:r>
            <a:endParaRPr/>
          </a:p>
        </p:txBody>
      </p:sp>
      <p:sp>
        <p:nvSpPr>
          <p:cNvPr id="139" name="Google Shape;139;p4"/>
          <p:cNvSpPr/>
          <p:nvPr/>
        </p:nvSpPr>
        <p:spPr>
          <a:xfrm>
            <a:off x="640080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Brecha de Compra Capilar</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Un e-commerce plano de terceros no ofrece orientación. El cliente, sin conocimiento técnico capilar, duda ante la gran variedad y desiste de comprar.</a:t>
            </a:r>
            <a:endParaRPr/>
          </a:p>
        </p:txBody>
      </p:sp>
      <p:sp>
        <p:nvSpPr>
          <p:cNvPr id="140" name="Google Shape;140;p4"/>
          <p:cNvSpPr txBox="1"/>
          <p:nvPr>
            <p:ph idx="12" type="sldNum"/>
          </p:nvPr>
        </p:nvSpPr>
        <p:spPr>
          <a:xfrm>
            <a:off x="9600900" y="62630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45" name="Shape 145"/>
        <p:cNvGrpSpPr/>
        <p:nvPr/>
      </p:nvGrpSpPr>
      <p:grpSpPr>
        <a:xfrm>
          <a:off x="0" y="0"/>
          <a:ext cx="0" cy="0"/>
          <a:chOff x="0" y="0"/>
          <a:chExt cx="0" cy="0"/>
        </a:xfrm>
      </p:grpSpPr>
      <p:sp>
        <p:nvSpPr>
          <p:cNvPr id="146" name="Google Shape;146;p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La Necesidad: Canal Web Propio y Guía Capilar Inteligente</a:t>
            </a:r>
            <a:endParaRPr/>
          </a:p>
        </p:txBody>
      </p:sp>
      <p:sp>
        <p:nvSpPr>
          <p:cNvPr id="147" name="Google Shape;147;p5"/>
          <p:cNvSpPr/>
          <p:nvPr/>
        </p:nvSpPr>
        <p:spPr>
          <a:xfrm>
            <a:off x="457200" y="1371600"/>
            <a:ext cx="4114800" cy="466344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365750" lIns="365750" spcFirstLastPara="1" rIns="365750" wrap="square" tIns="365750">
            <a:noAutofit/>
          </a:bodyPr>
          <a:lstStyle/>
          <a:p>
            <a:pPr indent="0" lvl="0" marL="0" marR="0" rtl="0" algn="ctr">
              <a:spcBef>
                <a:spcPts val="0"/>
              </a:spcBef>
              <a:spcAft>
                <a:spcPts val="0"/>
              </a:spcAft>
              <a:buNone/>
            </a:pPr>
            <a:r>
              <a:rPr b="1" i="0" lang="en-US" sz="2800">
                <a:solidFill>
                  <a:srgbClr val="14B8A6"/>
                </a:solidFill>
                <a:latin typeface="Georgia"/>
                <a:ea typeface="Georgia"/>
                <a:cs typeface="Georgia"/>
                <a:sym typeface="Georgia"/>
              </a:rPr>
              <a:t>DIAGNOSTICA</a:t>
            </a:r>
            <a:br>
              <a:rPr b="1" i="0" lang="en-US" sz="2800">
                <a:solidFill>
                  <a:srgbClr val="14B8A6"/>
                </a:solidFill>
                <a:latin typeface="Georgia"/>
                <a:ea typeface="Georgia"/>
                <a:cs typeface="Georgia"/>
                <a:sym typeface="Georgia"/>
              </a:rPr>
            </a:br>
            <a:r>
              <a:rPr b="1" i="0" lang="en-US" sz="2800">
                <a:solidFill>
                  <a:srgbClr val="14B8A6"/>
                </a:solidFill>
                <a:latin typeface="Georgia"/>
                <a:ea typeface="Georgia"/>
                <a:cs typeface="Georgia"/>
                <a:sym typeface="Georgia"/>
              </a:rPr>
              <a:t>TU CABELLO</a:t>
            </a:r>
            <a:endParaRPr/>
          </a:p>
          <a:p>
            <a:pPr indent="0" lvl="0" marL="0" marR="0" rtl="0" algn="l">
              <a:spcBef>
                <a:spcPts val="1400"/>
              </a:spcBef>
              <a:spcAft>
                <a:spcPts val="0"/>
              </a:spcAft>
              <a:buNone/>
            </a:pPr>
            <a:r>
              <a:rPr b="0" i="0" lang="en-US" sz="1300">
                <a:solidFill>
                  <a:srgbClr val="F1F5F9"/>
                </a:solidFill>
                <a:latin typeface="Arial"/>
                <a:ea typeface="Arial"/>
                <a:cs typeface="Arial"/>
                <a:sym typeface="Arial"/>
              </a:rPr>
              <a:t>Trasladar parte de la orientación y asesoría personalizada que el cliente recibe en la peluquería tradicional hacia una experiencia digital autónoma.</a:t>
            </a:r>
            <a:endParaRPr/>
          </a:p>
        </p:txBody>
      </p:sp>
      <p:sp>
        <p:nvSpPr>
          <p:cNvPr id="148" name="Google Shape;148;p5"/>
          <p:cNvSpPr/>
          <p:nvPr/>
        </p:nvSpPr>
        <p:spPr>
          <a:xfrm>
            <a:off x="49377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Canal de Venta Digital Propio</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Plataforma e-commerce autónoma que disminuya las limitaciones operativas y elimine las altas comisiones de terceros.</a:t>
            </a:r>
            <a:endParaRPr/>
          </a:p>
        </p:txBody>
      </p:sp>
      <p:sp>
        <p:nvSpPr>
          <p:cNvPr id="149" name="Google Shape;149;p5"/>
          <p:cNvSpPr/>
          <p:nvPr/>
        </p:nvSpPr>
        <p:spPr>
          <a:xfrm>
            <a:off x="85953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Soberanía de Catálogo y Precios</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Control absoluto para administrar y presentar los productos, precios, stock y promociones de forma directa con los clientes.</a:t>
            </a:r>
            <a:endParaRPr/>
          </a:p>
        </p:txBody>
      </p:sp>
      <p:sp>
        <p:nvSpPr>
          <p:cNvPr id="150" name="Google Shape;150;p5"/>
          <p:cNvSpPr/>
          <p:nvPr/>
        </p:nvSpPr>
        <p:spPr>
          <a:xfrm>
            <a:off x="49377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Clasificación Científica</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Mecanismo computacional inteligente capaz de identificar las necesidades reales del cabello del usuario mediante análisis de imágenes.</a:t>
            </a:r>
            <a:endParaRPr/>
          </a:p>
        </p:txBody>
      </p:sp>
      <p:sp>
        <p:nvSpPr>
          <p:cNvPr id="151" name="Google Shape;151;p5"/>
          <p:cNvSpPr/>
          <p:nvPr/>
        </p:nvSpPr>
        <p:spPr>
          <a:xfrm>
            <a:off x="85953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Asesoría Guiada Transaccional</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Conectar el diagnóstico con la recomendación de stock del catálogo propio, explicando al usuario de forma clara las ventajas de cada producto.</a:t>
            </a:r>
            <a:endParaRPr/>
          </a:p>
        </p:txBody>
      </p:sp>
      <p:sp>
        <p:nvSpPr>
          <p:cNvPr id="152" name="Google Shape;152;p5"/>
          <p:cNvSpPr txBox="1"/>
          <p:nvPr>
            <p:ph idx="12" type="sldNum"/>
          </p:nvPr>
        </p:nvSpPr>
        <p:spPr>
          <a:xfrm>
            <a:off x="97536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57" name="Shape 157"/>
        <p:cNvGrpSpPr/>
        <p:nvPr/>
      </p:nvGrpSpPr>
      <p:grpSpPr>
        <a:xfrm>
          <a:off x="0" y="0"/>
          <a:ext cx="0" cy="0"/>
          <a:chOff x="0" y="0"/>
          <a:chExt cx="0" cy="0"/>
        </a:xfrm>
      </p:grpSpPr>
      <p:sp>
        <p:nvSpPr>
          <p:cNvPr id="158" name="Google Shape;158;p6"/>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Nuestra Solución: E-Commerce y Venta Capilar Asistida con IA</a:t>
            </a:r>
            <a:endParaRPr/>
          </a:p>
        </p:txBody>
      </p:sp>
      <p:sp>
        <p:nvSpPr>
          <p:cNvPr id="159" name="Google Shape;159;p6"/>
          <p:cNvSpPr/>
          <p:nvPr/>
        </p:nvSpPr>
        <p:spPr>
          <a:xfrm>
            <a:off x="457200" y="1371600"/>
            <a:ext cx="11277295" cy="3291840"/>
          </a:xfrm>
          <a:prstGeom prst="roundRect">
            <a:avLst>
              <a:gd fmla="val 16667" name="adj"/>
            </a:avLst>
          </a:prstGeom>
          <a:solidFill>
            <a:srgbClr val="0F172A"/>
          </a:solidFill>
          <a:ln cap="flat" cmpd="sng" w="254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74300" lIns="274300" spcFirstLastPara="1" rIns="274300" wrap="square" tIns="274300">
            <a:noAutofit/>
          </a:bodyPr>
          <a:lstStyle/>
          <a:p>
            <a:pPr indent="0" lvl="0" marL="0" marR="0" rtl="0" algn="ctr">
              <a:spcBef>
                <a:spcPts val="0"/>
              </a:spcBef>
              <a:spcAft>
                <a:spcPts val="0"/>
              </a:spcAft>
              <a:buNone/>
            </a:pPr>
            <a:r>
              <a:rPr b="1" i="0" lang="en-US" sz="2600">
                <a:solidFill>
                  <a:srgbClr val="14B8A6"/>
                </a:solidFill>
                <a:latin typeface="Georgia"/>
                <a:ea typeface="Georgia"/>
                <a:cs typeface="Georgia"/>
                <a:sym typeface="Georgia"/>
              </a:rPr>
              <a:t>Monsite: Canal Transaccional y de Diagnóstico Autónomo</a:t>
            </a:r>
            <a:endParaRPr/>
          </a:p>
          <a:p>
            <a:pPr indent="0" lvl="0" marL="0" marR="0" rtl="0" algn="ctr">
              <a:spcBef>
                <a:spcPts val="800"/>
              </a:spcBef>
              <a:spcAft>
                <a:spcPts val="0"/>
              </a:spcAft>
              <a:buNone/>
            </a:pPr>
            <a:r>
              <a:rPr b="0" i="0" lang="en-US" sz="1300">
                <a:solidFill>
                  <a:srgbClr val="F1F5F9"/>
                </a:solidFill>
                <a:latin typeface="Arial"/>
                <a:ea typeface="Arial"/>
                <a:cs typeface="Arial"/>
                <a:sym typeface="Arial"/>
              </a:rPr>
              <a:t>Canal de venta asistida que combina comercio electrónico e inteligencia artificial para comercializar directamente los productos capilares de Monsite sin depender de terceros, digitalizando la experiencia del salón de peluquería.</a:t>
            </a:r>
            <a:endParaRPr/>
          </a:p>
          <a:p>
            <a:pPr indent="0" lvl="0" marL="0" marR="0" rtl="0" algn="l">
              <a:spcBef>
                <a:spcPts val="1600"/>
              </a:spcBef>
              <a:spcAft>
                <a:spcPts val="0"/>
              </a:spcAft>
              <a:buNone/>
            </a:pPr>
            <a:r>
              <a:rPr b="1" i="0" lang="en-US" sz="1200">
                <a:solidFill>
                  <a:srgbClr val="C2410C"/>
                </a:solidFill>
                <a:latin typeface="Arial"/>
                <a:ea typeface="Arial"/>
                <a:cs typeface="Arial"/>
                <a:sym typeface="Arial"/>
              </a:rPr>
              <a:t>• PLATAFORMA PROPIA:</a:t>
            </a:r>
            <a:r>
              <a:rPr b="0" i="0" lang="en-US" sz="1100">
                <a:solidFill>
                  <a:srgbClr val="F1F5F9"/>
                </a:solidFill>
                <a:latin typeface="Arial"/>
                <a:ea typeface="Arial"/>
                <a:cs typeface="Arial"/>
                <a:sym typeface="Arial"/>
              </a:rPr>
              <a:t> Catálogo interactivo de marcas de prestigio, carrito lateral persistente, checkout seguro con pasarela de pago y control de bodega.</a:t>
            </a:r>
            <a:endParaRPr/>
          </a:p>
          <a:p>
            <a:pPr indent="0" lvl="0" marL="0" marR="0" rtl="0" algn="l">
              <a:spcBef>
                <a:spcPts val="0"/>
              </a:spcBef>
              <a:spcAft>
                <a:spcPts val="0"/>
              </a:spcAft>
              <a:buNone/>
            </a:pPr>
            <a:r>
              <a:rPr b="1" i="0" lang="en-US" sz="1200">
                <a:solidFill>
                  <a:srgbClr val="C2410C"/>
                </a:solidFill>
                <a:latin typeface="Arial"/>
                <a:ea typeface="Arial"/>
                <a:cs typeface="Arial"/>
                <a:sym typeface="Arial"/>
              </a:rPr>
              <a:t>• MÓDULO 'DIAGNOSTICA TU CABELLO':</a:t>
            </a:r>
            <a:r>
              <a:rPr b="0" i="0" lang="en-US" sz="1100">
                <a:solidFill>
                  <a:srgbClr val="F1F5F9"/>
                </a:solidFill>
                <a:latin typeface="Arial"/>
                <a:ea typeface="Arial"/>
                <a:cs typeface="Arial"/>
                <a:sym typeface="Arial"/>
              </a:rPr>
              <a:t> Herramienta inteligente desde la página principal que analiza fotos de cabello para identificar resequedad, daño o deshidratación.</a:t>
            </a:r>
            <a:endParaRPr/>
          </a:p>
          <a:p>
            <a:pPr indent="0" lvl="0" marL="0" marR="0" rtl="0" algn="l">
              <a:spcBef>
                <a:spcPts val="0"/>
              </a:spcBef>
              <a:spcAft>
                <a:spcPts val="0"/>
              </a:spcAft>
              <a:buNone/>
            </a:pPr>
            <a:r>
              <a:rPr b="1" i="0" lang="en-US" sz="1200">
                <a:solidFill>
                  <a:srgbClr val="C2410C"/>
                </a:solidFill>
                <a:latin typeface="Arial"/>
                <a:ea typeface="Arial"/>
                <a:cs typeface="Arial"/>
                <a:sym typeface="Arial"/>
              </a:rPr>
              <a:t>• RECOMENDACIÓN EXPLICADA:</a:t>
            </a:r>
            <a:r>
              <a:rPr b="0" i="0" lang="en-US" sz="1100">
                <a:solidFill>
                  <a:srgbClr val="F1F5F9"/>
                </a:solidFill>
                <a:latin typeface="Arial"/>
                <a:ea typeface="Arial"/>
                <a:cs typeface="Arial"/>
                <a:sym typeface="Arial"/>
              </a:rPr>
              <a:t> Conecta las condiciones detectadas por el modelo IA con el catálogo, sugiriendo productos y explicando al usuario el 'por qué' técnico capilar.</a:t>
            </a:r>
            <a:endParaRPr/>
          </a:p>
        </p:txBody>
      </p:sp>
      <p:sp>
        <p:nvSpPr>
          <p:cNvPr id="160" name="Google Shape;160;p6"/>
          <p:cNvSpPr/>
          <p:nvPr/>
        </p:nvSpPr>
        <p:spPr>
          <a:xfrm>
            <a:off x="457200" y="4846320"/>
            <a:ext cx="11277295" cy="1280160"/>
          </a:xfrm>
          <a:prstGeom prst="roundRect">
            <a:avLst>
              <a:gd fmla="val 16667" name="adj"/>
            </a:avLst>
          </a:prstGeom>
          <a:solidFill>
            <a:srgbClr val="F0F9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100">
                <a:solidFill>
                  <a:srgbClr val="C2410C"/>
                </a:solidFill>
                <a:latin typeface="Arial"/>
                <a:ea typeface="Arial"/>
                <a:cs typeface="Arial"/>
                <a:sym typeface="Arial"/>
              </a:rPr>
              <a:t>ARQUITECTURA Y STACK TECNOLÓGICO SELECCIONADO</a:t>
            </a:r>
            <a:endParaRPr/>
          </a:p>
          <a:p>
            <a:pPr indent="0" lvl="0" marL="0" marR="0" rtl="0" algn="l">
              <a:spcBef>
                <a:spcPts val="200"/>
              </a:spcBef>
              <a:spcAft>
                <a:spcPts val="0"/>
              </a:spcAft>
              <a:buNone/>
            </a:pPr>
            <a:r>
              <a:rPr b="0" i="0" lang="en-US" sz="1000">
                <a:solidFill>
                  <a:srgbClr val="1E293B"/>
                </a:solidFill>
                <a:latin typeface="Arial"/>
                <a:ea typeface="Arial"/>
                <a:cs typeface="Arial"/>
                <a:sym typeface="Arial"/>
              </a:rPr>
              <a:t>• Frontend Responsivo: HTML5, CSS3, JavaScript Vanilla   |   • Backend Lógico: Node.js y Express.js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Base de Datos y Autenticación: Suite de Firebase (Firestore, Auth, Storage, Hosting)</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Inteligencia Artificial: Microservicio independiente en Python 3.12, API en FastAPI con modelo ResNet50 en la nube de Render</a:t>
            </a:r>
            <a:endParaRPr/>
          </a:p>
        </p:txBody>
      </p:sp>
      <p:sp>
        <p:nvSpPr>
          <p:cNvPr id="161" name="Google Shape;161;p6"/>
          <p:cNvSpPr txBox="1"/>
          <p:nvPr>
            <p:ph idx="12" type="sldNum"/>
          </p:nvPr>
        </p:nvSpPr>
        <p:spPr>
          <a:xfrm>
            <a:off x="9600900" y="6309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6" name="Shape 166"/>
        <p:cNvGrpSpPr/>
        <p:nvPr/>
      </p:nvGrpSpPr>
      <p:grpSpPr>
        <a:xfrm>
          <a:off x="0" y="0"/>
          <a:ext cx="0" cy="0"/>
          <a:chOff x="0" y="0"/>
          <a:chExt cx="0" cy="0"/>
        </a:xfrm>
      </p:grpSpPr>
      <p:sp>
        <p:nvSpPr>
          <p:cNvPr id="167" name="Google Shape;167;p7"/>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Funcionalidades de la Solución: Componentes de la Plataforma</a:t>
            </a:r>
            <a:endParaRPr/>
          </a:p>
        </p:txBody>
      </p:sp>
      <p:sp>
        <p:nvSpPr>
          <p:cNvPr id="168" name="Google Shape;168;p7"/>
          <p:cNvSpPr/>
          <p:nvPr/>
        </p:nvSpPr>
        <p:spPr>
          <a:xfrm>
            <a:off x="4572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Comercio Electrónico de Extremo a Extremo</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Catálogo dinámico con filtros de marcas/categorías, carrito lateral de compras persistente, checkout guiado con datos de envío, validación de cupones y pasarela Mercado Pago.</a:t>
            </a:r>
            <a:endParaRPr/>
          </a:p>
        </p:txBody>
      </p:sp>
      <p:sp>
        <p:nvSpPr>
          <p:cNvPr id="169" name="Google Shape;169;p7"/>
          <p:cNvSpPr/>
          <p:nvPr/>
        </p:nvSpPr>
        <p:spPr>
          <a:xfrm>
            <a:off x="64008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Módulo de Diagnóstico Capilar Automatizado</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Captura web de 3 fotos (general, raíz, puntas) que valida el brillo mínimo. Procesa la imagen mediante un microservicio en Render para diagnosticar el estado capilar del usuario.</a:t>
            </a:r>
            <a:endParaRPr/>
          </a:p>
        </p:txBody>
      </p:sp>
      <p:sp>
        <p:nvSpPr>
          <p:cNvPr id="170" name="Google Shape;170;p7"/>
          <p:cNvSpPr/>
          <p:nvPr/>
        </p:nvSpPr>
        <p:spPr>
          <a:xfrm>
            <a:off x="4572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Gestión Operativa de Bodega Restringida</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Panel restringido con perfiles para administradores y bodegueros, permitiendo actualizar stock en tiempo real, marcar ítems agotados de inmediato y preparar los despachos de pedidos.</a:t>
            </a:r>
            <a:endParaRPr/>
          </a:p>
        </p:txBody>
      </p:sp>
      <p:sp>
        <p:nvSpPr>
          <p:cNvPr id="171" name="Google Shape;171;p7"/>
          <p:cNvSpPr/>
          <p:nvPr/>
        </p:nvSpPr>
        <p:spPr>
          <a:xfrm>
            <a:off x="64008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Alertas y Notificaciones Transaccionales</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Confirmación automática del registro, creación de órdenes y procesamiento de pagos con descuento automático de inventario, incluyendo envío de avisos al cliente por WhatsApp mediante Twilio.</a:t>
            </a:r>
            <a:endParaRPr/>
          </a:p>
        </p:txBody>
      </p:sp>
      <p:sp>
        <p:nvSpPr>
          <p:cNvPr id="172" name="Google Shape;172;p7"/>
          <p:cNvSpPr txBox="1"/>
          <p:nvPr>
            <p:ph idx="12" type="sldNum"/>
          </p:nvPr>
        </p:nvSpPr>
        <p:spPr>
          <a:xfrm>
            <a:off x="9600900" y="62163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77" name="Shape 177"/>
        <p:cNvGrpSpPr/>
        <p:nvPr/>
      </p:nvGrpSpPr>
      <p:grpSpPr>
        <a:xfrm>
          <a:off x="0" y="0"/>
          <a:ext cx="0" cy="0"/>
          <a:chOff x="0" y="0"/>
          <a:chExt cx="0" cy="0"/>
        </a:xfrm>
      </p:grpSpPr>
      <p:sp>
        <p:nvSpPr>
          <p:cNvPr id="178" name="Google Shape;178;p8"/>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Especificación de Requerimientos Funcionales y No Funcionales</a:t>
            </a:r>
            <a:endParaRPr/>
          </a:p>
        </p:txBody>
      </p:sp>
      <p:graphicFrame>
        <p:nvGraphicFramePr>
          <p:cNvPr id="179" name="Google Shape;179;p8"/>
          <p:cNvGraphicFramePr/>
          <p:nvPr/>
        </p:nvGraphicFramePr>
        <p:xfrm>
          <a:off x="457200" y="1280160"/>
          <a:ext cx="3000000" cy="3000000"/>
        </p:xfrm>
        <a:graphic>
          <a:graphicData uri="http://schemas.openxmlformats.org/drawingml/2006/table">
            <a:tbl>
              <a:tblPr bandRow="1" firstRow="1">
                <a:noFill/>
                <a:tableStyleId>{3724E77C-4B78-4FD9-8B34-F2E4C9D6F073}</a:tableStyleId>
              </a:tblPr>
              <a:tblGrid>
                <a:gridCol w="1188725"/>
                <a:gridCol w="1280150"/>
                <a:gridCol w="2926075"/>
                <a:gridCol w="5882325"/>
              </a:tblGrid>
              <a:tr h="538475">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Identificador</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Tipo de Requisito</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Nombre del Requisito</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Descripción Técnica y Atributos de Calidad</a:t>
                      </a:r>
                      <a:endParaRPr/>
                    </a:p>
                  </a:txBody>
                  <a:tcPr marT="45725" marB="45725" marR="91450" marL="91450" anchor="ctr">
                    <a:solidFill>
                      <a:srgbClr val="0F172A"/>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RF01</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Catálogo de Productos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Permite consultar la vitrina de productos filtrando dinámicamente por categorías y marcas registradas en Firestore.</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RF15</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Integración Mercado Pago</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Procesa cobros reales enviando las preferencias del carrito de compras de forma segura al Checkout Pro.</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RF26</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Captura Guiada de Fotos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Módulo de cámara para capturar 3 fotos de cabello, validando que el brillo de la imagen supere un umbral mínimo.</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RF27</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Consentimiento de Análisis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Exige la firma de consentimiento de privacidad de imágenes obligatorio antes de habilitar la cámara de diagnóstico.</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RNF01</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Política de Contraseñas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Seguridad de accesos: contraseñas de mínimo 12 caracteres, mayúscula, número y un carácter especial.</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RNF03</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Anonimización de Datos</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Almacenamiento de fotos capilares de entrenamiento aisladas de nombres, correos o RUT de los clientes.</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RNF07</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Cumplimiento Normativo</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Protección de datos capilares regulada bajo leyes chilenas 19.628 (protección de la vida privada) y 21.719.</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RNF12</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Eficiencia Temporal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El flujo completo de análisis capilar por el modelo IA en FastAPI no debe demorar más de 1 minuto.</a:t>
                      </a:r>
                      <a:endParaRPr/>
                    </a:p>
                  </a:txBody>
                  <a:tcPr marT="45725" marB="45725" marR="91450" marL="91450" anchor="ctr">
                    <a:solidFill>
                      <a:srgbClr val="F0F9FF"/>
                    </a:solidFill>
                  </a:tcPr>
                </a:tc>
              </a:tr>
            </a:tbl>
          </a:graphicData>
        </a:graphic>
      </p:graphicFrame>
      <p:sp>
        <p:nvSpPr>
          <p:cNvPr id="180" name="Google Shape;180;p8"/>
          <p:cNvSpPr txBox="1"/>
          <p:nvPr>
            <p:ph idx="12" type="sldNum"/>
          </p:nvPr>
        </p:nvSpPr>
        <p:spPr>
          <a:xfrm>
            <a:off x="9600900" y="62178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5" name="Shape 185"/>
        <p:cNvGrpSpPr/>
        <p:nvPr/>
      </p:nvGrpSpPr>
      <p:grpSpPr>
        <a:xfrm>
          <a:off x="0" y="0"/>
          <a:ext cx="0" cy="0"/>
          <a:chOff x="0" y="0"/>
          <a:chExt cx="0" cy="0"/>
        </a:xfrm>
      </p:grpSpPr>
      <p:sp>
        <p:nvSpPr>
          <p:cNvPr id="186" name="Google Shape;186;p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Mapa de Épicas del Proyecto y Priorización SCRUM</a:t>
            </a:r>
            <a:endParaRPr/>
          </a:p>
        </p:txBody>
      </p:sp>
      <p:sp>
        <p:nvSpPr>
          <p:cNvPr id="187" name="Google Shape;187;p9"/>
          <p:cNvSpPr/>
          <p:nvPr/>
        </p:nvSpPr>
        <p:spPr>
          <a:xfrm>
            <a:off x="1371600" y="2926080"/>
            <a:ext cx="9418320" cy="54864"/>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9"/>
          <p:cNvSpPr/>
          <p:nvPr/>
        </p:nvSpPr>
        <p:spPr>
          <a:xfrm>
            <a:off x="73152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E01</a:t>
            </a:r>
            <a:endParaRPr/>
          </a:p>
          <a:p>
            <a:pPr indent="0" lvl="0" marL="0" marR="0" rtl="0" algn="ctr">
              <a:spcBef>
                <a:spcPts val="100"/>
              </a:spcBef>
              <a:spcAft>
                <a:spcPts val="0"/>
              </a:spcAft>
              <a:buNone/>
            </a:pPr>
            <a:r>
              <a:rPr b="1" lang="en-US" sz="1000">
                <a:solidFill>
                  <a:srgbClr val="FAF9F6"/>
                </a:solidFill>
                <a:latin typeface="Georgia"/>
                <a:ea typeface="Georgia"/>
                <a:cs typeface="Georgia"/>
                <a:sym typeface="Georgia"/>
              </a:rPr>
              <a:t>Autenticación</a:t>
            </a:r>
            <a:endParaRPr/>
          </a:p>
        </p:txBody>
      </p:sp>
      <p:sp>
        <p:nvSpPr>
          <p:cNvPr id="189" name="Google Shape;189;p9"/>
          <p:cNvSpPr txBox="1"/>
          <p:nvPr/>
        </p:nvSpPr>
        <p:spPr>
          <a:xfrm>
            <a:off x="54864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a:solidFill>
                  <a:srgbClr val="F1F5F9"/>
                </a:solidFill>
                <a:latin typeface="Arial"/>
                <a:ea typeface="Arial"/>
                <a:cs typeface="Arial"/>
                <a:sym typeface="Arial"/>
              </a:rPr>
              <a:t>Registro e inicio de sesión integrados en Firebase Auth con restricciones según roles (Cliente, Admin, Bodeguero).</a:t>
            </a:r>
            <a:endParaRPr/>
          </a:p>
        </p:txBody>
      </p:sp>
      <p:sp>
        <p:nvSpPr>
          <p:cNvPr id="190" name="Google Shape;190;p9"/>
          <p:cNvSpPr/>
          <p:nvPr/>
        </p:nvSpPr>
        <p:spPr>
          <a:xfrm>
            <a:off x="292608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E03-05</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Compra y Pago</a:t>
            </a:r>
            <a:endParaRPr/>
          </a:p>
        </p:txBody>
      </p:sp>
      <p:sp>
        <p:nvSpPr>
          <p:cNvPr id="191" name="Google Shape;191;p9"/>
          <p:cNvSpPr txBox="1"/>
          <p:nvPr/>
        </p:nvSpPr>
        <p:spPr>
          <a:xfrm>
            <a:off x="274320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Gestión de carrito lateral, captura de envíos y pasarela transaccional con Mercado Pago.</a:t>
            </a:r>
            <a:endParaRPr/>
          </a:p>
        </p:txBody>
      </p:sp>
      <p:sp>
        <p:nvSpPr>
          <p:cNvPr id="192" name="Google Shape;192;p9"/>
          <p:cNvSpPr/>
          <p:nvPr/>
        </p:nvSpPr>
        <p:spPr>
          <a:xfrm>
            <a:off x="512064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E12</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Asistente IA</a:t>
            </a:r>
            <a:endParaRPr/>
          </a:p>
        </p:txBody>
      </p:sp>
      <p:sp>
        <p:nvSpPr>
          <p:cNvPr id="193" name="Google Shape;193;p9"/>
          <p:cNvSpPr txBox="1"/>
          <p:nvPr/>
        </p:nvSpPr>
        <p:spPr>
          <a:xfrm>
            <a:off x="493776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Módulo 'Diagnostica tu cabello' para evaluar fotos con el modelo ResNet50 en Render.</a:t>
            </a:r>
            <a:endParaRPr/>
          </a:p>
        </p:txBody>
      </p:sp>
      <p:sp>
        <p:nvSpPr>
          <p:cNvPr id="194" name="Google Shape;194;p9"/>
          <p:cNvSpPr/>
          <p:nvPr/>
        </p:nvSpPr>
        <p:spPr>
          <a:xfrm>
            <a:off x="7315200" y="2103120"/>
            <a:ext cx="1645920" cy="1645920"/>
          </a:xfrm>
          <a:prstGeom prst="ellipse">
            <a:avLst/>
          </a:prstGeom>
          <a:solidFill>
            <a:srgbClr val="1E293B"/>
          </a:solidFill>
          <a:ln cap="flat" cmpd="sng" w="317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E08-09</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Admin</a:t>
            </a:r>
            <a:endParaRPr/>
          </a:p>
        </p:txBody>
      </p:sp>
      <p:sp>
        <p:nvSpPr>
          <p:cNvPr id="195" name="Google Shape;195;p9"/>
          <p:cNvSpPr txBox="1"/>
          <p:nvPr/>
        </p:nvSpPr>
        <p:spPr>
          <a:xfrm>
            <a:off x="713232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Panel administrativo para controlar catálogo, marcas, categorías, cupones y ver métricas.</a:t>
            </a:r>
            <a:endParaRPr/>
          </a:p>
        </p:txBody>
      </p:sp>
      <p:sp>
        <p:nvSpPr>
          <p:cNvPr id="196" name="Google Shape;196;p9"/>
          <p:cNvSpPr/>
          <p:nvPr/>
        </p:nvSpPr>
        <p:spPr>
          <a:xfrm>
            <a:off x="950976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E13</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Control Bodega</a:t>
            </a:r>
            <a:endParaRPr/>
          </a:p>
        </p:txBody>
      </p:sp>
      <p:sp>
        <p:nvSpPr>
          <p:cNvPr id="197" name="Google Shape;197;p9"/>
          <p:cNvSpPr txBox="1"/>
          <p:nvPr/>
        </p:nvSpPr>
        <p:spPr>
          <a:xfrm>
            <a:off x="932688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Panel exclusivo para bodegueros, despacho de pedidos en tiempo real y regularización de stock.</a:t>
            </a:r>
            <a:endParaRPr/>
          </a:p>
        </p:txBody>
      </p:sp>
      <p:sp>
        <p:nvSpPr>
          <p:cNvPr id="198" name="Google Shape;198;p9"/>
          <p:cNvSpPr txBox="1"/>
          <p:nvPr>
            <p:ph idx="12" type="sldNum"/>
          </p:nvPr>
        </p:nvSpPr>
        <p:spPr>
          <a:xfrm>
            <a:off x="9509738"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9FF"/>
        </a:solidFill>
      </p:bgPr>
    </p:bg>
    <p:spTree>
      <p:nvGrpSpPr>
        <p:cNvPr id="203" name="Shape 203"/>
        <p:cNvGrpSpPr/>
        <p:nvPr/>
      </p:nvGrpSpPr>
      <p:grpSpPr>
        <a:xfrm>
          <a:off x="0" y="0"/>
          <a:ext cx="0" cy="0"/>
          <a:chOff x="0" y="0"/>
          <a:chExt cx="0" cy="0"/>
        </a:xfrm>
      </p:grpSpPr>
      <p:sp>
        <p:nvSpPr>
          <p:cNvPr id="204" name="Google Shape;204;p1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Historias de Usuario Críticas y Estimaciones de Esfuerzo</a:t>
            </a:r>
            <a:endParaRPr/>
          </a:p>
        </p:txBody>
      </p:sp>
      <p:sp>
        <p:nvSpPr>
          <p:cNvPr id="205" name="Google Shape;205;p15"/>
          <p:cNvSpPr/>
          <p:nvPr/>
        </p:nvSpPr>
        <p:spPr>
          <a:xfrm>
            <a:off x="45720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CLIENTE / COMPRADOR</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E02-H06 (100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cliente, quiero visualizar el catálogo dinámico de productos para explorar la vitrina comercial de marcas capilares."</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E03-H11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cliente, quiero abrir un carrito de compras lateral persistente para revisar los productos seleccionados sin salir del catálogo."</a:t>
            </a:r>
            <a:endParaRPr/>
          </a:p>
        </p:txBody>
      </p:sp>
      <p:sp>
        <p:nvSpPr>
          <p:cNvPr id="206" name="Google Shape;206;p15"/>
          <p:cNvSpPr/>
          <p:nvPr/>
        </p:nvSpPr>
        <p:spPr>
          <a:xfrm>
            <a:off x="329184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ADMINISTRADOR</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E08-H26 (90 Puntos / </a:t>
            </a:r>
            <a:r>
              <a:rPr lang="en-US" sz="950">
                <a:solidFill>
                  <a:srgbClr val="1E293B"/>
                </a:solidFill>
                <a:latin typeface="Arial"/>
                <a:ea typeface="Arial"/>
                <a:cs typeface="Arial"/>
                <a:sym typeface="Arial"/>
              </a:rPr>
              <a:t>Alta</a:t>
            </a:r>
            <a:r>
              <a:rPr b="0" i="0" lang="en-US" sz="950">
                <a:solidFill>
                  <a:srgbClr val="1E293B"/>
                </a:solidFill>
                <a:latin typeface="Arial"/>
                <a:ea typeface="Arial"/>
                <a:cs typeface="Arial"/>
                <a:sym typeface="Arial"/>
              </a:rPr>
              <a:t>):</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administrador, quiero crear, editar y eliminar productos del catálogo para mantener el catálogo actualizado."</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E09-H30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administrador, quiero visualizar métricas de productos destacados y stock bajo para monitorear el negocio."</a:t>
            </a:r>
            <a:endParaRPr/>
          </a:p>
        </p:txBody>
      </p:sp>
      <p:sp>
        <p:nvSpPr>
          <p:cNvPr id="207" name="Google Shape;207;p15"/>
          <p:cNvSpPr/>
          <p:nvPr/>
        </p:nvSpPr>
        <p:spPr>
          <a:xfrm>
            <a:off x="612648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C2410C"/>
                </a:solidFill>
                <a:latin typeface="Arial"/>
                <a:ea typeface="Arial"/>
                <a:cs typeface="Arial"/>
                <a:sym typeface="Arial"/>
              </a:rPr>
              <a:t>BODEGUERO</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E13-H44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bodeguero, quiero acceder a un panel exclusivo limitado para operar solo las tareas de mi rol."</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E13-H45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bodeguero, quiero marcar productos como agotados de forma inmediata para que dejen de ofrecerse en la web."</a:t>
            </a:r>
            <a:endParaRPr/>
          </a:p>
        </p:txBody>
      </p:sp>
      <p:sp>
        <p:nvSpPr>
          <p:cNvPr id="208" name="Google Shape;208;p15"/>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SISTEMA / INVITADO</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E01-H02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visitante, quiero registrarme ingresando mis datos para contar con una cuenta transaccional."</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E01-H05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sistema, quiero restringir rutas e interfaces según el rol del usuario para evitar accesos no autorizados."</a:t>
            </a:r>
            <a:endParaRPr/>
          </a:p>
        </p:txBody>
      </p:sp>
      <p:sp>
        <p:nvSpPr>
          <p:cNvPr id="209" name="Google Shape;209;p15"/>
          <p:cNvSpPr txBox="1"/>
          <p:nvPr>
            <p:ph idx="12" type="sldNum"/>
          </p:nvPr>
        </p:nvSpPr>
        <p:spPr>
          <a:xfrm>
            <a:off x="9600900" y="63097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14" name="Shape 214"/>
        <p:cNvGrpSpPr/>
        <p:nvPr/>
      </p:nvGrpSpPr>
      <p:grpSpPr>
        <a:xfrm>
          <a:off x="0" y="0"/>
          <a:ext cx="0" cy="0"/>
          <a:chOff x="0" y="0"/>
          <a:chExt cx="0" cy="0"/>
        </a:xfrm>
      </p:grpSpPr>
      <p:sp>
        <p:nvSpPr>
          <p:cNvPr id="215" name="Google Shape;215;p16"/>
          <p:cNvSpPr txBox="1"/>
          <p:nvPr>
            <p:ph idx="12" type="sldNum"/>
          </p:nvPr>
        </p:nvSpPr>
        <p:spPr>
          <a:xfrm>
            <a:off x="9896650" y="61542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16" name="Google Shape;216;p16"/>
          <p:cNvPicPr preferRelativeResize="0"/>
          <p:nvPr/>
        </p:nvPicPr>
        <p:blipFill>
          <a:blip r:embed="rId3">
            <a:alphaModFix/>
          </a:blip>
          <a:stretch>
            <a:fillRect/>
          </a:stretch>
        </p:blipFill>
        <p:spPr>
          <a:xfrm>
            <a:off x="0" y="3835800"/>
            <a:ext cx="12219575" cy="430775"/>
          </a:xfrm>
          <a:prstGeom prst="rect">
            <a:avLst/>
          </a:prstGeom>
          <a:solidFill>
            <a:srgbClr val="FFFFFF"/>
          </a:solidFill>
          <a:ln cap="flat" cmpd="sng" w="19050">
            <a:solidFill>
              <a:schemeClr val="lt1"/>
            </a:solidFill>
            <a:prstDash val="solid"/>
            <a:round/>
            <a:headEnd len="sm" w="sm" type="none"/>
            <a:tailEnd len="sm" w="sm" type="none"/>
          </a:ln>
        </p:spPr>
      </p:pic>
      <p:pic>
        <p:nvPicPr>
          <p:cNvPr id="217" name="Google Shape;217;p16"/>
          <p:cNvPicPr preferRelativeResize="0"/>
          <p:nvPr/>
        </p:nvPicPr>
        <p:blipFill>
          <a:blip r:embed="rId4">
            <a:alphaModFix/>
          </a:blip>
          <a:stretch>
            <a:fillRect/>
          </a:stretch>
        </p:blipFill>
        <p:spPr>
          <a:xfrm>
            <a:off x="13788" y="1823"/>
            <a:ext cx="12191998" cy="6854353"/>
          </a:xfrm>
          <a:prstGeom prst="rect">
            <a:avLst/>
          </a:prstGeom>
          <a:solidFill>
            <a:srgbClr val="FFFFFF"/>
          </a:solidFill>
          <a:ln cap="flat" cmpd="sng" w="19050">
            <a:solidFill>
              <a:schemeClr val="lt1"/>
            </a:solidFill>
            <a:prstDash val="solid"/>
            <a:round/>
            <a:headEnd len="sm" w="sm" type="none"/>
            <a:tailEnd len="sm" w="sm" type="none"/>
          </a:ln>
        </p:spPr>
      </p:pic>
      <p:sp>
        <p:nvSpPr>
          <p:cNvPr id="218" name="Google Shape;218;p16"/>
          <p:cNvSpPr txBox="1"/>
          <p:nvPr>
            <p:ph idx="12" type="sldNum"/>
          </p:nvPr>
        </p:nvSpPr>
        <p:spPr>
          <a:xfrm>
            <a:off x="9712200" y="63538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23" name="Shape 223"/>
        <p:cNvGrpSpPr/>
        <p:nvPr/>
      </p:nvGrpSpPr>
      <p:grpSpPr>
        <a:xfrm>
          <a:off x="0" y="0"/>
          <a:ext cx="0" cy="0"/>
          <a:chOff x="0" y="0"/>
          <a:chExt cx="0" cy="0"/>
        </a:xfrm>
      </p:grpSpPr>
      <p:sp>
        <p:nvSpPr>
          <p:cNvPr id="224" name="Google Shape;224;p10"/>
          <p:cNvSpPr txBox="1"/>
          <p:nvPr/>
        </p:nvSpPr>
        <p:spPr>
          <a:xfrm>
            <a:off x="457350" y="213875"/>
            <a:ext cx="112773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Arquitectura del Sistema: Diseño Desacoplado y Consumo de IA</a:t>
            </a:r>
            <a:endParaRPr/>
          </a:p>
        </p:txBody>
      </p:sp>
      <p:sp>
        <p:nvSpPr>
          <p:cNvPr id="225" name="Google Shape;225;p10"/>
          <p:cNvSpPr txBox="1"/>
          <p:nvPr>
            <p:ph idx="12" type="sldNum"/>
          </p:nvPr>
        </p:nvSpPr>
        <p:spPr>
          <a:xfrm>
            <a:off x="9600900" y="6309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6" name="Google Shape;226;p10"/>
          <p:cNvPicPr preferRelativeResize="0"/>
          <p:nvPr/>
        </p:nvPicPr>
        <p:blipFill>
          <a:blip r:embed="rId3">
            <a:alphaModFix/>
          </a:blip>
          <a:stretch>
            <a:fillRect/>
          </a:stretch>
        </p:blipFill>
        <p:spPr>
          <a:xfrm>
            <a:off x="1169600" y="838600"/>
            <a:ext cx="9919601" cy="568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1" name="Shape 231"/>
        <p:cNvGrpSpPr/>
        <p:nvPr/>
      </p:nvGrpSpPr>
      <p:grpSpPr>
        <a:xfrm>
          <a:off x="0" y="0"/>
          <a:ext cx="0" cy="0"/>
          <a:chOff x="0" y="0"/>
          <a:chExt cx="0" cy="0"/>
        </a:xfrm>
      </p:grpSpPr>
      <p:sp>
        <p:nvSpPr>
          <p:cNvPr id="232" name="Google Shape;232;p11"/>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Metodología Ágil: Adaptación del Marco Scrum en Monsite</a:t>
            </a:r>
            <a:endParaRPr/>
          </a:p>
        </p:txBody>
      </p:sp>
      <p:sp>
        <p:nvSpPr>
          <p:cNvPr id="233" name="Google Shape;233;p11"/>
          <p:cNvSpPr/>
          <p:nvPr/>
        </p:nvSpPr>
        <p:spPr>
          <a:xfrm>
            <a:off x="4480560" y="1921555"/>
            <a:ext cx="3200400" cy="3200400"/>
          </a:xfrm>
          <a:prstGeom prst="ellipse">
            <a:avLst/>
          </a:prstGeom>
          <a:solidFill>
            <a:srgbClr val="1E293B"/>
          </a:solidFill>
          <a:ln cap="flat" cmpd="sng" w="381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1005825">
            <a:noAutofit/>
          </a:bodyPr>
          <a:lstStyle/>
          <a:p>
            <a:pPr indent="0" lvl="0" marL="0" marR="0" rtl="0" algn="l">
              <a:spcBef>
                <a:spcPts val="0"/>
              </a:spcBef>
              <a:spcAft>
                <a:spcPts val="0"/>
              </a:spcAft>
              <a:buNone/>
            </a:pPr>
            <a:r>
              <a:t/>
            </a:r>
            <a:endParaRPr/>
          </a:p>
        </p:txBody>
      </p:sp>
      <p:sp>
        <p:nvSpPr>
          <p:cNvPr id="234" name="Google Shape;234;p11"/>
          <p:cNvSpPr/>
          <p:nvPr/>
        </p:nvSpPr>
        <p:spPr>
          <a:xfrm>
            <a:off x="731520" y="1280160"/>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1. Product Backlog</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Registro priorizado de las 47 historias de usuario con puntajes de esfuerzo estimadas.</a:t>
            </a:r>
            <a:endParaRPr/>
          </a:p>
        </p:txBody>
      </p:sp>
      <p:sp>
        <p:nvSpPr>
          <p:cNvPr id="235" name="Google Shape;235;p11"/>
          <p:cNvSpPr/>
          <p:nvPr/>
        </p:nvSpPr>
        <p:spPr>
          <a:xfrm>
            <a:off x="8138160" y="1280160"/>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2. Sprint Planning</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Reunión de planificación al inicio de cada sprint de </a:t>
            </a:r>
            <a:r>
              <a:rPr lang="en-US" sz="1000">
                <a:solidFill>
                  <a:srgbClr val="F1F5F9"/>
                </a:solidFill>
              </a:rPr>
              <a:t>3</a:t>
            </a:r>
            <a:r>
              <a:rPr b="0" i="0" lang="en-US" sz="1000">
                <a:solidFill>
                  <a:srgbClr val="F1F5F9"/>
                </a:solidFill>
                <a:latin typeface="Arial"/>
                <a:ea typeface="Arial"/>
                <a:cs typeface="Arial"/>
                <a:sym typeface="Arial"/>
              </a:rPr>
              <a:t> semanas para seleccionar entregables.</a:t>
            </a:r>
            <a:endParaRPr/>
          </a:p>
        </p:txBody>
      </p:sp>
      <p:sp>
        <p:nvSpPr>
          <p:cNvPr id="236" name="Google Shape;236;p11"/>
          <p:cNvSpPr/>
          <p:nvPr/>
        </p:nvSpPr>
        <p:spPr>
          <a:xfrm>
            <a:off x="731520" y="3749039"/>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3. Daily Scrum</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Sesiones breves diarias de sincronización para coordinar frontend, backend e IA y levantar obstáculos.</a:t>
            </a:r>
            <a:endParaRPr/>
          </a:p>
        </p:txBody>
      </p:sp>
      <p:sp>
        <p:nvSpPr>
          <p:cNvPr id="237" name="Google Shape;237;p11"/>
          <p:cNvSpPr/>
          <p:nvPr/>
        </p:nvSpPr>
        <p:spPr>
          <a:xfrm>
            <a:off x="8138160" y="3749039"/>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4. Sprint Review</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Demostración de los incrementos funcionales desarrollados al cliente de Monsite para validar UX.</a:t>
            </a:r>
            <a:endParaRPr/>
          </a:p>
        </p:txBody>
      </p:sp>
      <p:sp>
        <p:nvSpPr>
          <p:cNvPr id="238" name="Google Shape;238;p11"/>
          <p:cNvSpPr/>
          <p:nvPr/>
        </p:nvSpPr>
        <p:spPr>
          <a:xfrm>
            <a:off x="4480560" y="5303520"/>
            <a:ext cx="411480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5. Retrospective</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Reuniones de retrospectiva al cierre de cada sprint para acordar mejoras del proceso interno.</a:t>
            </a:r>
            <a:endParaRPr/>
          </a:p>
        </p:txBody>
      </p:sp>
      <p:sp>
        <p:nvSpPr>
          <p:cNvPr id="239" name="Google Shape;239;p11"/>
          <p:cNvSpPr txBox="1"/>
          <p:nvPr>
            <p:ph idx="12" type="sldNum"/>
          </p:nvPr>
        </p:nvSpPr>
        <p:spPr>
          <a:xfrm>
            <a:off x="960090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40" name="Google Shape;240;p11"/>
          <p:cNvSpPr txBox="1"/>
          <p:nvPr/>
        </p:nvSpPr>
        <p:spPr>
          <a:xfrm>
            <a:off x="5178800" y="2977825"/>
            <a:ext cx="1803900" cy="17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b="1" lang="en-US" sz="1600">
                <a:solidFill>
                  <a:srgbClr val="14B8A6"/>
                </a:solidFill>
                <a:latin typeface="Georgia"/>
                <a:ea typeface="Georgia"/>
                <a:cs typeface="Georgia"/>
                <a:sym typeface="Georgia"/>
              </a:rPr>
              <a:t>SCRUM</a:t>
            </a:r>
            <a:br>
              <a:rPr b="1" lang="en-US" sz="1600">
                <a:solidFill>
                  <a:srgbClr val="14B8A6"/>
                </a:solidFill>
                <a:latin typeface="Georgia"/>
                <a:ea typeface="Georgia"/>
                <a:cs typeface="Georgia"/>
                <a:sym typeface="Georgia"/>
              </a:rPr>
            </a:br>
            <a:r>
              <a:rPr b="1" lang="en-US" sz="1600">
                <a:solidFill>
                  <a:srgbClr val="14B8A6"/>
                </a:solidFill>
                <a:latin typeface="Georgia"/>
                <a:ea typeface="Georgia"/>
                <a:cs typeface="Georgia"/>
                <a:sym typeface="Georgia"/>
              </a:rPr>
              <a:t>Mediante Sprints</a:t>
            </a:r>
            <a:endParaRPr>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45" name="Shape 245"/>
        <p:cNvGrpSpPr/>
        <p:nvPr/>
      </p:nvGrpSpPr>
      <p:grpSpPr>
        <a:xfrm>
          <a:off x="0" y="0"/>
          <a:ext cx="0" cy="0"/>
          <a:chOff x="0" y="0"/>
          <a:chExt cx="0" cy="0"/>
        </a:xfrm>
      </p:grpSpPr>
      <p:sp>
        <p:nvSpPr>
          <p:cNvPr id="246" name="Google Shape;246;p1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Equipo de Trabajo: Roles Metodológicos y Responsabilidades</a:t>
            </a:r>
            <a:endParaRPr/>
          </a:p>
        </p:txBody>
      </p:sp>
      <p:sp>
        <p:nvSpPr>
          <p:cNvPr id="247" name="Google Shape;247;p12"/>
          <p:cNvSpPr/>
          <p:nvPr/>
        </p:nvSpPr>
        <p:spPr>
          <a:xfrm>
            <a:off x="45720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Benjamín Stavrakopulos</a:t>
            </a:r>
            <a:endParaRPr b="1" i="0" sz="1300">
              <a:solidFill>
                <a:srgbClr val="1E293B"/>
              </a:solidFill>
              <a:latin typeface="Georgia"/>
              <a:ea typeface="Georgia"/>
              <a:cs typeface="Georgia"/>
              <a:sym typeface="Georgia"/>
            </a:endParaRPr>
          </a:p>
          <a:p>
            <a:pPr indent="0" lvl="0" marL="0" marR="0" rtl="0" algn="ctr">
              <a:spcBef>
                <a:spcPts val="200"/>
              </a:spcBef>
              <a:spcAft>
                <a:spcPts val="0"/>
              </a:spcAft>
              <a:buNone/>
            </a:pPr>
            <a:r>
              <a:rPr b="1" lang="en-US" sz="900">
                <a:solidFill>
                  <a:srgbClr val="14B8A6"/>
                </a:solidFill>
              </a:rPr>
              <a:t>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Organización, Backend e Integración</a:t>
            </a:r>
            <a:endParaRPr b="1" i="0" sz="900">
              <a:solidFill>
                <a:srgbClr val="14B8A6"/>
              </a:solidFill>
              <a:latin typeface="Arial"/>
              <a:ea typeface="Arial"/>
              <a:cs typeface="Arial"/>
              <a:sym typeface="Arial"/>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Priorización del backlog del negocio.</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Codificación del backend en Express.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Diseño del esquema Firestore y almacenamiento de datos.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Integración de webhooks y Checkout Pro de Mercado Pago.</a:t>
            </a:r>
            <a:endParaRPr/>
          </a:p>
        </p:txBody>
      </p:sp>
      <p:sp>
        <p:nvSpPr>
          <p:cNvPr id="248" name="Google Shape;248;p12"/>
          <p:cNvSpPr/>
          <p:nvPr/>
        </p:nvSpPr>
        <p:spPr>
          <a:xfrm>
            <a:off x="141732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BS</a:t>
            </a:r>
            <a:endParaRPr/>
          </a:p>
        </p:txBody>
      </p:sp>
      <p:sp>
        <p:nvSpPr>
          <p:cNvPr id="249" name="Google Shape;249;p12"/>
          <p:cNvSpPr/>
          <p:nvPr/>
        </p:nvSpPr>
        <p:spPr>
          <a:xfrm>
            <a:off x="329184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Bastián Lazo</a:t>
            </a:r>
            <a:endParaRPr/>
          </a:p>
          <a:p>
            <a:pPr indent="0" lvl="0" marL="0" marR="0" rtl="0" algn="ctr">
              <a:spcBef>
                <a:spcPts val="200"/>
              </a:spcBef>
              <a:spcAft>
                <a:spcPts val="0"/>
              </a:spcAft>
              <a:buNone/>
            </a:pPr>
            <a:r>
              <a:rPr b="1" i="0" lang="en-US" sz="900">
                <a:solidFill>
                  <a:srgbClr val="14B8A6"/>
                </a:solidFill>
                <a:latin typeface="Arial"/>
                <a:ea typeface="Arial"/>
                <a:cs typeface="Arial"/>
                <a:sym typeface="Arial"/>
              </a:rPr>
              <a:t>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Desarrollo e Inteligencia Artificial</a:t>
            </a:r>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Preparación y preprocesamiento de imágenes capilares.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Entrenamiento y ajuste de curvas del modelo ResNet50.</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Programación de la API de inferencia en FastAPI.</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Apoyo en código general.</a:t>
            </a:r>
            <a:endParaRPr/>
          </a:p>
        </p:txBody>
      </p:sp>
      <p:sp>
        <p:nvSpPr>
          <p:cNvPr id="250" name="Google Shape;250;p12"/>
          <p:cNvSpPr/>
          <p:nvPr/>
        </p:nvSpPr>
        <p:spPr>
          <a:xfrm>
            <a:off x="425196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BL</a:t>
            </a:r>
            <a:endParaRPr/>
          </a:p>
        </p:txBody>
      </p:sp>
      <p:sp>
        <p:nvSpPr>
          <p:cNvPr id="251" name="Google Shape;251;p12"/>
          <p:cNvSpPr/>
          <p:nvPr/>
        </p:nvSpPr>
        <p:spPr>
          <a:xfrm>
            <a:off x="612648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Francisca Guzmán</a:t>
            </a:r>
            <a:endParaRPr/>
          </a:p>
          <a:p>
            <a:pPr indent="0" lvl="0" marL="0" marR="0" rtl="0" algn="ctr">
              <a:spcBef>
                <a:spcPts val="200"/>
              </a:spcBef>
              <a:spcAft>
                <a:spcPts val="0"/>
              </a:spcAft>
              <a:buNone/>
            </a:pPr>
            <a:r>
              <a:rPr b="1" i="0" lang="en-US" sz="900">
                <a:solidFill>
                  <a:srgbClr val="14B8A6"/>
                </a:solidFill>
                <a:latin typeface="Arial"/>
                <a:ea typeface="Arial"/>
                <a:cs typeface="Arial"/>
                <a:sym typeface="Arial"/>
              </a:rPr>
              <a:t>SCRUM MASTER / 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Diseño, UX/UI y Documentación</a:t>
            </a:r>
            <a:endParaRPr b="1" i="0" sz="900">
              <a:solidFill>
                <a:srgbClr val="14B8A6"/>
              </a:solidFill>
              <a:latin typeface="Arial"/>
              <a:ea typeface="Arial"/>
              <a:cs typeface="Arial"/>
              <a:sym typeface="Arial"/>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Facilitadora de rituales y control ágil.</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Creación de prototipos del MVP en Figma.</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Desarrollo de maquetación responsiva en Frontend.</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Control documental y registro de evidencias de avance.</a:t>
            </a:r>
            <a:endParaRPr/>
          </a:p>
        </p:txBody>
      </p:sp>
      <p:sp>
        <p:nvSpPr>
          <p:cNvPr id="252" name="Google Shape;252;p12"/>
          <p:cNvSpPr/>
          <p:nvPr/>
        </p:nvSpPr>
        <p:spPr>
          <a:xfrm>
            <a:off x="708660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FG</a:t>
            </a:r>
            <a:endParaRPr/>
          </a:p>
        </p:txBody>
      </p:sp>
      <p:sp>
        <p:nvSpPr>
          <p:cNvPr id="253" name="Google Shape;253;p12"/>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lang="en-US" sz="1300">
                <a:solidFill>
                  <a:srgbClr val="1E293B"/>
                </a:solidFill>
                <a:latin typeface="Georgia"/>
                <a:ea typeface="Georgia"/>
                <a:cs typeface="Georgia"/>
                <a:sym typeface="Georgia"/>
              </a:rPr>
              <a:t>Pablo Briones</a:t>
            </a:r>
            <a:endParaRPr b="1" i="0" sz="1300">
              <a:solidFill>
                <a:srgbClr val="1E293B"/>
              </a:solidFill>
              <a:latin typeface="Georgia"/>
              <a:ea typeface="Georgia"/>
              <a:cs typeface="Georgia"/>
              <a:sym typeface="Georgia"/>
            </a:endParaRPr>
          </a:p>
          <a:p>
            <a:pPr indent="0" lvl="0" marL="0" marR="0" rtl="0" algn="ctr">
              <a:spcBef>
                <a:spcPts val="200"/>
              </a:spcBef>
              <a:spcAft>
                <a:spcPts val="0"/>
              </a:spcAft>
              <a:buNone/>
            </a:pPr>
            <a:r>
              <a:rPr b="1" lang="en-US" sz="900">
                <a:solidFill>
                  <a:srgbClr val="C2410C"/>
                </a:solidFill>
              </a:rPr>
              <a:t>PRODUCT OWNER</a:t>
            </a:r>
            <a:br>
              <a:rPr b="1" i="0" lang="en-US" sz="900">
                <a:solidFill>
                  <a:srgbClr val="C2410C"/>
                </a:solidFill>
                <a:latin typeface="Arial"/>
                <a:ea typeface="Arial"/>
                <a:cs typeface="Arial"/>
                <a:sym typeface="Arial"/>
              </a:rPr>
            </a:br>
            <a:r>
              <a:rPr b="1" i="0" lang="en-US" sz="900">
                <a:solidFill>
                  <a:srgbClr val="C2410C"/>
                </a:solidFill>
                <a:latin typeface="Arial"/>
                <a:ea typeface="Arial"/>
                <a:cs typeface="Arial"/>
                <a:sym typeface="Arial"/>
              </a:rPr>
              <a:t>Contraparte Comercial del Salón</a:t>
            </a:r>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Detalle de reglas operativas comerciales.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Validación de wireframes y prototipos.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Provisión de catálogo de marcas y datos de stock.</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Recepción y feedback en Sprint Reviews.</a:t>
            </a:r>
            <a:endParaRPr/>
          </a:p>
        </p:txBody>
      </p:sp>
      <p:sp>
        <p:nvSpPr>
          <p:cNvPr id="254" name="Google Shape;254;p12"/>
          <p:cNvSpPr/>
          <p:nvPr/>
        </p:nvSpPr>
        <p:spPr>
          <a:xfrm>
            <a:off x="9921240" y="1554480"/>
            <a:ext cx="640080" cy="64008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CM</a:t>
            </a:r>
            <a:endParaRPr/>
          </a:p>
        </p:txBody>
      </p:sp>
      <p:sp>
        <p:nvSpPr>
          <p:cNvPr id="255" name="Google Shape;255;p12"/>
          <p:cNvSpPr txBox="1"/>
          <p:nvPr>
            <p:ph idx="12" type="sldNum"/>
          </p:nvPr>
        </p:nvSpPr>
        <p:spPr>
          <a:xfrm>
            <a:off x="9600900" y="62941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0" name="Shape 260"/>
        <p:cNvGrpSpPr/>
        <p:nvPr/>
      </p:nvGrpSpPr>
      <p:grpSpPr>
        <a:xfrm>
          <a:off x="0" y="0"/>
          <a:ext cx="0" cy="0"/>
          <a:chOff x="0" y="0"/>
          <a:chExt cx="0" cy="0"/>
        </a:xfrm>
      </p:grpSpPr>
      <p:sp>
        <p:nvSpPr>
          <p:cNvPr id="261" name="Google Shape;261;p14"/>
          <p:cNvSpPr txBox="1"/>
          <p:nvPr/>
        </p:nvSpPr>
        <p:spPr>
          <a:xfrm>
            <a:off x="457350" y="430900"/>
            <a:ext cx="112773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Evidencias de Avance: Artefactos Metodológicos y de Sprints</a:t>
            </a:r>
            <a:endParaRPr/>
          </a:p>
        </p:txBody>
      </p:sp>
      <p:sp>
        <p:nvSpPr>
          <p:cNvPr id="262" name="Google Shape;262;p14"/>
          <p:cNvSpPr txBox="1"/>
          <p:nvPr/>
        </p:nvSpPr>
        <p:spPr>
          <a:xfrm>
            <a:off x="457350" y="134530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ARTEFACTOS DE GESTIÓN ÁGIL (SCRUM)</a:t>
            </a:r>
            <a:endParaRPr/>
          </a:p>
        </p:txBody>
      </p:sp>
      <p:sp>
        <p:nvSpPr>
          <p:cNvPr id="263" name="Google Shape;263;p14"/>
          <p:cNvSpPr/>
          <p:nvPr/>
        </p:nvSpPr>
        <p:spPr>
          <a:xfrm>
            <a:off x="45735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Product Backlog Priorizado (Historias con Criterios de Aceptación)</a:t>
            </a:r>
            <a:endParaRPr/>
          </a:p>
        </p:txBody>
      </p:sp>
      <p:sp>
        <p:nvSpPr>
          <p:cNvPr id="264" name="Google Shape;264;p14"/>
          <p:cNvSpPr/>
          <p:nvPr/>
        </p:nvSpPr>
        <p:spPr>
          <a:xfrm>
            <a:off x="429783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Sprint Backlog de Actividades (Planificación Semanal de Tareas)</a:t>
            </a:r>
            <a:endParaRPr/>
          </a:p>
        </p:txBody>
      </p:sp>
      <p:sp>
        <p:nvSpPr>
          <p:cNvPr id="265" name="Google Shape;265;p14"/>
          <p:cNvSpPr/>
          <p:nvPr/>
        </p:nvSpPr>
        <p:spPr>
          <a:xfrm>
            <a:off x="813831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Burndown Chart (Velocidad de Quemado y Estimación Temporal)</a:t>
            </a:r>
            <a:endParaRPr/>
          </a:p>
        </p:txBody>
      </p:sp>
      <p:sp>
        <p:nvSpPr>
          <p:cNvPr id="266" name="Google Shape;266;p14"/>
          <p:cNvSpPr txBox="1"/>
          <p:nvPr/>
        </p:nvSpPr>
        <p:spPr>
          <a:xfrm>
            <a:off x="457350" y="299122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DOCUMENTOS DE CONTROL Y SEGUIMIENTO</a:t>
            </a:r>
            <a:endParaRPr/>
          </a:p>
        </p:txBody>
      </p:sp>
      <p:sp>
        <p:nvSpPr>
          <p:cNvPr id="267" name="Google Shape;267;p14"/>
          <p:cNvSpPr/>
          <p:nvPr/>
        </p:nvSpPr>
        <p:spPr>
          <a:xfrm>
            <a:off x="45735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Kanban Board de Tareas (Pendiente, En Proceso, Review, Terminado)</a:t>
            </a:r>
            <a:endParaRPr/>
          </a:p>
        </p:txBody>
      </p:sp>
      <p:sp>
        <p:nvSpPr>
          <p:cNvPr id="268" name="Google Shape;268;p14"/>
          <p:cNvSpPr/>
          <p:nvPr/>
        </p:nvSpPr>
        <p:spPr>
          <a:xfrm>
            <a:off x="429783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Planilla de Control y Mitigación de Riesgos del Proyecto</a:t>
            </a:r>
            <a:endParaRPr/>
          </a:p>
        </p:txBody>
      </p:sp>
      <p:sp>
        <p:nvSpPr>
          <p:cNvPr id="269" name="Google Shape;269;p14"/>
          <p:cNvSpPr/>
          <p:nvPr/>
        </p:nvSpPr>
        <p:spPr>
          <a:xfrm>
            <a:off x="813831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Impediment Log (Control de Retrasos en Firebase, Mercado Pago y APIs)</a:t>
            </a:r>
            <a:endParaRPr/>
          </a:p>
        </p:txBody>
      </p:sp>
      <p:sp>
        <p:nvSpPr>
          <p:cNvPr id="270" name="Google Shape;270;p14"/>
          <p:cNvSpPr txBox="1"/>
          <p:nvPr/>
        </p:nvSpPr>
        <p:spPr>
          <a:xfrm>
            <a:off x="457350" y="463714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RITUALES DE SOFTWARE E INCREMENTOS FUNCIONALES</a:t>
            </a:r>
            <a:endParaRPr/>
          </a:p>
        </p:txBody>
      </p:sp>
      <p:sp>
        <p:nvSpPr>
          <p:cNvPr id="271" name="Google Shape;271;p14"/>
          <p:cNvSpPr/>
          <p:nvPr/>
        </p:nvSpPr>
        <p:spPr>
          <a:xfrm>
            <a:off x="45735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Daily Meetings Logs &amp; Minutas de Sprint Reviews</a:t>
            </a:r>
            <a:endParaRPr/>
          </a:p>
        </p:txBody>
      </p:sp>
      <p:sp>
        <p:nvSpPr>
          <p:cNvPr id="272" name="Google Shape;272;p14"/>
          <p:cNvSpPr/>
          <p:nvPr/>
        </p:nvSpPr>
        <p:spPr>
          <a:xfrm>
            <a:off x="429783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Modelos de Datos (UML, Diagramas de Flujo y Firestore Schema)</a:t>
            </a:r>
            <a:endParaRPr/>
          </a:p>
        </p:txBody>
      </p:sp>
      <p:sp>
        <p:nvSpPr>
          <p:cNvPr id="273" name="Google Shape;273;p14"/>
          <p:cNvSpPr/>
          <p:nvPr/>
        </p:nvSpPr>
        <p:spPr>
          <a:xfrm>
            <a:off x="813831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Incrementos del Software MVP Operativo (Catálogo Firestore, Auth)</a:t>
            </a:r>
            <a:endParaRPr/>
          </a:p>
        </p:txBody>
      </p:sp>
      <p:sp>
        <p:nvSpPr>
          <p:cNvPr id="274" name="Google Shape;274;p14"/>
          <p:cNvSpPr txBox="1"/>
          <p:nvPr>
            <p:ph idx="12" type="sldNum"/>
          </p:nvPr>
        </p:nvSpPr>
        <p:spPr>
          <a:xfrm>
            <a:off x="9741000" y="62830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9" name="Shape 279"/>
        <p:cNvGrpSpPr/>
        <p:nvPr/>
      </p:nvGrpSpPr>
      <p:grpSpPr>
        <a:xfrm>
          <a:off x="0" y="0"/>
          <a:ext cx="0" cy="0"/>
          <a:chOff x="0" y="0"/>
          <a:chExt cx="0" cy="0"/>
        </a:xfrm>
      </p:grpSpPr>
      <p:sp>
        <p:nvSpPr>
          <p:cNvPr id="280" name="Google Shape;280;p18"/>
          <p:cNvSpPr txBox="1"/>
          <p:nvPr/>
        </p:nvSpPr>
        <p:spPr>
          <a:xfrm>
            <a:off x="457200" y="219456"/>
            <a:ext cx="1127729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Cronograma del Proyecto y Carta Gantt</a:t>
            </a:r>
            <a:endParaRPr/>
          </a:p>
        </p:txBody>
      </p:sp>
      <p:sp>
        <p:nvSpPr>
          <p:cNvPr id="281" name="Google Shape;281;p18"/>
          <p:cNvSpPr txBox="1"/>
          <p:nvPr>
            <p:ph idx="12" type="sldNum"/>
          </p:nvPr>
        </p:nvSpPr>
        <p:spPr>
          <a:xfrm>
            <a:off x="9600900" y="63831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82" name="Google Shape;282;p18" title="ChatGPT Image 5 sept 2026, 08_17_50 p.m..png"/>
          <p:cNvPicPr preferRelativeResize="0"/>
          <p:nvPr/>
        </p:nvPicPr>
        <p:blipFill>
          <a:blip r:embed="rId3">
            <a:alphaModFix/>
          </a:blip>
          <a:stretch>
            <a:fillRect/>
          </a:stretch>
        </p:blipFill>
        <p:spPr>
          <a:xfrm>
            <a:off x="0" y="1078975"/>
            <a:ext cx="12192000" cy="487557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7" name="Shape 287"/>
        <p:cNvGrpSpPr/>
        <p:nvPr/>
      </p:nvGrpSpPr>
      <p:grpSpPr>
        <a:xfrm>
          <a:off x="0" y="0"/>
          <a:ext cx="0" cy="0"/>
          <a:chOff x="0" y="0"/>
          <a:chExt cx="0" cy="0"/>
        </a:xfrm>
      </p:grpSpPr>
      <p:sp>
        <p:nvSpPr>
          <p:cNvPr id="288" name="Google Shape;288;p1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Conclusiones: Sinergia de Ingeniería Informática y Escalabilidad</a:t>
            </a:r>
            <a:endParaRPr/>
          </a:p>
        </p:txBody>
      </p:sp>
      <p:sp>
        <p:nvSpPr>
          <p:cNvPr id="289" name="Google Shape;289;p19"/>
          <p:cNvSpPr txBox="1"/>
          <p:nvPr/>
        </p:nvSpPr>
        <p:spPr>
          <a:xfrm>
            <a:off x="457075" y="1840025"/>
            <a:ext cx="3383400" cy="251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CONCLUSIONES DEL PROYECTO</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Estabilidad Ágil: La aplicación rigurosa de Scrum (sprints de </a:t>
            </a:r>
            <a:r>
              <a:rPr lang="en-US" sz="1050">
                <a:solidFill>
                  <a:srgbClr val="1E293B"/>
                </a:solidFill>
              </a:rPr>
              <a:t>3</a:t>
            </a:r>
            <a:r>
              <a:rPr b="0" i="0" lang="en-US" sz="1050">
                <a:solidFill>
                  <a:srgbClr val="1E293B"/>
                </a:solidFill>
                <a:latin typeface="Arial"/>
                <a:ea typeface="Arial"/>
                <a:cs typeface="Arial"/>
                <a:sym typeface="Arial"/>
              </a:rPr>
              <a:t> semanas) mitigó tempranamente los riesgos técnicos de la integración del backend con la API de IA.</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Experiencia Diferenciada: La plataforma no es solo un e-commerce, es una herramienta interactiva de venta asistida que suprime barreras de conocimiento del usuario capilar.</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Soberanía Comercial: Monsite recupera el control de su catálogo, promociones, precios y de la estética original de su empaque premium, recuperando el margen.</a:t>
            </a:r>
            <a:endParaRPr/>
          </a:p>
        </p:txBody>
      </p:sp>
      <p:sp>
        <p:nvSpPr>
          <p:cNvPr id="290" name="Google Shape;290;p19"/>
          <p:cNvSpPr txBox="1"/>
          <p:nvPr/>
        </p:nvSpPr>
        <p:spPr>
          <a:xfrm>
            <a:off x="4114738" y="1840025"/>
            <a:ext cx="3383400" cy="2008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14B8A6"/>
                </a:solidFill>
                <a:latin typeface="Arial"/>
                <a:ea typeface="Arial"/>
                <a:cs typeface="Arial"/>
                <a:sym typeface="Arial"/>
              </a:rPr>
              <a:t>PRÓXIMOS PASOS DEL NEGOCIO</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Reentrenamiento Continuo de IA: Ampliar el volumen de imágenes capilares recolectadas para mejorar la precisión del modelo ResNet50.</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Pasarelas de Pago Redundantes: Implementar de forma nativa la integración de Transbank Plus (Webpay) para ofrecer métodos alternativos.</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Despacho Automatizado: Conectar la bodega del sistema mediante APIs directamente con operadores chilenos de mensajería (couriers logísticos).</a:t>
            </a:r>
            <a:endParaRPr/>
          </a:p>
        </p:txBody>
      </p:sp>
      <p:sp>
        <p:nvSpPr>
          <p:cNvPr id="291" name="Google Shape;291;p19"/>
          <p:cNvSpPr/>
          <p:nvPr/>
        </p:nvSpPr>
        <p:spPr>
          <a:xfrm>
            <a:off x="7772400" y="1188725"/>
            <a:ext cx="3962100" cy="36345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9"/>
          <p:cNvSpPr txBox="1"/>
          <p:nvPr/>
        </p:nvSpPr>
        <p:spPr>
          <a:xfrm>
            <a:off x="8229600" y="2011680"/>
            <a:ext cx="3504895" cy="32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a:solidFill>
                  <a:srgbClr val="14B8A6"/>
                </a:solidFill>
                <a:latin typeface="Georgia"/>
                <a:ea typeface="Georgia"/>
                <a:cs typeface="Georgia"/>
                <a:sym typeface="Georgia"/>
              </a:rPr>
              <a:t>SINOPSIS</a:t>
            </a:r>
            <a:endParaRPr/>
          </a:p>
          <a:p>
            <a:pPr indent="0" lvl="0" marL="0" marR="0" rtl="0" algn="l">
              <a:spcBef>
                <a:spcPts val="1400"/>
              </a:spcBef>
              <a:spcAft>
                <a:spcPts val="0"/>
              </a:spcAft>
              <a:buNone/>
            </a:pPr>
            <a:r>
              <a:rPr b="0" i="0" lang="en-US" sz="1300">
                <a:solidFill>
                  <a:srgbClr val="F1F5F9"/>
                </a:solidFill>
                <a:latin typeface="Arial"/>
                <a:ea typeface="Arial"/>
                <a:cs typeface="Arial"/>
                <a:sym typeface="Arial"/>
              </a:rPr>
              <a:t>Se entrega una plataforma e-commerce de venta asistida sólida y validada mediante pruebas que cumple los estándares profesionales del perfil de egreso en Ingeniería Informática.</a:t>
            </a:r>
            <a:endParaRPr/>
          </a:p>
        </p:txBody>
      </p:sp>
      <p:sp>
        <p:nvSpPr>
          <p:cNvPr id="293" name="Google Shape;293;p19"/>
          <p:cNvSpPr txBox="1"/>
          <p:nvPr>
            <p:ph idx="12" type="sldNum"/>
          </p:nvPr>
        </p:nvSpPr>
        <p:spPr>
          <a:xfrm>
            <a:off x="9600900" y="62630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98" name="Shape 298"/>
        <p:cNvGrpSpPr/>
        <p:nvPr/>
      </p:nvGrpSpPr>
      <p:grpSpPr>
        <a:xfrm>
          <a:off x="0" y="0"/>
          <a:ext cx="0" cy="0"/>
          <a:chOff x="0" y="0"/>
          <a:chExt cx="0" cy="0"/>
        </a:xfrm>
      </p:grpSpPr>
      <p:sp>
        <p:nvSpPr>
          <p:cNvPr id="299" name="Google Shape;299;p20"/>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Reflexiones del Equipo: Competencias de Egreso Puestas en Práctica</a:t>
            </a:r>
            <a:endParaRPr/>
          </a:p>
        </p:txBody>
      </p:sp>
      <p:sp>
        <p:nvSpPr>
          <p:cNvPr id="300" name="Google Shape;300;p20"/>
          <p:cNvSpPr/>
          <p:nvPr/>
        </p:nvSpPr>
        <p:spPr>
          <a:xfrm>
            <a:off x="45720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Benjamín Stavrakopulos</a:t>
            </a:r>
            <a:endParaRPr/>
          </a:p>
          <a:p>
            <a:pPr indent="0" lvl="0" marL="0" marR="0" rtl="0" algn="ctr">
              <a:spcBef>
                <a:spcPts val="200"/>
              </a:spcBef>
              <a:spcAft>
                <a:spcPts val="0"/>
              </a:spcAft>
              <a:buNone/>
            </a:pPr>
            <a:r>
              <a:rPr b="1" i="0" lang="en-US" sz="950">
                <a:solidFill>
                  <a:srgbClr val="14B8A6"/>
                </a:solidFill>
                <a:latin typeface="Arial"/>
                <a:ea typeface="Arial"/>
                <a:cs typeface="Arial"/>
                <a:sym typeface="Arial"/>
              </a:rPr>
              <a:t> Backend Developer</a:t>
            </a:r>
            <a:endParaRPr/>
          </a:p>
          <a:p>
            <a:pPr indent="0" lvl="0" marL="0" marR="0" rtl="0" algn="l">
              <a:spcBef>
                <a:spcPts val="1600"/>
              </a:spcBef>
              <a:spcAft>
                <a:spcPts val="0"/>
              </a:spcAft>
              <a:buNone/>
            </a:pPr>
            <a:r>
              <a:rPr b="0" i="1" lang="en-US" sz="1050">
                <a:solidFill>
                  <a:srgbClr val="1E293B"/>
                </a:solidFill>
                <a:latin typeface="Arial"/>
                <a:ea typeface="Arial"/>
                <a:cs typeface="Arial"/>
                <a:sym typeface="Arial"/>
              </a:rPr>
              <a:t>"Liderar el diseño técnico, la lógica de base de datos en Firestore y las integraciones transaccionales constituyó un profundo desafío de ingeniería. Este proyecto Capstone consolidó mis competencias en la construcción de backend modular en Node.js/Express, la automatización por webhooks de pago reales de Mercado Pago, y la autogestión de equipos de desarrollo incremental con metodologías ágiles."</a:t>
            </a:r>
            <a:endParaRPr/>
          </a:p>
        </p:txBody>
      </p:sp>
      <p:sp>
        <p:nvSpPr>
          <p:cNvPr id="301" name="Google Shape;301;p20"/>
          <p:cNvSpPr/>
          <p:nvPr/>
        </p:nvSpPr>
        <p:spPr>
          <a:xfrm>
            <a:off x="4206240" y="1371600"/>
            <a:ext cx="338328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Bastián Lazo</a:t>
            </a:r>
            <a:endParaRPr/>
          </a:p>
          <a:p>
            <a:pPr indent="0" lvl="0" marL="0" marR="0" rtl="0" algn="ctr">
              <a:spcBef>
                <a:spcPts val="200"/>
              </a:spcBef>
              <a:spcAft>
                <a:spcPts val="0"/>
              </a:spcAft>
              <a:buNone/>
            </a:pPr>
            <a:r>
              <a:rPr b="1" i="0" lang="en-US" sz="950">
                <a:solidFill>
                  <a:srgbClr val="C2410C"/>
                </a:solidFill>
                <a:latin typeface="Arial"/>
                <a:ea typeface="Arial"/>
                <a:cs typeface="Arial"/>
                <a:sym typeface="Arial"/>
              </a:rPr>
              <a:t>Team Developer / IA Developer</a:t>
            </a:r>
            <a:endParaRPr/>
          </a:p>
          <a:p>
            <a:pPr indent="0" lvl="0" marL="0" marR="0" rtl="0" algn="l">
              <a:spcBef>
                <a:spcPts val="1600"/>
              </a:spcBef>
              <a:spcAft>
                <a:spcPts val="0"/>
              </a:spcAft>
              <a:buNone/>
            </a:pPr>
            <a:r>
              <a:rPr b="0" i="1" lang="en-US" sz="1050">
                <a:solidFill>
                  <a:srgbClr val="1E293B"/>
                </a:solidFill>
                <a:latin typeface="Arial"/>
                <a:ea typeface="Arial"/>
                <a:cs typeface="Arial"/>
                <a:sym typeface="Arial"/>
              </a:rPr>
              <a:t>"El preprocesamiento, aumento de datos y entrenamiento del modelo ResNet50 mediante fine-tuning me permitieron profundizar en redes neuronales convolucionales aplicadas a un caso de negocio tradicional. Superar los retos de calidad fotográfica del cabello y desplegar de forma desacoplada un microservicio cloud de inferencia en FastAPI sobre Render fue un aprendizaje de incalculable valor."</a:t>
            </a:r>
            <a:endParaRPr/>
          </a:p>
        </p:txBody>
      </p:sp>
      <p:sp>
        <p:nvSpPr>
          <p:cNvPr id="302" name="Google Shape;302;p20"/>
          <p:cNvSpPr/>
          <p:nvPr/>
        </p:nvSpPr>
        <p:spPr>
          <a:xfrm>
            <a:off x="795528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Francisca Guzmán</a:t>
            </a:r>
            <a:endParaRPr/>
          </a:p>
          <a:p>
            <a:pPr indent="0" lvl="0" marL="0" marR="0" rtl="0" algn="ctr">
              <a:spcBef>
                <a:spcPts val="200"/>
              </a:spcBef>
              <a:spcAft>
                <a:spcPts val="0"/>
              </a:spcAft>
              <a:buNone/>
            </a:pPr>
            <a:r>
              <a:rPr b="1" i="0" lang="en-US" sz="950">
                <a:solidFill>
                  <a:srgbClr val="14B8A6"/>
                </a:solidFill>
                <a:latin typeface="Arial"/>
                <a:ea typeface="Arial"/>
                <a:cs typeface="Arial"/>
                <a:sym typeface="Arial"/>
              </a:rPr>
              <a:t>Scrum Master / Frontend Developer</a:t>
            </a:r>
            <a:endParaRPr/>
          </a:p>
          <a:p>
            <a:pPr indent="0" lvl="0" marL="0" marR="0" rtl="0" algn="l">
              <a:spcBef>
                <a:spcPts val="1600"/>
              </a:spcBef>
              <a:spcAft>
                <a:spcPts val="0"/>
              </a:spcAft>
              <a:buNone/>
            </a:pPr>
            <a:r>
              <a:rPr i="1" lang="en-US" sz="1050">
                <a:solidFill>
                  <a:srgbClr val="1E293B"/>
                </a:solidFill>
              </a:rPr>
              <a:t>“En conclusión, mi participación como Scrum Master y Frontend Developer me permitió contribuir tanto en la organización del equipo como en el desarrollo de una interfaz clara, responsiva e intuitiva para Monsite. Además, apoyé la planificación, documentación y seguimiento del proyecto, contribuyendo al cumplimiento de los objetivos y al trabajo colaborativo. “</a:t>
            </a:r>
            <a:endParaRPr/>
          </a:p>
        </p:txBody>
      </p:sp>
      <p:sp>
        <p:nvSpPr>
          <p:cNvPr id="303" name="Google Shape;303;p20"/>
          <p:cNvSpPr txBox="1"/>
          <p:nvPr>
            <p:ph idx="12" type="sldNum"/>
          </p:nvPr>
        </p:nvSpPr>
        <p:spPr>
          <a:xfrm>
            <a:off x="967895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